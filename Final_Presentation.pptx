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0"/>
  </p:notesMasterIdLst>
  <p:sldIdLst>
    <p:sldId id="256" r:id="rId2"/>
    <p:sldId id="262" r:id="rId3"/>
    <p:sldId id="319" r:id="rId4"/>
    <p:sldId id="283" r:id="rId5"/>
    <p:sldId id="277" r:id="rId6"/>
    <p:sldId id="284" r:id="rId7"/>
    <p:sldId id="275" r:id="rId8"/>
    <p:sldId id="287" r:id="rId9"/>
    <p:sldId id="324" r:id="rId10"/>
    <p:sldId id="356" r:id="rId11"/>
    <p:sldId id="327" r:id="rId12"/>
    <p:sldId id="325" r:id="rId13"/>
    <p:sldId id="345" r:id="rId14"/>
    <p:sldId id="346" r:id="rId15"/>
    <p:sldId id="343" r:id="rId16"/>
    <p:sldId id="344" r:id="rId17"/>
    <p:sldId id="347" r:id="rId18"/>
    <p:sldId id="348" r:id="rId19"/>
    <p:sldId id="350" r:id="rId20"/>
    <p:sldId id="351" r:id="rId21"/>
    <p:sldId id="352" r:id="rId22"/>
    <p:sldId id="353" r:id="rId23"/>
    <p:sldId id="354" r:id="rId24"/>
    <p:sldId id="323" r:id="rId25"/>
    <p:sldId id="355" r:id="rId26"/>
    <p:sldId id="326" r:id="rId27"/>
    <p:sldId id="328" r:id="rId28"/>
    <p:sldId id="285" r:id="rId29"/>
    <p:sldId id="313" r:id="rId30"/>
    <p:sldId id="314"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1" r:id="rId44"/>
    <p:sldId id="342" r:id="rId45"/>
    <p:sldId id="316" r:id="rId46"/>
    <p:sldId id="317" r:id="rId47"/>
    <p:sldId id="322" r:id="rId48"/>
    <p:sldId id="279" r:id="rId49"/>
  </p:sldIdLst>
  <p:sldSz cx="18288000" cy="10287000"/>
  <p:notesSz cx="6858000" cy="9144000"/>
  <p:embeddedFontLst>
    <p:embeddedFont>
      <p:font typeface="Malgun Gothic" panose="020B0503020000020004" pitchFamily="34" charset="-127"/>
      <p:regular r:id="rId51"/>
      <p:bold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9214FE-920F-42CC-A9BB-B73CD3E7AFD8}" v="15" dt="2026-09-04T23:26:03.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0" d="100"/>
          <a:sy n="80" d="100"/>
        </p:scale>
        <p:origin x="23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suf ahmed" userId="9a8a609a3f039e28" providerId="LiveId" clId="{9CC851B0-43D5-4D59-B06C-9B1D6921EE88}"/>
    <pc:docChg chg="undo custSel addSld delSld modSld sldOrd">
      <pc:chgData name="yusuf ahmed" userId="9a8a609a3f039e28" providerId="LiveId" clId="{9CC851B0-43D5-4D59-B06C-9B1D6921EE88}" dt="2026-09-04T23:26:17.649" v="767" actId="1076"/>
      <pc:docMkLst>
        <pc:docMk/>
      </pc:docMkLst>
      <pc:sldChg chg="modSp mod">
        <pc:chgData name="yusuf ahmed" userId="9a8a609a3f039e28" providerId="LiveId" clId="{9CC851B0-43D5-4D59-B06C-9B1D6921EE88}" dt="2026-09-04T19:50:45.849" v="350" actId="1076"/>
        <pc:sldMkLst>
          <pc:docMk/>
          <pc:sldMk cId="2511081264" sldId="313"/>
        </pc:sldMkLst>
        <pc:spChg chg="mod">
          <ac:chgData name="yusuf ahmed" userId="9a8a609a3f039e28" providerId="LiveId" clId="{9CC851B0-43D5-4D59-B06C-9B1D6921EE88}" dt="2026-09-04T19:43:52.764" v="258" actId="120"/>
          <ac:spMkLst>
            <pc:docMk/>
            <pc:sldMk cId="2511081264" sldId="313"/>
            <ac:spMk id="2" creationId="{AEEFE4FE-C494-C97A-3340-46340C08BE77}"/>
          </ac:spMkLst>
        </pc:spChg>
        <pc:spChg chg="mod">
          <ac:chgData name="yusuf ahmed" userId="9a8a609a3f039e28" providerId="LiveId" clId="{9CC851B0-43D5-4D59-B06C-9B1D6921EE88}" dt="2026-09-04T19:43:58.652" v="259" actId="120"/>
          <ac:spMkLst>
            <pc:docMk/>
            <pc:sldMk cId="2511081264" sldId="313"/>
            <ac:spMk id="3" creationId="{AAA5A62B-C929-0963-B8FC-8F5A20A87792}"/>
          </ac:spMkLst>
        </pc:spChg>
        <pc:spChg chg="mod">
          <ac:chgData name="yusuf ahmed" userId="9a8a609a3f039e28" providerId="LiveId" clId="{9CC851B0-43D5-4D59-B06C-9B1D6921EE88}" dt="2026-09-04T19:44:03.821" v="261" actId="120"/>
          <ac:spMkLst>
            <pc:docMk/>
            <pc:sldMk cId="2511081264" sldId="313"/>
            <ac:spMk id="4" creationId="{AEEFE4FE-C494-C97A-3340-46340C08BE77}"/>
          </ac:spMkLst>
        </pc:spChg>
        <pc:spChg chg="mod">
          <ac:chgData name="yusuf ahmed" userId="9a8a609a3f039e28" providerId="LiveId" clId="{9CC851B0-43D5-4D59-B06C-9B1D6921EE88}" dt="2026-09-04T19:44:01.404" v="260" actId="120"/>
          <ac:spMkLst>
            <pc:docMk/>
            <pc:sldMk cId="2511081264" sldId="313"/>
            <ac:spMk id="5" creationId="{AEEFE4FE-C494-C97A-3340-46340C08BE77}"/>
          </ac:spMkLst>
        </pc:spChg>
        <pc:spChg chg="mod">
          <ac:chgData name="yusuf ahmed" userId="9a8a609a3f039e28" providerId="LiveId" clId="{9CC851B0-43D5-4D59-B06C-9B1D6921EE88}" dt="2026-09-04T19:50:45.849" v="350" actId="1076"/>
          <ac:spMkLst>
            <pc:docMk/>
            <pc:sldMk cId="2511081264" sldId="313"/>
            <ac:spMk id="39" creationId="{683A3478-CD11-3DCD-F1E5-B6B902A750FD}"/>
          </ac:spMkLst>
        </pc:spChg>
      </pc:sldChg>
      <pc:sldChg chg="modSp mod">
        <pc:chgData name="yusuf ahmed" userId="9a8a609a3f039e28" providerId="LiveId" clId="{9CC851B0-43D5-4D59-B06C-9B1D6921EE88}" dt="2026-09-04T19:49:05.597" v="347" actId="122"/>
        <pc:sldMkLst>
          <pc:docMk/>
          <pc:sldMk cId="2602478647" sldId="317"/>
        </pc:sldMkLst>
        <pc:spChg chg="mod">
          <ac:chgData name="yusuf ahmed" userId="9a8a609a3f039e28" providerId="LiveId" clId="{9CC851B0-43D5-4D59-B06C-9B1D6921EE88}" dt="2026-09-04T19:49:05.597" v="347" actId="122"/>
          <ac:spMkLst>
            <pc:docMk/>
            <pc:sldMk cId="2602478647" sldId="317"/>
            <ac:spMk id="2" creationId="{8E9EE414-EC02-CF13-82D0-41E09F9A8BDC}"/>
          </ac:spMkLst>
        </pc:spChg>
      </pc:sldChg>
      <pc:sldChg chg="modSp mod">
        <pc:chgData name="yusuf ahmed" userId="9a8a609a3f039e28" providerId="LiveId" clId="{9CC851B0-43D5-4D59-B06C-9B1D6921EE88}" dt="2026-09-04T20:16:40.832" v="737" actId="2711"/>
        <pc:sldMkLst>
          <pc:docMk/>
          <pc:sldMk cId="373447897" sldId="319"/>
        </pc:sldMkLst>
        <pc:spChg chg="mod">
          <ac:chgData name="yusuf ahmed" userId="9a8a609a3f039e28" providerId="LiveId" clId="{9CC851B0-43D5-4D59-B06C-9B1D6921EE88}" dt="2026-09-04T20:16:40.832" v="737" actId="2711"/>
          <ac:spMkLst>
            <pc:docMk/>
            <pc:sldMk cId="373447897" sldId="319"/>
            <ac:spMk id="2" creationId="{15449429-F0E2-1224-F7DD-4F926DA697BF}"/>
          </ac:spMkLst>
        </pc:spChg>
      </pc:sldChg>
      <pc:sldChg chg="addSp delSp modSp mod">
        <pc:chgData name="yusuf ahmed" userId="9a8a609a3f039e28" providerId="LiveId" clId="{9CC851B0-43D5-4D59-B06C-9B1D6921EE88}" dt="2026-09-04T19:48:37.819" v="344" actId="1076"/>
        <pc:sldMkLst>
          <pc:docMk/>
          <pc:sldMk cId="2245986402" sldId="322"/>
        </pc:sldMkLst>
        <pc:spChg chg="del mod">
          <ac:chgData name="yusuf ahmed" userId="9a8a609a3f039e28" providerId="LiveId" clId="{9CC851B0-43D5-4D59-B06C-9B1D6921EE88}" dt="2026-09-04T19:47:11.566" v="300"/>
          <ac:spMkLst>
            <pc:docMk/>
            <pc:sldMk cId="2245986402" sldId="322"/>
            <ac:spMk id="3" creationId="{1E4F88E2-3472-FB76-AB5F-68040CFE92F1}"/>
          </ac:spMkLst>
        </pc:spChg>
        <pc:spChg chg="add del mod">
          <ac:chgData name="yusuf ahmed" userId="9a8a609a3f039e28" providerId="LiveId" clId="{9CC851B0-43D5-4D59-B06C-9B1D6921EE88}" dt="2026-09-04T19:47:13.492" v="301" actId="478"/>
          <ac:spMkLst>
            <pc:docMk/>
            <pc:sldMk cId="2245986402" sldId="322"/>
            <ac:spMk id="7" creationId="{589B70BC-73ED-10D9-3FD4-3CDAD60037E5}"/>
          </ac:spMkLst>
        </pc:spChg>
        <pc:spChg chg="add del mod">
          <ac:chgData name="yusuf ahmed" userId="9a8a609a3f039e28" providerId="LiveId" clId="{9CC851B0-43D5-4D59-B06C-9B1D6921EE88}" dt="2026-09-04T19:47:13.492" v="301" actId="478"/>
          <ac:spMkLst>
            <pc:docMk/>
            <pc:sldMk cId="2245986402" sldId="322"/>
            <ac:spMk id="9" creationId="{2B6D6C84-59D2-3DBB-BEDF-BABE0686A4AF}"/>
          </ac:spMkLst>
        </pc:spChg>
        <pc:spChg chg="add del mod">
          <ac:chgData name="yusuf ahmed" userId="9a8a609a3f039e28" providerId="LiveId" clId="{9CC851B0-43D5-4D59-B06C-9B1D6921EE88}" dt="2026-09-04T19:47:13.492" v="301" actId="478"/>
          <ac:spMkLst>
            <pc:docMk/>
            <pc:sldMk cId="2245986402" sldId="322"/>
            <ac:spMk id="11" creationId="{407FC3B2-E4B4-B861-2925-3933CDCB8B9F}"/>
          </ac:spMkLst>
        </pc:spChg>
        <pc:spChg chg="add mod">
          <ac:chgData name="yusuf ahmed" userId="9a8a609a3f039e28" providerId="LiveId" clId="{9CC851B0-43D5-4D59-B06C-9B1D6921EE88}" dt="2026-09-04T19:47:18.477" v="338" actId="1038"/>
          <ac:spMkLst>
            <pc:docMk/>
            <pc:sldMk cId="2245986402" sldId="322"/>
            <ac:spMk id="15" creationId="{140233F5-02E2-92F1-EBF8-66150245D009}"/>
          </ac:spMkLst>
        </pc:spChg>
        <pc:spChg chg="add mod">
          <ac:chgData name="yusuf ahmed" userId="9a8a609a3f039e28" providerId="LiveId" clId="{9CC851B0-43D5-4D59-B06C-9B1D6921EE88}" dt="2026-09-04T19:47:18.477" v="338" actId="1038"/>
          <ac:spMkLst>
            <pc:docMk/>
            <pc:sldMk cId="2245986402" sldId="322"/>
            <ac:spMk id="17" creationId="{C7727121-B32F-19AF-A041-7E6646497674}"/>
          </ac:spMkLst>
        </pc:spChg>
        <pc:spChg chg="add mod">
          <ac:chgData name="yusuf ahmed" userId="9a8a609a3f039e28" providerId="LiveId" clId="{9CC851B0-43D5-4D59-B06C-9B1D6921EE88}" dt="2026-09-04T19:48:22.827" v="343" actId="1076"/>
          <ac:spMkLst>
            <pc:docMk/>
            <pc:sldMk cId="2245986402" sldId="322"/>
            <ac:spMk id="19" creationId="{D382617A-0240-2725-631D-9E600FCFB58F}"/>
          </ac:spMkLst>
        </pc:spChg>
        <pc:picChg chg="mod">
          <ac:chgData name="yusuf ahmed" userId="9a8a609a3f039e28" providerId="LiveId" clId="{9CC851B0-43D5-4D59-B06C-9B1D6921EE88}" dt="2026-09-04T19:48:37.819" v="344" actId="1076"/>
          <ac:picMkLst>
            <pc:docMk/>
            <pc:sldMk cId="2245986402" sldId="322"/>
            <ac:picMk id="4" creationId="{00000000-0000-0000-0000-000000000000}"/>
          </ac:picMkLst>
        </pc:picChg>
        <pc:picChg chg="add del mod">
          <ac:chgData name="yusuf ahmed" userId="9a8a609a3f039e28" providerId="LiveId" clId="{9CC851B0-43D5-4D59-B06C-9B1D6921EE88}" dt="2026-09-04T19:47:13.492" v="301" actId="478"/>
          <ac:picMkLst>
            <pc:docMk/>
            <pc:sldMk cId="2245986402" sldId="322"/>
            <ac:picMk id="5" creationId="{94EB3139-029E-4CC5-2F87-0AB5B4D3584C}"/>
          </ac:picMkLst>
        </pc:picChg>
        <pc:picChg chg="add mod">
          <ac:chgData name="yusuf ahmed" userId="9a8a609a3f039e28" providerId="LiveId" clId="{9CC851B0-43D5-4D59-B06C-9B1D6921EE88}" dt="2026-09-04T19:47:18.477" v="338" actId="1038"/>
          <ac:picMkLst>
            <pc:docMk/>
            <pc:sldMk cId="2245986402" sldId="322"/>
            <ac:picMk id="13" creationId="{E1D13B9E-3405-2AB1-DA11-609EF1866F86}"/>
          </ac:picMkLst>
        </pc:picChg>
      </pc:sldChg>
      <pc:sldChg chg="addSp delSp modSp mod">
        <pc:chgData name="yusuf ahmed" userId="9a8a609a3f039e28" providerId="LiveId" clId="{9CC851B0-43D5-4D59-B06C-9B1D6921EE88}" dt="2026-09-04T19:53:22.618" v="548" actId="14100"/>
        <pc:sldMkLst>
          <pc:docMk/>
          <pc:sldMk cId="2902168903" sldId="324"/>
        </pc:sldMkLst>
        <pc:spChg chg="add mod">
          <ac:chgData name="yusuf ahmed" userId="9a8a609a3f039e28" providerId="LiveId" clId="{9CC851B0-43D5-4D59-B06C-9B1D6921EE88}" dt="2026-09-04T19:53:15.062" v="545" actId="1035"/>
          <ac:spMkLst>
            <pc:docMk/>
            <pc:sldMk cId="2902168903" sldId="324"/>
            <ac:spMk id="3" creationId="{C9D1AF08-5716-F2E1-5BCB-80DC842C8EA3}"/>
          </ac:spMkLst>
        </pc:spChg>
        <pc:spChg chg="del mod">
          <ac:chgData name="yusuf ahmed" userId="9a8a609a3f039e28" providerId="LiveId" clId="{9CC851B0-43D5-4D59-B06C-9B1D6921EE88}" dt="2026-09-04T19:51:17.126" v="358"/>
          <ac:spMkLst>
            <pc:docMk/>
            <pc:sldMk cId="2902168903" sldId="324"/>
            <ac:spMk id="8" creationId="{6F367418-8CBB-C8BE-4EEF-5833EE2494E0}"/>
          </ac:spMkLst>
        </pc:spChg>
        <pc:spChg chg="del mod">
          <ac:chgData name="yusuf ahmed" userId="9a8a609a3f039e28" providerId="LiveId" clId="{9CC851B0-43D5-4D59-B06C-9B1D6921EE88}" dt="2026-09-04T19:51:04.575" v="354"/>
          <ac:spMkLst>
            <pc:docMk/>
            <pc:sldMk cId="2902168903" sldId="324"/>
            <ac:spMk id="39" creationId="{8CAB2FA7-9AE2-90A9-136D-FFF21E103553}"/>
          </ac:spMkLst>
        </pc:spChg>
        <pc:picChg chg="add mod">
          <ac:chgData name="yusuf ahmed" userId="9a8a609a3f039e28" providerId="LiveId" clId="{9CC851B0-43D5-4D59-B06C-9B1D6921EE88}" dt="2026-09-04T19:53:15.062" v="545" actId="1035"/>
          <ac:picMkLst>
            <pc:docMk/>
            <pc:sldMk cId="2902168903" sldId="324"/>
            <ac:picMk id="5" creationId="{17D5A85F-97F4-A585-ED3A-6B96F6BF0EBD}"/>
          </ac:picMkLst>
        </pc:picChg>
        <pc:picChg chg="add mod">
          <ac:chgData name="yusuf ahmed" userId="9a8a609a3f039e28" providerId="LiveId" clId="{9CC851B0-43D5-4D59-B06C-9B1D6921EE88}" dt="2026-09-04T19:53:22.618" v="548" actId="14100"/>
          <ac:picMkLst>
            <pc:docMk/>
            <pc:sldMk cId="2902168903" sldId="324"/>
            <ac:picMk id="7" creationId="{CDA9FEAB-384D-DC41-C6DD-DA68D061E82C}"/>
          </ac:picMkLst>
        </pc:picChg>
      </pc:sldChg>
      <pc:sldChg chg="addSp delSp modSp mod">
        <pc:chgData name="yusuf ahmed" userId="9a8a609a3f039e28" providerId="LiveId" clId="{9CC851B0-43D5-4D59-B06C-9B1D6921EE88}" dt="2026-09-04T19:43:19.889" v="257" actId="20577"/>
        <pc:sldMkLst>
          <pc:docMk/>
          <pc:sldMk cId="737352329" sldId="326"/>
        </pc:sldMkLst>
        <pc:spChg chg="del mod">
          <ac:chgData name="yusuf ahmed" userId="9a8a609a3f039e28" providerId="LiveId" clId="{9CC851B0-43D5-4D59-B06C-9B1D6921EE88}" dt="2026-09-04T19:42:28.573" v="248" actId="478"/>
          <ac:spMkLst>
            <pc:docMk/>
            <pc:sldMk cId="737352329" sldId="326"/>
            <ac:spMk id="4" creationId="{0F1A3029-B130-9FA5-A75E-24C699E36FC6}"/>
          </ac:spMkLst>
        </pc:spChg>
        <pc:spChg chg="add del mod">
          <ac:chgData name="yusuf ahmed" userId="9a8a609a3f039e28" providerId="LiveId" clId="{9CC851B0-43D5-4D59-B06C-9B1D6921EE88}" dt="2026-09-04T19:40:02.595" v="244" actId="478"/>
          <ac:spMkLst>
            <pc:docMk/>
            <pc:sldMk cId="737352329" sldId="326"/>
            <ac:spMk id="7" creationId="{0617FE0E-77E7-23E8-73DE-5A94359FF0D5}"/>
          </ac:spMkLst>
        </pc:spChg>
        <pc:spChg chg="add del mod">
          <ac:chgData name="yusuf ahmed" userId="9a8a609a3f039e28" providerId="LiveId" clId="{9CC851B0-43D5-4D59-B06C-9B1D6921EE88}" dt="2026-09-04T19:40:02.595" v="244" actId="478"/>
          <ac:spMkLst>
            <pc:docMk/>
            <pc:sldMk cId="737352329" sldId="326"/>
            <ac:spMk id="9" creationId="{D77D66D2-2003-4B83-ACD5-85191225547E}"/>
          </ac:spMkLst>
        </pc:spChg>
        <pc:spChg chg="add mod">
          <ac:chgData name="yusuf ahmed" userId="9a8a609a3f039e28" providerId="LiveId" clId="{9CC851B0-43D5-4D59-B06C-9B1D6921EE88}" dt="2026-09-04T19:43:19.889" v="257" actId="20577"/>
          <ac:spMkLst>
            <pc:docMk/>
            <pc:sldMk cId="737352329" sldId="326"/>
            <ac:spMk id="11" creationId="{BE590ABC-D3C7-3703-9EAC-346403BC0F85}"/>
          </ac:spMkLst>
        </pc:spChg>
        <pc:picChg chg="add del mod">
          <ac:chgData name="yusuf ahmed" userId="9a8a609a3f039e28" providerId="LiveId" clId="{9CC851B0-43D5-4D59-B06C-9B1D6921EE88}" dt="2026-09-04T19:40:02.595" v="244" actId="478"/>
          <ac:picMkLst>
            <pc:docMk/>
            <pc:sldMk cId="737352329" sldId="326"/>
            <ac:picMk id="3" creationId="{0A61ED6D-7BC3-B17B-8667-0C8754B68295}"/>
          </ac:picMkLst>
        </pc:picChg>
      </pc:sldChg>
      <pc:sldChg chg="addSp modSp mod">
        <pc:chgData name="yusuf ahmed" userId="9a8a609a3f039e28" providerId="LiveId" clId="{9CC851B0-43D5-4D59-B06C-9B1D6921EE88}" dt="2026-09-04T19:58:32.536" v="723" actId="1038"/>
        <pc:sldMkLst>
          <pc:docMk/>
          <pc:sldMk cId="0" sldId="329"/>
        </pc:sldMkLst>
        <pc:spChg chg="add mod">
          <ac:chgData name="yusuf ahmed" userId="9a8a609a3f039e28" providerId="LiveId" clId="{9CC851B0-43D5-4D59-B06C-9B1D6921EE88}" dt="2026-09-04T19:58:32.536" v="723" actId="1038"/>
          <ac:spMkLst>
            <pc:docMk/>
            <pc:sldMk cId="0" sldId="329"/>
            <ac:spMk id="13" creationId="{30589032-0D62-B033-2AC1-04089F7E8390}"/>
          </ac:spMkLst>
        </pc:spChg>
        <pc:spChg chg="add mod">
          <ac:chgData name="yusuf ahmed" userId="9a8a609a3f039e28" providerId="LiveId" clId="{9CC851B0-43D5-4D59-B06C-9B1D6921EE88}" dt="2026-09-04T19:58:32.536" v="723" actId="1038"/>
          <ac:spMkLst>
            <pc:docMk/>
            <pc:sldMk cId="0" sldId="329"/>
            <ac:spMk id="15" creationId="{90457DC1-E904-6ED8-432A-D67590795E53}"/>
          </ac:spMkLst>
        </pc:spChg>
        <pc:spChg chg="add mod">
          <ac:chgData name="yusuf ahmed" userId="9a8a609a3f039e28" providerId="LiveId" clId="{9CC851B0-43D5-4D59-B06C-9B1D6921EE88}" dt="2026-09-04T19:58:32.536" v="723" actId="1038"/>
          <ac:spMkLst>
            <pc:docMk/>
            <pc:sldMk cId="0" sldId="329"/>
            <ac:spMk id="17" creationId="{F9F5F4F2-836D-D761-591A-6CD7DFC73330}"/>
          </ac:spMkLst>
        </pc:spChg>
        <pc:spChg chg="add mod">
          <ac:chgData name="yusuf ahmed" userId="9a8a609a3f039e28" providerId="LiveId" clId="{9CC851B0-43D5-4D59-B06C-9B1D6921EE88}" dt="2026-09-04T19:58:32.536" v="723" actId="1038"/>
          <ac:spMkLst>
            <pc:docMk/>
            <pc:sldMk cId="0" sldId="329"/>
            <ac:spMk id="19" creationId="{52E2430B-5CDB-7A5C-2B4D-59461C4C9F68}"/>
          </ac:spMkLst>
        </pc:spChg>
        <pc:spChg chg="add mod">
          <ac:chgData name="yusuf ahmed" userId="9a8a609a3f039e28" providerId="LiveId" clId="{9CC851B0-43D5-4D59-B06C-9B1D6921EE88}" dt="2026-09-04T19:58:32.536" v="723" actId="1038"/>
          <ac:spMkLst>
            <pc:docMk/>
            <pc:sldMk cId="0" sldId="329"/>
            <ac:spMk id="21" creationId="{CB2ECC2F-7466-42F7-113B-76AB9D029B60}"/>
          </ac:spMkLst>
        </pc:spChg>
        <pc:spChg chg="add mod">
          <ac:chgData name="yusuf ahmed" userId="9a8a609a3f039e28" providerId="LiveId" clId="{9CC851B0-43D5-4D59-B06C-9B1D6921EE88}" dt="2026-09-04T19:58:32.536" v="723" actId="1038"/>
          <ac:spMkLst>
            <pc:docMk/>
            <pc:sldMk cId="0" sldId="329"/>
            <ac:spMk id="23" creationId="{97837FAF-A4EA-B32E-2646-E86B94E5E0E7}"/>
          </ac:spMkLst>
        </pc:spChg>
        <pc:picChg chg="add mod">
          <ac:chgData name="yusuf ahmed" userId="9a8a609a3f039e28" providerId="LiveId" clId="{9CC851B0-43D5-4D59-B06C-9B1D6921EE88}" dt="2026-09-04T19:58:32.536" v="723" actId="1038"/>
          <ac:picMkLst>
            <pc:docMk/>
            <pc:sldMk cId="0" sldId="329"/>
            <ac:picMk id="7" creationId="{2FE660D4-FC10-104D-746C-97DF07268B2E}"/>
          </ac:picMkLst>
        </pc:picChg>
        <pc:picChg chg="add mod">
          <ac:chgData name="yusuf ahmed" userId="9a8a609a3f039e28" providerId="LiveId" clId="{9CC851B0-43D5-4D59-B06C-9B1D6921EE88}" dt="2026-09-04T19:58:32.536" v="723" actId="1038"/>
          <ac:picMkLst>
            <pc:docMk/>
            <pc:sldMk cId="0" sldId="329"/>
            <ac:picMk id="9" creationId="{6F9FFF6B-79A4-956F-7EE4-1B5A14030E04}"/>
          </ac:picMkLst>
        </pc:picChg>
        <pc:picChg chg="add mod">
          <ac:chgData name="yusuf ahmed" userId="9a8a609a3f039e28" providerId="LiveId" clId="{9CC851B0-43D5-4D59-B06C-9B1D6921EE88}" dt="2026-09-04T19:58:32.536" v="723" actId="1038"/>
          <ac:picMkLst>
            <pc:docMk/>
            <pc:sldMk cId="0" sldId="329"/>
            <ac:picMk id="11" creationId="{0F356398-5979-6598-C628-193B10B5ED78}"/>
          </ac:picMkLst>
        </pc:picChg>
      </pc:sldChg>
      <pc:sldChg chg="modSp mod">
        <pc:chgData name="yusuf ahmed" userId="9a8a609a3f039e28" providerId="LiveId" clId="{9CC851B0-43D5-4D59-B06C-9B1D6921EE88}" dt="2026-09-04T23:26:17.649" v="767" actId="1076"/>
        <pc:sldMkLst>
          <pc:docMk/>
          <pc:sldMk cId="3820522604" sldId="350"/>
        </pc:sldMkLst>
        <pc:spChg chg="mod">
          <ac:chgData name="yusuf ahmed" userId="9a8a609a3f039e28" providerId="LiveId" clId="{9CC851B0-43D5-4D59-B06C-9B1D6921EE88}" dt="2026-09-04T23:26:17.649" v="767" actId="1076"/>
          <ac:spMkLst>
            <pc:docMk/>
            <pc:sldMk cId="3820522604" sldId="350"/>
            <ac:spMk id="24" creationId="{82CF4232-0871-31AC-AD89-0A38E39D33F6}"/>
          </ac:spMkLst>
        </pc:spChg>
        <pc:spChg chg="mod">
          <ac:chgData name="yusuf ahmed" userId="9a8a609a3f039e28" providerId="LiveId" clId="{9CC851B0-43D5-4D59-B06C-9B1D6921EE88}" dt="2026-09-04T23:24:42.655" v="740" actId="1076"/>
          <ac:spMkLst>
            <pc:docMk/>
            <pc:sldMk cId="3820522604" sldId="350"/>
            <ac:spMk id="28" creationId="{D80B1911-008F-EE65-89E1-8446882B3128}"/>
          </ac:spMkLst>
        </pc:spChg>
        <pc:spChg chg="mod">
          <ac:chgData name="yusuf ahmed" userId="9a8a609a3f039e28" providerId="LiveId" clId="{9CC851B0-43D5-4D59-B06C-9B1D6921EE88}" dt="2026-09-04T23:24:38.052" v="739" actId="1076"/>
          <ac:spMkLst>
            <pc:docMk/>
            <pc:sldMk cId="3820522604" sldId="350"/>
            <ac:spMk id="32" creationId="{AF09CDE1-7B93-0238-92FC-A30EC1F9DAB4}"/>
          </ac:spMkLst>
        </pc:spChg>
      </pc:sldChg>
      <pc:sldChg chg="modSp mod">
        <pc:chgData name="yusuf ahmed" userId="9a8a609a3f039e28" providerId="LiveId" clId="{9CC851B0-43D5-4D59-B06C-9B1D6921EE88}" dt="2026-09-04T19:55:48.623" v="612" actId="1036"/>
        <pc:sldMkLst>
          <pc:docMk/>
          <pc:sldMk cId="3135719575" sldId="353"/>
        </pc:sldMkLst>
        <pc:spChg chg="mod">
          <ac:chgData name="yusuf ahmed" userId="9a8a609a3f039e28" providerId="LiveId" clId="{9CC851B0-43D5-4D59-B06C-9B1D6921EE88}" dt="2026-09-04T19:55:41.510" v="604" actId="1036"/>
          <ac:spMkLst>
            <pc:docMk/>
            <pc:sldMk cId="3135719575" sldId="353"/>
            <ac:spMk id="24" creationId="{F6D692DA-E723-0F60-C475-09F69AA8673B}"/>
          </ac:spMkLst>
        </pc:spChg>
        <pc:spChg chg="mod">
          <ac:chgData name="yusuf ahmed" userId="9a8a609a3f039e28" providerId="LiveId" clId="{9CC851B0-43D5-4D59-B06C-9B1D6921EE88}" dt="2026-09-04T19:55:41.510" v="604" actId="1036"/>
          <ac:spMkLst>
            <pc:docMk/>
            <pc:sldMk cId="3135719575" sldId="353"/>
            <ac:spMk id="27" creationId="{8166AE50-E3B9-E215-500F-217EBE94968D}"/>
          </ac:spMkLst>
        </pc:spChg>
        <pc:spChg chg="mod">
          <ac:chgData name="yusuf ahmed" userId="9a8a609a3f039e28" providerId="LiveId" clId="{9CC851B0-43D5-4D59-B06C-9B1D6921EE88}" dt="2026-09-04T19:55:41.510" v="604" actId="1036"/>
          <ac:spMkLst>
            <pc:docMk/>
            <pc:sldMk cId="3135719575" sldId="353"/>
            <ac:spMk id="30" creationId="{D2ABF3BB-0971-F145-1F34-F6D2CF2DBF48}"/>
          </ac:spMkLst>
        </pc:spChg>
        <pc:spChg chg="mod">
          <ac:chgData name="yusuf ahmed" userId="9a8a609a3f039e28" providerId="LiveId" clId="{9CC851B0-43D5-4D59-B06C-9B1D6921EE88}" dt="2026-09-04T19:55:41.510" v="604" actId="1036"/>
          <ac:spMkLst>
            <pc:docMk/>
            <pc:sldMk cId="3135719575" sldId="353"/>
            <ac:spMk id="34" creationId="{5CB7704B-6653-C915-F44C-111B0C2D3B4D}"/>
          </ac:spMkLst>
        </pc:spChg>
        <pc:spChg chg="mod">
          <ac:chgData name="yusuf ahmed" userId="9a8a609a3f039e28" providerId="LiveId" clId="{9CC851B0-43D5-4D59-B06C-9B1D6921EE88}" dt="2026-09-04T19:55:41.510" v="604" actId="1036"/>
          <ac:spMkLst>
            <pc:docMk/>
            <pc:sldMk cId="3135719575" sldId="353"/>
            <ac:spMk id="38" creationId="{70B23C1E-BA0A-7961-67A6-FF7F2D7BA829}"/>
          </ac:spMkLst>
        </pc:spChg>
        <pc:spChg chg="mod">
          <ac:chgData name="yusuf ahmed" userId="9a8a609a3f039e28" providerId="LiveId" clId="{9CC851B0-43D5-4D59-B06C-9B1D6921EE88}" dt="2026-09-04T19:55:41.510" v="604" actId="1036"/>
          <ac:spMkLst>
            <pc:docMk/>
            <pc:sldMk cId="3135719575" sldId="353"/>
            <ac:spMk id="41" creationId="{FEE0C235-6178-BE4F-B817-D1AAAAC91B83}"/>
          </ac:spMkLst>
        </pc:spChg>
        <pc:spChg chg="mod">
          <ac:chgData name="yusuf ahmed" userId="9a8a609a3f039e28" providerId="LiveId" clId="{9CC851B0-43D5-4D59-B06C-9B1D6921EE88}" dt="2026-09-04T19:55:48.623" v="612" actId="1036"/>
          <ac:spMkLst>
            <pc:docMk/>
            <pc:sldMk cId="3135719575" sldId="353"/>
            <ac:spMk id="43" creationId="{D560FD00-E67F-0DAE-DF48-6F5D6D5CEDA6}"/>
          </ac:spMkLst>
        </pc:spChg>
        <pc:spChg chg="mod">
          <ac:chgData name="yusuf ahmed" userId="9a8a609a3f039e28" providerId="LiveId" clId="{9CC851B0-43D5-4D59-B06C-9B1D6921EE88}" dt="2026-09-04T19:55:48.623" v="612" actId="1036"/>
          <ac:spMkLst>
            <pc:docMk/>
            <pc:sldMk cId="3135719575" sldId="353"/>
            <ac:spMk id="45" creationId="{BCB114ED-03B4-899A-7BA4-7539EC42BBE0}"/>
          </ac:spMkLst>
        </pc:spChg>
        <pc:picChg chg="mod">
          <ac:chgData name="yusuf ahmed" userId="9a8a609a3f039e28" providerId="LiveId" clId="{9CC851B0-43D5-4D59-B06C-9B1D6921EE88}" dt="2026-09-04T19:55:34.354" v="595" actId="1037"/>
          <ac:picMkLst>
            <pc:docMk/>
            <pc:sldMk cId="3135719575" sldId="353"/>
            <ac:picMk id="3" creationId="{8794397C-E980-C055-FD90-87E1918B2AE0}"/>
          </ac:picMkLst>
        </pc:picChg>
        <pc:picChg chg="mod">
          <ac:chgData name="yusuf ahmed" userId="9a8a609a3f039e28" providerId="LiveId" clId="{9CC851B0-43D5-4D59-B06C-9B1D6921EE88}" dt="2026-09-04T19:55:41.510" v="604" actId="1036"/>
          <ac:picMkLst>
            <pc:docMk/>
            <pc:sldMk cId="3135719575" sldId="353"/>
            <ac:picMk id="9" creationId="{87D9713B-597D-D532-D789-83DEAF55BB6E}"/>
          </ac:picMkLst>
        </pc:picChg>
        <pc:picChg chg="mod">
          <ac:chgData name="yusuf ahmed" userId="9a8a609a3f039e28" providerId="LiveId" clId="{9CC851B0-43D5-4D59-B06C-9B1D6921EE88}" dt="2026-09-04T19:55:41.510" v="604" actId="1036"/>
          <ac:picMkLst>
            <pc:docMk/>
            <pc:sldMk cId="3135719575" sldId="353"/>
            <ac:picMk id="12" creationId="{F65ACEC1-B71F-1105-2F68-ED5C7C937C80}"/>
          </ac:picMkLst>
        </pc:picChg>
        <pc:picChg chg="mod">
          <ac:chgData name="yusuf ahmed" userId="9a8a609a3f039e28" providerId="LiveId" clId="{9CC851B0-43D5-4D59-B06C-9B1D6921EE88}" dt="2026-09-04T19:55:41.510" v="604" actId="1036"/>
          <ac:picMkLst>
            <pc:docMk/>
            <pc:sldMk cId="3135719575" sldId="353"/>
            <ac:picMk id="15" creationId="{A016899F-9CAF-1601-315E-2E20389B0908}"/>
          </ac:picMkLst>
        </pc:picChg>
        <pc:picChg chg="mod">
          <ac:chgData name="yusuf ahmed" userId="9a8a609a3f039e28" providerId="LiveId" clId="{9CC851B0-43D5-4D59-B06C-9B1D6921EE88}" dt="2026-09-04T19:55:41.510" v="604" actId="1036"/>
          <ac:picMkLst>
            <pc:docMk/>
            <pc:sldMk cId="3135719575" sldId="353"/>
            <ac:picMk id="21" creationId="{92F4D887-CAB7-6B97-4327-380A42139944}"/>
          </ac:picMkLst>
        </pc:picChg>
      </pc:sldChg>
      <pc:sldChg chg="modSp mod">
        <pc:chgData name="yusuf ahmed" userId="9a8a609a3f039e28" providerId="LiveId" clId="{9CC851B0-43D5-4D59-B06C-9B1D6921EE88}" dt="2026-09-04T19:56:15.566" v="624" actId="255"/>
        <pc:sldMkLst>
          <pc:docMk/>
          <pc:sldMk cId="3391833737" sldId="354"/>
        </pc:sldMkLst>
        <pc:spChg chg="mod">
          <ac:chgData name="yusuf ahmed" userId="9a8a609a3f039e28" providerId="LiveId" clId="{9CC851B0-43D5-4D59-B06C-9B1D6921EE88}" dt="2026-09-04T19:56:15.566" v="624" actId="255"/>
          <ac:spMkLst>
            <pc:docMk/>
            <pc:sldMk cId="3391833737" sldId="354"/>
            <ac:spMk id="7" creationId="{05DBFAB1-A2D7-E9C9-06E6-DADC995E2340}"/>
          </ac:spMkLst>
        </pc:spChg>
      </pc:sldChg>
      <pc:sldChg chg="addSp delSp modSp add mod ord">
        <pc:chgData name="yusuf ahmed" userId="9a8a609a3f039e28" providerId="LiveId" clId="{9CC851B0-43D5-4D59-B06C-9B1D6921EE88}" dt="2026-09-04T19:57:07.778" v="643" actId="1076"/>
        <pc:sldMkLst>
          <pc:docMk/>
          <pc:sldMk cId="4152734813" sldId="355"/>
        </pc:sldMkLst>
        <pc:spChg chg="del">
          <ac:chgData name="yusuf ahmed" userId="9a8a609a3f039e28" providerId="LiveId" clId="{9CC851B0-43D5-4D59-B06C-9B1D6921EE88}" dt="2026-09-04T19:32:44.337" v="3" actId="478"/>
          <ac:spMkLst>
            <pc:docMk/>
            <pc:sldMk cId="4152734813" sldId="355"/>
            <ac:spMk id="7" creationId="{F5B49CE0-E699-803E-2E25-47E0BE691234}"/>
          </ac:spMkLst>
        </pc:spChg>
        <pc:spChg chg="del">
          <ac:chgData name="yusuf ahmed" userId="9a8a609a3f039e28" providerId="LiveId" clId="{9CC851B0-43D5-4D59-B06C-9B1D6921EE88}" dt="2026-09-04T19:32:44.337" v="3" actId="478"/>
          <ac:spMkLst>
            <pc:docMk/>
            <pc:sldMk cId="4152734813" sldId="355"/>
            <ac:spMk id="10" creationId="{EAFF347B-AEDF-6446-6D55-90F1BEB5DECA}"/>
          </ac:spMkLst>
        </pc:spChg>
        <pc:spChg chg="del">
          <ac:chgData name="yusuf ahmed" userId="9a8a609a3f039e28" providerId="LiveId" clId="{9CC851B0-43D5-4D59-B06C-9B1D6921EE88}" dt="2026-09-04T19:32:44.337" v="3" actId="478"/>
          <ac:spMkLst>
            <pc:docMk/>
            <pc:sldMk cId="4152734813" sldId="355"/>
            <ac:spMk id="13" creationId="{1257C1E8-A2BD-8CF7-17AD-3625E57D81A8}"/>
          </ac:spMkLst>
        </pc:spChg>
        <pc:spChg chg="del">
          <ac:chgData name="yusuf ahmed" userId="9a8a609a3f039e28" providerId="LiveId" clId="{9CC851B0-43D5-4D59-B06C-9B1D6921EE88}" dt="2026-09-04T19:32:44.337" v="3" actId="478"/>
          <ac:spMkLst>
            <pc:docMk/>
            <pc:sldMk cId="4152734813" sldId="355"/>
            <ac:spMk id="16" creationId="{B05C4DBD-8F78-9C86-4607-1632E5A9F7C2}"/>
          </ac:spMkLst>
        </pc:spChg>
        <pc:spChg chg="del">
          <ac:chgData name="yusuf ahmed" userId="9a8a609a3f039e28" providerId="LiveId" clId="{9CC851B0-43D5-4D59-B06C-9B1D6921EE88}" dt="2026-09-04T19:32:44.337" v="3" actId="478"/>
          <ac:spMkLst>
            <pc:docMk/>
            <pc:sldMk cId="4152734813" sldId="355"/>
            <ac:spMk id="19" creationId="{3F2E6A6A-7C69-2DFF-CDEB-A4C901F653D1}"/>
          </ac:spMkLst>
        </pc:spChg>
        <pc:spChg chg="del">
          <ac:chgData name="yusuf ahmed" userId="9a8a609a3f039e28" providerId="LiveId" clId="{9CC851B0-43D5-4D59-B06C-9B1D6921EE88}" dt="2026-09-04T19:32:44.337" v="3" actId="478"/>
          <ac:spMkLst>
            <pc:docMk/>
            <pc:sldMk cId="4152734813" sldId="355"/>
            <ac:spMk id="22" creationId="{C71237F0-BFA8-0F61-3FE1-0F1EBE570DFF}"/>
          </ac:spMkLst>
        </pc:spChg>
        <pc:spChg chg="add mod">
          <ac:chgData name="yusuf ahmed" userId="9a8a609a3f039e28" providerId="LiveId" clId="{9CC851B0-43D5-4D59-B06C-9B1D6921EE88}" dt="2026-09-04T19:56:53.569" v="641" actId="1037"/>
          <ac:spMkLst>
            <pc:docMk/>
            <pc:sldMk cId="4152734813" sldId="355"/>
            <ac:spMk id="24" creationId="{9BD402BA-976C-BCF1-11F1-5D1B9799AE00}"/>
          </ac:spMkLst>
        </pc:spChg>
        <pc:spChg chg="add mod">
          <ac:chgData name="yusuf ahmed" userId="9a8a609a3f039e28" providerId="LiveId" clId="{9CC851B0-43D5-4D59-B06C-9B1D6921EE88}" dt="2026-09-04T19:56:53.569" v="641" actId="1037"/>
          <ac:spMkLst>
            <pc:docMk/>
            <pc:sldMk cId="4152734813" sldId="355"/>
            <ac:spMk id="27" creationId="{114AEED1-568A-2E95-13B5-664FD22525AE}"/>
          </ac:spMkLst>
        </pc:spChg>
        <pc:spChg chg="add mod">
          <ac:chgData name="yusuf ahmed" userId="9a8a609a3f039e28" providerId="LiveId" clId="{9CC851B0-43D5-4D59-B06C-9B1D6921EE88}" dt="2026-09-04T19:56:53.569" v="641" actId="1037"/>
          <ac:spMkLst>
            <pc:docMk/>
            <pc:sldMk cId="4152734813" sldId="355"/>
            <ac:spMk id="30" creationId="{B027E4F2-EA57-6C64-2AB6-CDB4DF6ABF75}"/>
          </ac:spMkLst>
        </pc:spChg>
        <pc:spChg chg="del">
          <ac:chgData name="yusuf ahmed" userId="9a8a609a3f039e28" providerId="LiveId" clId="{9CC851B0-43D5-4D59-B06C-9B1D6921EE88}" dt="2026-09-04T19:32:44.337" v="3" actId="478"/>
          <ac:spMkLst>
            <pc:docMk/>
            <pc:sldMk cId="4152734813" sldId="355"/>
            <ac:spMk id="31" creationId="{6B629363-8990-2799-C599-0EB6347DA6B4}"/>
          </ac:spMkLst>
        </pc:spChg>
        <pc:spChg chg="del">
          <ac:chgData name="yusuf ahmed" userId="9a8a609a3f039e28" providerId="LiveId" clId="{9CC851B0-43D5-4D59-B06C-9B1D6921EE88}" dt="2026-09-04T19:32:44.337" v="3" actId="478"/>
          <ac:spMkLst>
            <pc:docMk/>
            <pc:sldMk cId="4152734813" sldId="355"/>
            <ac:spMk id="33" creationId="{F9D56309-CE1C-C289-E228-90D62C0EC1F2}"/>
          </ac:spMkLst>
        </pc:spChg>
        <pc:spChg chg="add mod">
          <ac:chgData name="yusuf ahmed" userId="9a8a609a3f039e28" providerId="LiveId" clId="{9CC851B0-43D5-4D59-B06C-9B1D6921EE88}" dt="2026-09-04T19:56:53.569" v="641" actId="1037"/>
          <ac:spMkLst>
            <pc:docMk/>
            <pc:sldMk cId="4152734813" sldId="355"/>
            <ac:spMk id="34" creationId="{5B21E452-246B-EC52-B7FE-D1A477092F59}"/>
          </ac:spMkLst>
        </pc:spChg>
        <pc:spChg chg="add mod">
          <ac:chgData name="yusuf ahmed" userId="9a8a609a3f039e28" providerId="LiveId" clId="{9CC851B0-43D5-4D59-B06C-9B1D6921EE88}" dt="2026-09-04T19:56:53.569" v="641" actId="1037"/>
          <ac:spMkLst>
            <pc:docMk/>
            <pc:sldMk cId="4152734813" sldId="355"/>
            <ac:spMk id="36" creationId="{DF714764-E7B3-1639-4A85-559D6AF55E58}"/>
          </ac:spMkLst>
        </pc:spChg>
        <pc:spChg chg="add mod">
          <ac:chgData name="yusuf ahmed" userId="9a8a609a3f039e28" providerId="LiveId" clId="{9CC851B0-43D5-4D59-B06C-9B1D6921EE88}" dt="2026-09-04T19:56:53.569" v="641" actId="1037"/>
          <ac:spMkLst>
            <pc:docMk/>
            <pc:sldMk cId="4152734813" sldId="355"/>
            <ac:spMk id="38" creationId="{4AFCA90E-D98E-E58E-B3F6-0937A04BF7E5}"/>
          </ac:spMkLst>
        </pc:spChg>
        <pc:spChg chg="mod">
          <ac:chgData name="yusuf ahmed" userId="9a8a609a3f039e28" providerId="LiveId" clId="{9CC851B0-43D5-4D59-B06C-9B1D6921EE88}" dt="2026-09-04T19:56:53.569" v="641" actId="1037"/>
          <ac:spMkLst>
            <pc:docMk/>
            <pc:sldMk cId="4152734813" sldId="355"/>
            <ac:spMk id="41" creationId="{83F1DC75-8405-0C45-B22B-980730F4E736}"/>
          </ac:spMkLst>
        </pc:spChg>
        <pc:spChg chg="add mod">
          <ac:chgData name="yusuf ahmed" userId="9a8a609a3f039e28" providerId="LiveId" clId="{9CC851B0-43D5-4D59-B06C-9B1D6921EE88}" dt="2026-09-04T19:56:41.714" v="631" actId="1076"/>
          <ac:spMkLst>
            <pc:docMk/>
            <pc:sldMk cId="4152734813" sldId="355"/>
            <ac:spMk id="43" creationId="{8299B572-3A12-DB87-E108-51D87CA3B8D7}"/>
          </ac:spMkLst>
        </pc:spChg>
        <pc:spChg chg="add mod">
          <ac:chgData name="yusuf ahmed" userId="9a8a609a3f039e28" providerId="LiveId" clId="{9CC851B0-43D5-4D59-B06C-9B1D6921EE88}" dt="2026-09-04T19:56:48.235" v="636" actId="1037"/>
          <ac:spMkLst>
            <pc:docMk/>
            <pc:sldMk cId="4152734813" sldId="355"/>
            <ac:spMk id="45" creationId="{0FD881BE-4143-3FBB-E179-2DD837F4AB56}"/>
          </ac:spMkLst>
        </pc:spChg>
        <pc:spChg chg="add del mod">
          <ac:chgData name="yusuf ahmed" userId="9a8a609a3f039e28" providerId="LiveId" clId="{9CC851B0-43D5-4D59-B06C-9B1D6921EE88}" dt="2026-09-04T19:33:20.514" v="41" actId="478"/>
          <ac:spMkLst>
            <pc:docMk/>
            <pc:sldMk cId="4152734813" sldId="355"/>
            <ac:spMk id="47" creationId="{B0171FE3-51AE-4890-7B16-A2D27757145A}"/>
          </ac:spMkLst>
        </pc:spChg>
        <pc:spChg chg="add del mod">
          <ac:chgData name="yusuf ahmed" userId="9a8a609a3f039e28" providerId="LiveId" clId="{9CC851B0-43D5-4D59-B06C-9B1D6921EE88}" dt="2026-09-04T19:33:20.514" v="41" actId="478"/>
          <ac:spMkLst>
            <pc:docMk/>
            <pc:sldMk cId="4152734813" sldId="355"/>
            <ac:spMk id="49" creationId="{3F76F3C1-57C9-4819-9CE4-08C5E9DB4AE1}"/>
          </ac:spMkLst>
        </pc:spChg>
        <pc:spChg chg="del">
          <ac:chgData name="yusuf ahmed" userId="9a8a609a3f039e28" providerId="LiveId" clId="{9CC851B0-43D5-4D59-B06C-9B1D6921EE88}" dt="2026-09-04T19:33:20.514" v="41" actId="478"/>
          <ac:spMkLst>
            <pc:docMk/>
            <pc:sldMk cId="4152734813" sldId="355"/>
            <ac:spMk id="51" creationId="{A03FA15F-12F0-22EC-8F4B-DF72954D4A75}"/>
          </ac:spMkLst>
        </pc:spChg>
        <pc:picChg chg="mod">
          <ac:chgData name="yusuf ahmed" userId="9a8a609a3f039e28" providerId="LiveId" clId="{9CC851B0-43D5-4D59-B06C-9B1D6921EE88}" dt="2026-09-04T19:56:53.569" v="641" actId="1037"/>
          <ac:picMkLst>
            <pc:docMk/>
            <pc:sldMk cId="4152734813" sldId="355"/>
            <ac:picMk id="3" creationId="{121B2BA6-1D3B-F00A-659C-CC2FEC99362B}"/>
          </ac:picMkLst>
        </pc:picChg>
        <pc:picChg chg="del">
          <ac:chgData name="yusuf ahmed" userId="9a8a609a3f039e28" providerId="LiveId" clId="{9CC851B0-43D5-4D59-B06C-9B1D6921EE88}" dt="2026-09-04T19:32:44.337" v="3" actId="478"/>
          <ac:picMkLst>
            <pc:docMk/>
            <pc:sldMk cId="4152734813" sldId="355"/>
            <ac:picMk id="4" creationId="{93C3B1C4-ED01-022B-8B80-868B5122600F}"/>
          </ac:picMkLst>
        </pc:picChg>
        <pc:picChg chg="mod">
          <ac:chgData name="yusuf ahmed" userId="9a8a609a3f039e28" providerId="LiveId" clId="{9CC851B0-43D5-4D59-B06C-9B1D6921EE88}" dt="2026-09-04T19:56:53.569" v="641" actId="1037"/>
          <ac:picMkLst>
            <pc:docMk/>
            <pc:sldMk cId="4152734813" sldId="355"/>
            <ac:picMk id="9" creationId="{9C490C0B-5563-35AC-EC5A-717B05973809}"/>
          </ac:picMkLst>
        </pc:picChg>
        <pc:picChg chg="mod">
          <ac:chgData name="yusuf ahmed" userId="9a8a609a3f039e28" providerId="LiveId" clId="{9CC851B0-43D5-4D59-B06C-9B1D6921EE88}" dt="2026-09-04T19:56:53.569" v="641" actId="1037"/>
          <ac:picMkLst>
            <pc:docMk/>
            <pc:sldMk cId="4152734813" sldId="355"/>
            <ac:picMk id="12" creationId="{6DCD6ED9-5C8A-3693-3021-BE27E19CCD4E}"/>
          </ac:picMkLst>
        </pc:picChg>
        <pc:picChg chg="del">
          <ac:chgData name="yusuf ahmed" userId="9a8a609a3f039e28" providerId="LiveId" clId="{9CC851B0-43D5-4D59-B06C-9B1D6921EE88}" dt="2026-09-04T19:32:44.337" v="3" actId="478"/>
          <ac:picMkLst>
            <pc:docMk/>
            <pc:sldMk cId="4152734813" sldId="355"/>
            <ac:picMk id="28" creationId="{BE3FA376-0579-7B1A-07DA-88CABC3A0E4D}"/>
          </ac:picMkLst>
        </pc:picChg>
        <pc:picChg chg="add del mod">
          <ac:chgData name="yusuf ahmed" userId="9a8a609a3f039e28" providerId="LiveId" clId="{9CC851B0-43D5-4D59-B06C-9B1D6921EE88}" dt="2026-09-04T19:36:32.482" v="49" actId="478"/>
          <ac:picMkLst>
            <pc:docMk/>
            <pc:sldMk cId="4152734813" sldId="355"/>
            <ac:picMk id="53" creationId="{2A1725EC-4D8F-DF6D-481D-8D51EA88039F}"/>
          </ac:picMkLst>
        </pc:picChg>
        <pc:picChg chg="add mod">
          <ac:chgData name="yusuf ahmed" userId="9a8a609a3f039e28" providerId="LiveId" clId="{9CC851B0-43D5-4D59-B06C-9B1D6921EE88}" dt="2026-09-04T19:57:07.778" v="643" actId="1076"/>
          <ac:picMkLst>
            <pc:docMk/>
            <pc:sldMk cId="4152734813" sldId="355"/>
            <ac:picMk id="55" creationId="{E76FD1A9-C78C-403A-9849-58968617917C}"/>
          </ac:picMkLst>
        </pc:picChg>
      </pc:sldChg>
      <pc:sldChg chg="addSp delSp modSp add del mod">
        <pc:chgData name="yusuf ahmed" userId="9a8a609a3f039e28" providerId="LiveId" clId="{9CC851B0-43D5-4D59-B06C-9B1D6921EE88}" dt="2026-09-04T19:40:17.645" v="245" actId="2696"/>
        <pc:sldMkLst>
          <pc:docMk/>
          <pc:sldMk cId="1151437013" sldId="356"/>
        </pc:sldMkLst>
        <pc:spChg chg="add mod">
          <ac:chgData name="yusuf ahmed" userId="9a8a609a3f039e28" providerId="LiveId" clId="{9CC851B0-43D5-4D59-B06C-9B1D6921EE88}" dt="2026-09-04T19:39:14.331" v="95" actId="1038"/>
          <ac:spMkLst>
            <pc:docMk/>
            <pc:sldMk cId="1151437013" sldId="356"/>
            <ac:spMk id="7" creationId="{660AB6D3-3401-2578-6198-E759C22F34E4}"/>
          </ac:spMkLst>
        </pc:spChg>
        <pc:spChg chg="add mod">
          <ac:chgData name="yusuf ahmed" userId="9a8a609a3f039e28" providerId="LiveId" clId="{9CC851B0-43D5-4D59-B06C-9B1D6921EE88}" dt="2026-09-04T19:39:14.331" v="95" actId="1038"/>
          <ac:spMkLst>
            <pc:docMk/>
            <pc:sldMk cId="1151437013" sldId="356"/>
            <ac:spMk id="10" creationId="{6E2E8435-44E9-46CB-1638-C0495DD0F94F}"/>
          </ac:spMkLst>
        </pc:spChg>
        <pc:spChg chg="add del mod">
          <ac:chgData name="yusuf ahmed" userId="9a8a609a3f039e28" providerId="LiveId" clId="{9CC851B0-43D5-4D59-B06C-9B1D6921EE88}" dt="2026-09-04T19:39:48.562" v="131" actId="21"/>
          <ac:spMkLst>
            <pc:docMk/>
            <pc:sldMk cId="1151437013" sldId="356"/>
            <ac:spMk id="13" creationId="{A573696D-2F82-6776-A628-1792B1455DBA}"/>
          </ac:spMkLst>
        </pc:spChg>
        <pc:spChg chg="add del mod">
          <ac:chgData name="yusuf ahmed" userId="9a8a609a3f039e28" providerId="LiveId" clId="{9CC851B0-43D5-4D59-B06C-9B1D6921EE88}" dt="2026-09-04T19:39:48.562" v="131" actId="21"/>
          <ac:spMkLst>
            <pc:docMk/>
            <pc:sldMk cId="1151437013" sldId="356"/>
            <ac:spMk id="16" creationId="{F9B2648E-DD93-63B2-0B9D-F315290448D5}"/>
          </ac:spMkLst>
        </pc:spChg>
        <pc:spChg chg="add mod">
          <ac:chgData name="yusuf ahmed" userId="9a8a609a3f039e28" providerId="LiveId" clId="{9CC851B0-43D5-4D59-B06C-9B1D6921EE88}" dt="2026-09-04T19:39:14.331" v="95" actId="1038"/>
          <ac:spMkLst>
            <pc:docMk/>
            <pc:sldMk cId="1151437013" sldId="356"/>
            <ac:spMk id="19" creationId="{6F040484-12D3-9839-E00C-B5CAE371DC90}"/>
          </ac:spMkLst>
        </pc:spChg>
        <pc:spChg chg="add mod">
          <ac:chgData name="yusuf ahmed" userId="9a8a609a3f039e28" providerId="LiveId" clId="{9CC851B0-43D5-4D59-B06C-9B1D6921EE88}" dt="2026-09-04T19:39:30.108" v="98" actId="1076"/>
          <ac:spMkLst>
            <pc:docMk/>
            <pc:sldMk cId="1151437013" sldId="356"/>
            <ac:spMk id="22" creationId="{324C19AC-A664-DF2F-F068-154861BA8530}"/>
          </ac:spMkLst>
        </pc:spChg>
        <pc:spChg chg="del">
          <ac:chgData name="yusuf ahmed" userId="9a8a609a3f039e28" providerId="LiveId" clId="{9CC851B0-43D5-4D59-B06C-9B1D6921EE88}" dt="2026-09-04T19:37:32.476" v="57" actId="478"/>
          <ac:spMkLst>
            <pc:docMk/>
            <pc:sldMk cId="1151437013" sldId="356"/>
            <ac:spMk id="24" creationId="{3F61C856-1553-D2F2-606A-AE7E3F20D1F3}"/>
          </ac:spMkLst>
        </pc:spChg>
        <pc:spChg chg="del">
          <ac:chgData name="yusuf ahmed" userId="9a8a609a3f039e28" providerId="LiveId" clId="{9CC851B0-43D5-4D59-B06C-9B1D6921EE88}" dt="2026-09-04T19:37:32.476" v="57" actId="478"/>
          <ac:spMkLst>
            <pc:docMk/>
            <pc:sldMk cId="1151437013" sldId="356"/>
            <ac:spMk id="27" creationId="{6354125A-30BC-4EB8-AFE1-421976327C98}"/>
          </ac:spMkLst>
        </pc:spChg>
        <pc:spChg chg="del">
          <ac:chgData name="yusuf ahmed" userId="9a8a609a3f039e28" providerId="LiveId" clId="{9CC851B0-43D5-4D59-B06C-9B1D6921EE88}" dt="2026-09-04T19:37:32.476" v="57" actId="478"/>
          <ac:spMkLst>
            <pc:docMk/>
            <pc:sldMk cId="1151437013" sldId="356"/>
            <ac:spMk id="30" creationId="{B796F248-8E23-19F8-755B-3D8BAC112E85}"/>
          </ac:spMkLst>
        </pc:spChg>
        <pc:spChg chg="add mod">
          <ac:chgData name="yusuf ahmed" userId="9a8a609a3f039e28" providerId="LiveId" clId="{9CC851B0-43D5-4D59-B06C-9B1D6921EE88}" dt="2026-09-04T19:39:23.220" v="96" actId="255"/>
          <ac:spMkLst>
            <pc:docMk/>
            <pc:sldMk cId="1151437013" sldId="356"/>
            <ac:spMk id="31" creationId="{A62318AD-E211-4004-3F74-D42FF5AA53CD}"/>
          </ac:spMkLst>
        </pc:spChg>
        <pc:spChg chg="add mod">
          <ac:chgData name="yusuf ahmed" userId="9a8a609a3f039e28" providerId="LiveId" clId="{9CC851B0-43D5-4D59-B06C-9B1D6921EE88}" dt="2026-09-04T19:39:14.331" v="95" actId="1038"/>
          <ac:spMkLst>
            <pc:docMk/>
            <pc:sldMk cId="1151437013" sldId="356"/>
            <ac:spMk id="33" creationId="{2062119B-9875-958F-A630-E8CC0ECC1CF9}"/>
          </ac:spMkLst>
        </pc:spChg>
        <pc:spChg chg="del">
          <ac:chgData name="yusuf ahmed" userId="9a8a609a3f039e28" providerId="LiveId" clId="{9CC851B0-43D5-4D59-B06C-9B1D6921EE88}" dt="2026-09-04T19:37:32.476" v="57" actId="478"/>
          <ac:spMkLst>
            <pc:docMk/>
            <pc:sldMk cId="1151437013" sldId="356"/>
            <ac:spMk id="34" creationId="{DD7B8CD6-794F-E624-239B-0A378B6A1741}"/>
          </ac:spMkLst>
        </pc:spChg>
        <pc:spChg chg="del">
          <ac:chgData name="yusuf ahmed" userId="9a8a609a3f039e28" providerId="LiveId" clId="{9CC851B0-43D5-4D59-B06C-9B1D6921EE88}" dt="2026-09-04T19:37:32.476" v="57" actId="478"/>
          <ac:spMkLst>
            <pc:docMk/>
            <pc:sldMk cId="1151437013" sldId="356"/>
            <ac:spMk id="36" creationId="{78A099F2-B65D-F716-CB76-16D3CD036FFC}"/>
          </ac:spMkLst>
        </pc:spChg>
        <pc:spChg chg="del">
          <ac:chgData name="yusuf ahmed" userId="9a8a609a3f039e28" providerId="LiveId" clId="{9CC851B0-43D5-4D59-B06C-9B1D6921EE88}" dt="2026-09-04T19:37:32.476" v="57" actId="478"/>
          <ac:spMkLst>
            <pc:docMk/>
            <pc:sldMk cId="1151437013" sldId="356"/>
            <ac:spMk id="38" creationId="{9EC8546F-1A43-6842-ABE9-2E2216B146E8}"/>
          </ac:spMkLst>
        </pc:spChg>
        <pc:spChg chg="del">
          <ac:chgData name="yusuf ahmed" userId="9a8a609a3f039e28" providerId="LiveId" clId="{9CC851B0-43D5-4D59-B06C-9B1D6921EE88}" dt="2026-09-04T19:37:32.476" v="57" actId="478"/>
          <ac:spMkLst>
            <pc:docMk/>
            <pc:sldMk cId="1151437013" sldId="356"/>
            <ac:spMk id="41" creationId="{D6BE2C43-4C28-3CF7-1000-54CAAA786AAB}"/>
          </ac:spMkLst>
        </pc:spChg>
        <pc:spChg chg="del">
          <ac:chgData name="yusuf ahmed" userId="9a8a609a3f039e28" providerId="LiveId" clId="{9CC851B0-43D5-4D59-B06C-9B1D6921EE88}" dt="2026-09-04T19:37:32.476" v="57" actId="478"/>
          <ac:spMkLst>
            <pc:docMk/>
            <pc:sldMk cId="1151437013" sldId="356"/>
            <ac:spMk id="43" creationId="{83BEC0B4-44F3-D5FC-285F-0EAEB84B75DF}"/>
          </ac:spMkLst>
        </pc:spChg>
        <pc:spChg chg="del">
          <ac:chgData name="yusuf ahmed" userId="9a8a609a3f039e28" providerId="LiveId" clId="{9CC851B0-43D5-4D59-B06C-9B1D6921EE88}" dt="2026-09-04T19:37:32.476" v="57" actId="478"/>
          <ac:spMkLst>
            <pc:docMk/>
            <pc:sldMk cId="1151437013" sldId="356"/>
            <ac:spMk id="45" creationId="{2F6BAC0C-F941-638E-EDD3-27C3B7F9C98E}"/>
          </ac:spMkLst>
        </pc:spChg>
        <pc:picChg chg="del mod">
          <ac:chgData name="yusuf ahmed" userId="9a8a609a3f039e28" providerId="LiveId" clId="{9CC851B0-43D5-4D59-B06C-9B1D6921EE88}" dt="2026-09-04T19:39:48.562" v="131" actId="21"/>
          <ac:picMkLst>
            <pc:docMk/>
            <pc:sldMk cId="1151437013" sldId="356"/>
            <ac:picMk id="4" creationId="{E6674BC0-9386-E79B-AC8A-9727E33ADD4F}"/>
          </ac:picMkLst>
        </pc:picChg>
        <pc:picChg chg="del">
          <ac:chgData name="yusuf ahmed" userId="9a8a609a3f039e28" providerId="LiveId" clId="{9CC851B0-43D5-4D59-B06C-9B1D6921EE88}" dt="2026-09-04T19:37:32.476" v="57" actId="478"/>
          <ac:picMkLst>
            <pc:docMk/>
            <pc:sldMk cId="1151437013" sldId="356"/>
            <ac:picMk id="6" creationId="{C7AE31FE-999E-5049-07EB-97DCECAEB20A}"/>
          </ac:picMkLst>
        </pc:picChg>
        <pc:picChg chg="add mod">
          <ac:chgData name="yusuf ahmed" userId="9a8a609a3f039e28" providerId="LiveId" clId="{9CC851B0-43D5-4D59-B06C-9B1D6921EE88}" dt="2026-09-04T19:39:14.331" v="95" actId="1038"/>
          <ac:picMkLst>
            <pc:docMk/>
            <pc:sldMk cId="1151437013" sldId="356"/>
            <ac:picMk id="25" creationId="{546DBDCB-029E-01D1-6CEC-4194A4EC4C5F}"/>
          </ac:picMkLst>
        </pc:picChg>
        <pc:picChg chg="add mod">
          <ac:chgData name="yusuf ahmed" userId="9a8a609a3f039e28" providerId="LiveId" clId="{9CC851B0-43D5-4D59-B06C-9B1D6921EE88}" dt="2026-09-04T19:39:14.331" v="95" actId="1038"/>
          <ac:picMkLst>
            <pc:docMk/>
            <pc:sldMk cId="1151437013" sldId="356"/>
            <ac:picMk id="28" creationId="{17924771-0937-4C71-9C28-81888871F003}"/>
          </ac:picMkLst>
        </pc:picChg>
        <pc:picChg chg="del">
          <ac:chgData name="yusuf ahmed" userId="9a8a609a3f039e28" providerId="LiveId" clId="{9CC851B0-43D5-4D59-B06C-9B1D6921EE88}" dt="2026-09-04T19:38:55.217" v="58" actId="478"/>
          <ac:picMkLst>
            <pc:docMk/>
            <pc:sldMk cId="1151437013" sldId="356"/>
            <ac:picMk id="55" creationId="{E47E79E4-DFFC-CA32-B114-36B580C2D197}"/>
          </ac:picMkLst>
        </pc:picChg>
      </pc:sldChg>
      <pc:sldChg chg="add">
        <pc:chgData name="yusuf ahmed" userId="9a8a609a3f039e28" providerId="LiveId" clId="{9CC851B0-43D5-4D59-B06C-9B1D6921EE88}" dt="2026-09-04T19:50:59.672" v="351" actId="2890"/>
        <pc:sldMkLst>
          <pc:docMk/>
          <pc:sldMk cId="2579218373" sldId="3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0CFBD-2DEB-440F-9191-7BCF2F1F3C7B}" type="datetimeFigureOut">
              <a:rPr lang="en-US" smtClean="0"/>
              <a:t>9/5/2026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4245B8-2127-40CB-94F2-866A59635F23}" type="slidenum">
              <a:rPr lang="en-US" smtClean="0"/>
              <a:t>‹#›</a:t>
            </a:fld>
            <a:endParaRPr lang="en-US"/>
          </a:p>
        </p:txBody>
      </p:sp>
    </p:spTree>
    <p:extLst>
      <p:ext uri="{BB962C8B-B14F-4D97-AF65-F5344CB8AC3E}">
        <p14:creationId xmlns:p14="http://schemas.microsoft.com/office/powerpoint/2010/main" val="147131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9" name="Google Shape;2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0" name="Google Shape;3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1</a:t>
            </a:fld>
            <a:endParaRPr sz="1200" b="0" i="0" u="none" strike="noStrike" cap="none">
              <a:solidFill>
                <a:srgbClr val="000000"/>
              </a:solidFill>
              <a:latin typeface="Malgun Gothic"/>
              <a:ea typeface="Malgun Gothic"/>
              <a:cs typeface="Malgun Gothic"/>
              <a:sym typeface="Malgun Gothic"/>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17952DAD-EEFD-5093-ED20-774900477664}"/>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1226D1AF-9303-1139-BA26-7BD8E2F0AF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E51D8D6D-B28F-F8E6-A64B-A37A364E674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76CC6CBC-934B-A69A-6C9E-2358DCE2467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020667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50356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548060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737000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668279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3C6BEA5B-BFBF-F42D-863B-11DC564E5327}"/>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A7273DDA-0AED-08B3-BFC6-1B284C86EC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92E5699B-0C83-FFC5-4ED9-E2F1550439A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D633822C-C4B3-0E16-5256-9AE594C78D6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36600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A4383703-19A7-68EB-F330-624D36EDC6A4}"/>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3CD422C7-0DC1-4EC1-1549-8410DFFB77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BEC750C0-5175-7BD2-52E1-BD8AF1D0A00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D9F62ED8-1692-F4A6-A3FC-C27023E35BC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778581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9DBACCC9-FF09-C83D-3E28-7DC97D4C44E5}"/>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E9FA65DD-31C0-9B0A-ABD9-95146B8D89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E3C817C5-7DA9-C00D-13B5-1D409C97567E}"/>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E3F26A52-5668-1CCF-69BE-FD806C16ECF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661936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148F6919-B8FF-D1B5-1F3B-9B94952340B7}"/>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F8E6C439-1D68-AB36-0F03-47B2477038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FFE9E7C0-F180-0CDA-F453-CBB5AEEEEA3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1609DB53-A800-5409-CFEB-032384F3D18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1513111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42C4496B-3E70-14D0-D012-8F8FDF4EFB4E}"/>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32075CE6-C723-005A-8A54-B1B855783F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B2A72373-FF1C-2EBB-156D-73BE2C9358E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1DE2609B-CB98-2BD2-24F3-190D1523BD1D}"/>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335658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32BE567F-F71F-0048-2252-DBDFFF388835}"/>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16552A50-56A8-893B-4A4B-B45D56728D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8B602934-08AD-B90C-2316-E8DC9381FCB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A58BE844-A66D-E5E4-03D5-106881FE1470}"/>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0033132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C84855A3-396E-DF55-CB26-52CDB7DD0A51}"/>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B7906F58-6802-A645-32E9-C8BFE2485B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36B1238E-0527-3BAA-1FD2-8B6D604E620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C7A53425-2059-FC1D-867A-BE850D5EBE2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885134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88475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ED91D3B9-7C3A-D3EC-6B02-34E6271C29A1}"/>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343F2EBA-5FB6-9B03-FDFF-997E2A837C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B439C727-78AE-EC7B-3927-05E1071D91A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7CC5FA67-350D-9372-EF76-E23B374DCD3E}"/>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29631504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a:extLst>
            <a:ext uri="{FF2B5EF4-FFF2-40B4-BE49-F238E27FC236}">
              <a16:creationId xmlns:a16="http://schemas.microsoft.com/office/drawing/2014/main" id="{E0759B6E-B191-24AC-B1DD-36D561A267EF}"/>
            </a:ext>
          </a:extLst>
        </p:cNvPr>
        <p:cNvGrpSpPr/>
        <p:nvPr/>
      </p:nvGrpSpPr>
      <p:grpSpPr>
        <a:xfrm>
          <a:off x="0" y="0"/>
          <a:ext cx="0" cy="0"/>
          <a:chOff x="0" y="0"/>
          <a:chExt cx="0" cy="0"/>
        </a:xfrm>
      </p:grpSpPr>
      <p:sp>
        <p:nvSpPr>
          <p:cNvPr id="44" name="Google Shape;44;p3:notes">
            <a:extLst>
              <a:ext uri="{FF2B5EF4-FFF2-40B4-BE49-F238E27FC236}">
                <a16:creationId xmlns:a16="http://schemas.microsoft.com/office/drawing/2014/main" id="{B1C3F257-8A97-66F5-13CC-09C29D745A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45" name="Google Shape;45;p3:notes">
            <a:extLst>
              <a:ext uri="{FF2B5EF4-FFF2-40B4-BE49-F238E27FC236}">
                <a16:creationId xmlns:a16="http://schemas.microsoft.com/office/drawing/2014/main" id="{2A588888-D46D-7B64-2DAD-37ADD52FCDD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a:extLst>
              <a:ext uri="{FF2B5EF4-FFF2-40B4-BE49-F238E27FC236}">
                <a16:creationId xmlns:a16="http://schemas.microsoft.com/office/drawing/2014/main" id="{392A0DEB-DE46-04D3-09BC-754043761BA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3344986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a:extLst>
            <a:ext uri="{FF2B5EF4-FFF2-40B4-BE49-F238E27FC236}">
              <a16:creationId xmlns:a16="http://schemas.microsoft.com/office/drawing/2014/main" id="{C5BFE778-885A-A2DA-BDA1-750E61DF881F}"/>
            </a:ext>
          </a:extLst>
        </p:cNvPr>
        <p:cNvGrpSpPr/>
        <p:nvPr/>
      </p:nvGrpSpPr>
      <p:grpSpPr>
        <a:xfrm>
          <a:off x="0" y="0"/>
          <a:ext cx="0" cy="0"/>
          <a:chOff x="0" y="0"/>
          <a:chExt cx="0" cy="0"/>
        </a:xfrm>
      </p:grpSpPr>
      <p:sp>
        <p:nvSpPr>
          <p:cNvPr id="44" name="Google Shape;44;p3:notes">
            <a:extLst>
              <a:ext uri="{FF2B5EF4-FFF2-40B4-BE49-F238E27FC236}">
                <a16:creationId xmlns:a16="http://schemas.microsoft.com/office/drawing/2014/main" id="{152F7FDB-778E-33AB-D236-A496B8769B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45" name="Google Shape;45;p3:notes">
            <a:extLst>
              <a:ext uri="{FF2B5EF4-FFF2-40B4-BE49-F238E27FC236}">
                <a16:creationId xmlns:a16="http://schemas.microsoft.com/office/drawing/2014/main" id="{F567643B-4D61-8473-85A5-3502545165E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a:extLst>
              <a:ext uri="{FF2B5EF4-FFF2-40B4-BE49-F238E27FC236}">
                <a16:creationId xmlns:a16="http://schemas.microsoft.com/office/drawing/2014/main" id="{C01E4FA2-B437-AA02-5C62-831728EF3A8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40846483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A5A4ACDD-8D5F-49B7-87FE-3D0FFC61D751}"/>
            </a:ext>
          </a:extLst>
        </p:cNvPr>
        <p:cNvGrpSpPr/>
        <p:nvPr/>
      </p:nvGrpSpPr>
      <p:grpSpPr>
        <a:xfrm>
          <a:off x="0" y="0"/>
          <a:ext cx="0" cy="0"/>
          <a:chOff x="0" y="0"/>
          <a:chExt cx="0" cy="0"/>
        </a:xfrm>
      </p:grpSpPr>
      <p:sp>
        <p:nvSpPr>
          <p:cNvPr id="35" name="Google Shape;35;p2:notes">
            <a:extLst>
              <a:ext uri="{FF2B5EF4-FFF2-40B4-BE49-F238E27FC236}">
                <a16:creationId xmlns:a16="http://schemas.microsoft.com/office/drawing/2014/main" id="{5E1E9375-C2EA-6DB8-E3BB-476C3E5D58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6" name="Google Shape;36;p2:notes">
            <a:extLst>
              <a:ext uri="{FF2B5EF4-FFF2-40B4-BE49-F238E27FC236}">
                <a16:creationId xmlns:a16="http://schemas.microsoft.com/office/drawing/2014/main" id="{0905D452-EBC9-F8D7-896F-9A60349E6E3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a:extLst>
              <a:ext uri="{FF2B5EF4-FFF2-40B4-BE49-F238E27FC236}">
                <a16:creationId xmlns:a16="http://schemas.microsoft.com/office/drawing/2014/main" id="{E461A244-75A5-7420-2483-291E4279F1A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16154026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7b6163dee3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0" name="Google Shape;80;g27b6163dee3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g27b6163dee3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nterim Cover">
  <p:cSld name="Interim Cover">
    <p:bg>
      <p:bgPr>
        <a:solidFill>
          <a:srgbClr val="193EB0"/>
        </a:solidFill>
        <a:effectLst/>
      </p:bgPr>
    </p:bg>
    <p:spTree>
      <p:nvGrpSpPr>
        <p:cNvPr id="1" name="Shape 10"/>
        <p:cNvGrpSpPr/>
        <p:nvPr/>
      </p:nvGrpSpPr>
      <p:grpSpPr>
        <a:xfrm>
          <a:off x="0" y="0"/>
          <a:ext cx="0" cy="0"/>
          <a:chOff x="0" y="0"/>
          <a:chExt cx="0" cy="0"/>
        </a:xfrm>
      </p:grpSpPr>
      <p:pic>
        <p:nvPicPr>
          <p:cNvPr id="11" name="Google Shape;11;p44"/>
          <p:cNvPicPr preferRelativeResize="0"/>
          <p:nvPr/>
        </p:nvPicPr>
        <p:blipFill rotWithShape="1">
          <a:blip r:embed="rId2">
            <a:alphaModFix/>
          </a:blip>
          <a:srcRect/>
          <a:stretch/>
        </p:blipFill>
        <p:spPr>
          <a:xfrm>
            <a:off x="14643132" y="370513"/>
            <a:ext cx="2952967" cy="786137"/>
          </a:xfrm>
          <a:prstGeom prst="rect">
            <a:avLst/>
          </a:prstGeom>
          <a:noFill/>
          <a:ln>
            <a:noFill/>
          </a:ln>
        </p:spPr>
      </p:pic>
      <p:sp>
        <p:nvSpPr>
          <p:cNvPr id="12" name="Google Shape;12;p44"/>
          <p:cNvSpPr/>
          <p:nvPr/>
        </p:nvSpPr>
        <p:spPr>
          <a:xfrm>
            <a:off x="915806" y="605937"/>
            <a:ext cx="2513353" cy="315288"/>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spcFirstLastPara="1" wrap="square" lIns="137138" tIns="68550" rIns="137138" bIns="6855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27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74449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5"/>
        <p:cNvGrpSpPr/>
        <p:nvPr/>
      </p:nvGrpSpPr>
      <p:grpSpPr>
        <a:xfrm>
          <a:off x="0" y="0"/>
          <a:ext cx="0" cy="0"/>
          <a:chOff x="0" y="0"/>
          <a:chExt cx="0" cy="0"/>
        </a:xfrm>
      </p:grpSpPr>
      <p:sp>
        <p:nvSpPr>
          <p:cNvPr id="16" name="Google Shape;16;p46"/>
          <p:cNvSpPr/>
          <p:nvPr/>
        </p:nvSpPr>
        <p:spPr>
          <a:xfrm>
            <a:off x="1" y="0"/>
            <a:ext cx="18288000" cy="3105807"/>
          </a:xfrm>
          <a:prstGeom prst="rect">
            <a:avLst/>
          </a:prstGeom>
          <a:solidFill>
            <a:srgbClr val="193EB0"/>
          </a:solidFill>
          <a:ln>
            <a:noFill/>
          </a:ln>
        </p:spPr>
        <p:txBody>
          <a:bodyPr spcFirstLastPara="1" wrap="square" lIns="137138" tIns="68550" rIns="137138" bIns="6855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17" name="Google Shape;17;p46"/>
          <p:cNvSpPr/>
          <p:nvPr/>
        </p:nvSpPr>
        <p:spPr>
          <a:xfrm>
            <a:off x="1057441" y="9533057"/>
            <a:ext cx="5334857"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a:solidFill>
                  <a:srgbClr val="7F7F7F"/>
                </a:solidFill>
                <a:latin typeface="Arial"/>
                <a:ea typeface="Arial"/>
                <a:cs typeface="Arial"/>
                <a:sym typeface="Arial"/>
              </a:rPr>
              <a:t>Samsung Innovation Campus</a:t>
            </a:r>
            <a:endParaRPr sz="2700"/>
          </a:p>
        </p:txBody>
      </p:sp>
    </p:spTree>
    <p:extLst>
      <p:ext uri="{BB962C8B-B14F-4D97-AF65-F5344CB8AC3E}">
        <p14:creationId xmlns:p14="http://schemas.microsoft.com/office/powerpoint/2010/main" val="704519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ront Cover">
  <p:cSld name="Front Cover">
    <p:bg>
      <p:bgPr>
        <a:solidFill>
          <a:srgbClr val="193EB0"/>
        </a:solidFill>
        <a:effectLst/>
      </p:bgPr>
    </p:bg>
    <p:spTree>
      <p:nvGrpSpPr>
        <p:cNvPr id="1" name="Shape 13"/>
        <p:cNvGrpSpPr/>
        <p:nvPr/>
      </p:nvGrpSpPr>
      <p:grpSpPr>
        <a:xfrm>
          <a:off x="0" y="0"/>
          <a:ext cx="0" cy="0"/>
          <a:chOff x="0" y="0"/>
          <a:chExt cx="0" cy="0"/>
        </a:xfrm>
      </p:grpSpPr>
      <p:sp>
        <p:nvSpPr>
          <p:cNvPr id="14" name="Google Shape;14;p45"/>
          <p:cNvSpPr/>
          <p:nvPr/>
        </p:nvSpPr>
        <p:spPr>
          <a:xfrm>
            <a:off x="1057441" y="9533057"/>
            <a:ext cx="5334857"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chemeClr val="lt1"/>
                </a:solidFill>
                <a:latin typeface="Arial"/>
                <a:ea typeface="Arial"/>
                <a:cs typeface="Arial"/>
                <a:sym typeface="Arial"/>
              </a:rPr>
              <a:t>Samsung Innovation Campus</a:t>
            </a:r>
            <a:endParaRPr sz="2700"/>
          </a:p>
        </p:txBody>
      </p:sp>
    </p:spTree>
    <p:extLst>
      <p:ext uri="{BB962C8B-B14F-4D97-AF65-F5344CB8AC3E}">
        <p14:creationId xmlns:p14="http://schemas.microsoft.com/office/powerpoint/2010/main" val="3604307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 Cover">
  <p:cSld name="Back Cover">
    <p:bg>
      <p:bgPr>
        <a:solidFill>
          <a:srgbClr val="193EB0"/>
        </a:solidFill>
        <a:effectLst/>
      </p:bgPr>
    </p:bg>
    <p:spTree>
      <p:nvGrpSpPr>
        <p:cNvPr id="1" name="Shape 22"/>
        <p:cNvGrpSpPr/>
        <p:nvPr/>
      </p:nvGrpSpPr>
      <p:grpSpPr>
        <a:xfrm>
          <a:off x="0" y="0"/>
          <a:ext cx="0" cy="0"/>
          <a:chOff x="0" y="0"/>
          <a:chExt cx="0" cy="0"/>
        </a:xfrm>
      </p:grpSpPr>
      <p:sp>
        <p:nvSpPr>
          <p:cNvPr id="23" name="Google Shape;23;p48"/>
          <p:cNvSpPr/>
          <p:nvPr/>
        </p:nvSpPr>
        <p:spPr>
          <a:xfrm>
            <a:off x="1095078" y="8446562"/>
            <a:ext cx="17192922" cy="11028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000"/>
              <a:buFont typeface="Arial"/>
              <a:buNone/>
            </a:pPr>
            <a:r>
              <a:rPr lang="en-US" sz="1500" b="0" i="0" u="none" strike="noStrike" cap="none">
                <a:solidFill>
                  <a:srgbClr val="FFFFFF"/>
                </a:solidFill>
                <a:latin typeface="Arial"/>
                <a:ea typeface="Arial"/>
                <a:cs typeface="Arial"/>
                <a:sym typeface="Arial"/>
              </a:rPr>
              <a:t>ⓒ2020 SAMSUNG. All rights reserved.</a:t>
            </a:r>
            <a:endParaRPr sz="2700"/>
          </a:p>
          <a:p>
            <a:pPr marL="0" marR="0" lvl="0" indent="0" algn="l" rtl="0">
              <a:lnSpc>
                <a:spcPct val="100000"/>
              </a:lnSpc>
              <a:spcBef>
                <a:spcPts val="900"/>
              </a:spcBef>
              <a:spcAft>
                <a:spcPts val="0"/>
              </a:spcAft>
              <a:buClr>
                <a:srgbClr val="FFFFFF"/>
              </a:buClr>
              <a:buSzPts val="1000"/>
              <a:buFont typeface="Arial"/>
              <a:buNone/>
            </a:pPr>
            <a:r>
              <a:rPr lang="en-US" sz="1500" b="0" i="0" u="none" strike="noStrike" cap="none">
                <a:solidFill>
                  <a:srgbClr val="FFFFFF"/>
                </a:solidFill>
                <a:latin typeface="Arial"/>
                <a:ea typeface="Arial"/>
                <a:cs typeface="Arial"/>
                <a:sym typeface="Arial"/>
              </a:rPr>
              <a:t>Samsung Electronics Corporate Citizenship Office holds the copyright of book.</a:t>
            </a:r>
            <a:endParaRPr sz="2700"/>
          </a:p>
          <a:p>
            <a:pPr marL="0" marR="0" lvl="0" indent="0" algn="l" rtl="0">
              <a:lnSpc>
                <a:spcPct val="100000"/>
              </a:lnSpc>
              <a:spcBef>
                <a:spcPts val="450"/>
              </a:spcBef>
              <a:spcAft>
                <a:spcPts val="0"/>
              </a:spcAft>
              <a:buClr>
                <a:srgbClr val="FFFFFF"/>
              </a:buClr>
              <a:buSzPts val="1000"/>
              <a:buFont typeface="Arial"/>
              <a:buNone/>
            </a:pPr>
            <a:r>
              <a:rPr lang="en-US" sz="1500" b="0" i="0" u="none" strike="noStrike" cap="none">
                <a:solidFill>
                  <a:srgbClr val="FFFFFF"/>
                </a:solidFill>
                <a:latin typeface="Arial"/>
                <a:ea typeface="Arial"/>
                <a:cs typeface="Arial"/>
                <a:sym typeface="Arial"/>
              </a:rPr>
              <a:t>This book is a literary property protected by copyright law so reprint and reproduction without permission are prohibited. </a:t>
            </a:r>
            <a:endParaRPr sz="2700"/>
          </a:p>
          <a:p>
            <a:pPr marL="0" marR="0" lvl="0" indent="0" algn="l" rtl="0">
              <a:lnSpc>
                <a:spcPct val="100000"/>
              </a:lnSpc>
              <a:spcBef>
                <a:spcPts val="0"/>
              </a:spcBef>
              <a:spcAft>
                <a:spcPts val="0"/>
              </a:spcAft>
              <a:buClr>
                <a:srgbClr val="FFFFFF"/>
              </a:buClr>
              <a:buSzPts val="1000"/>
              <a:buFont typeface="Arial"/>
              <a:buNone/>
            </a:pPr>
            <a:r>
              <a:rPr lang="en-US" sz="1500" b="0" i="0" u="none" strike="noStrike" cap="none">
                <a:solidFill>
                  <a:srgbClr val="FFFFFF"/>
                </a:solidFill>
                <a:latin typeface="Arial"/>
                <a:ea typeface="Arial"/>
                <a:cs typeface="Arial"/>
                <a:sym typeface="Arial"/>
              </a:rPr>
              <a:t>To use this book other than the curriculum of Samsung innovation Campus or to use the entire or part of this book, you must receive written consent from copyright holder.</a:t>
            </a:r>
            <a:endParaRPr sz="2700"/>
          </a:p>
        </p:txBody>
      </p:sp>
      <p:sp>
        <p:nvSpPr>
          <p:cNvPr id="24" name="Google Shape;24;p48"/>
          <p:cNvSpPr/>
          <p:nvPr/>
        </p:nvSpPr>
        <p:spPr>
          <a:xfrm>
            <a:off x="14896875" y="605937"/>
            <a:ext cx="2513353" cy="315288"/>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spcFirstLastPara="1" wrap="square" lIns="137138" tIns="68550" rIns="137138" bIns="6855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2700" b="0" i="0" u="none" strike="noStrike" cap="none">
              <a:solidFill>
                <a:srgbClr val="000000"/>
              </a:solidFill>
              <a:latin typeface="Calibri"/>
              <a:ea typeface="Calibri"/>
              <a:cs typeface="Calibri"/>
              <a:sym typeface="Calibri"/>
            </a:endParaRPr>
          </a:p>
        </p:txBody>
      </p:sp>
      <p:pic>
        <p:nvPicPr>
          <p:cNvPr id="25" name="Google Shape;25;p48"/>
          <p:cNvPicPr preferRelativeResize="0"/>
          <p:nvPr/>
        </p:nvPicPr>
        <p:blipFill rotWithShape="1">
          <a:blip r:embed="rId2">
            <a:alphaModFix/>
          </a:blip>
          <a:srcRect/>
          <a:stretch/>
        </p:blipFill>
        <p:spPr>
          <a:xfrm>
            <a:off x="6041182" y="3943319"/>
            <a:ext cx="6205635" cy="1653207"/>
          </a:xfrm>
          <a:prstGeom prst="rect">
            <a:avLst/>
          </a:prstGeom>
          <a:noFill/>
          <a:ln>
            <a:noFill/>
          </a:ln>
        </p:spPr>
      </p:pic>
    </p:spTree>
    <p:extLst>
      <p:ext uri="{BB962C8B-B14F-4D97-AF65-F5344CB8AC3E}">
        <p14:creationId xmlns:p14="http://schemas.microsoft.com/office/powerpoint/2010/main" val="3897101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5.png"/><Relationship Id="rId2" Type="http://schemas.openxmlformats.org/officeDocument/2006/relationships/image" Target="../media/image22.png"/><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4.xml"/><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1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52.jpg"/></Relationships>
</file>

<file path=ppt/slides/_rels/slide2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14.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jpeg"/></Relationships>
</file>

<file path=ppt/slides/_rels/slide26.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4.xml"/><Relationship Id="rId4" Type="http://schemas.openxmlformats.org/officeDocument/2006/relationships/hyperlink" Target="https://github.com/shoman042/Uber_End_to_End_Data_Pipeline"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2667000" y="3208852"/>
            <a:ext cx="14094435" cy="2608652"/>
          </a:xfrm>
          <a:prstGeom prst="rect">
            <a:avLst/>
          </a:prstGeom>
          <a:noFill/>
          <a:ln>
            <a:noFill/>
          </a:ln>
        </p:spPr>
        <p:txBody>
          <a:bodyPr spcFirstLastPara="1" wrap="square" lIns="0" tIns="0" rIns="0" bIns="0" anchor="t" anchorCtr="0">
            <a:noAutofit/>
          </a:bodyPr>
          <a:lstStyle/>
          <a:p>
            <a:pPr algn="ctr">
              <a:buClr>
                <a:srgbClr val="FFFFFF"/>
              </a:buClr>
              <a:buSzPts val="4400"/>
            </a:pPr>
            <a:r>
              <a:rPr lang="en-US" sz="5100" b="1" dirty="0">
                <a:solidFill>
                  <a:srgbClr val="FFFFFF"/>
                </a:solidFill>
                <a:latin typeface="Arial" panose="020B0604020202020204" pitchFamily="34" charset="0"/>
                <a:ea typeface="Arial"/>
                <a:cs typeface="Arial" panose="020B0604020202020204" pitchFamily="34" charset="0"/>
                <a:sym typeface="Arial"/>
              </a:rPr>
              <a:t>Medallion-Architecture Data Pipeline for the Uber NYC Rides Dataset </a:t>
            </a:r>
          </a:p>
        </p:txBody>
      </p:sp>
      <p:sp>
        <p:nvSpPr>
          <p:cNvPr id="85" name="Google Shape;85;p1"/>
          <p:cNvSpPr/>
          <p:nvPr/>
        </p:nvSpPr>
        <p:spPr>
          <a:xfrm>
            <a:off x="3015734" y="5847366"/>
            <a:ext cx="9067500" cy="553950"/>
          </a:xfrm>
          <a:prstGeom prst="rect">
            <a:avLst/>
          </a:prstGeom>
          <a:noFill/>
          <a:ln>
            <a:noFill/>
          </a:ln>
        </p:spPr>
        <p:txBody>
          <a:bodyPr spcFirstLastPara="1" wrap="square" lIns="0" tIns="0" rIns="0" bIns="0" anchor="ctr" anchorCtr="0">
            <a:noAutofit/>
          </a:bodyPr>
          <a:lstStyle/>
          <a:p>
            <a:pPr>
              <a:buClr>
                <a:srgbClr val="00B3E3"/>
              </a:buClr>
              <a:buSzPts val="2400"/>
            </a:pPr>
            <a:r>
              <a:rPr lang="en-US" sz="3200" dirty="0">
                <a:solidFill>
                  <a:srgbClr val="00B3E3"/>
                </a:solidFill>
                <a:latin typeface="Arial" panose="020B0604020202020204" pitchFamily="34" charset="0"/>
                <a:cs typeface="Arial" panose="020B0604020202020204" pitchFamily="34" charset="0"/>
              </a:rPr>
              <a:t>SIC 8</a:t>
            </a:r>
            <a:endParaRPr sz="3200" dirty="0">
              <a:solidFill>
                <a:srgbClr val="00B3E3"/>
              </a:solidFill>
              <a:latin typeface="Arial" panose="020B0604020202020204" pitchFamily="34" charset="0"/>
              <a:ea typeface="Arial"/>
              <a:cs typeface="Arial" panose="020B0604020202020204" pitchFamily="34" charset="0"/>
              <a:sym typeface="Arial"/>
            </a:endParaRPr>
          </a:p>
        </p:txBody>
      </p:sp>
      <p:sp>
        <p:nvSpPr>
          <p:cNvPr id="2" name="Google Shape;40;p2">
            <a:extLst>
              <a:ext uri="{FF2B5EF4-FFF2-40B4-BE49-F238E27FC236}">
                <a16:creationId xmlns:a16="http://schemas.microsoft.com/office/drawing/2014/main" id="{4D6E79AD-A326-7676-B9BA-D473A9DDA013}"/>
              </a:ext>
            </a:extLst>
          </p:cNvPr>
          <p:cNvSpPr/>
          <p:nvPr/>
        </p:nvSpPr>
        <p:spPr>
          <a:xfrm>
            <a:off x="3015732" y="6397421"/>
            <a:ext cx="2356650" cy="492443"/>
          </a:xfrm>
          <a:prstGeom prst="rect">
            <a:avLst/>
          </a:prstGeom>
          <a:noFill/>
          <a:ln>
            <a:noFill/>
          </a:ln>
        </p:spPr>
        <p:txBody>
          <a:bodyPr spcFirstLastPara="1" wrap="square" lIns="0" tIns="0" rIns="0" bIns="0" anchor="ctr" anchorCtr="0">
            <a:spAutoFit/>
          </a:bodyPr>
          <a:lstStyle/>
          <a:p>
            <a:r>
              <a:rPr lang="en-US" sz="3200" dirty="0">
                <a:solidFill>
                  <a:srgbClr val="00B3E3"/>
                </a:solidFill>
                <a:latin typeface="Arial" panose="020B0604020202020204" pitchFamily="34" charset="0"/>
                <a:ea typeface="Arial"/>
                <a:cs typeface="Arial" panose="020B0604020202020204" pitchFamily="34" charset="0"/>
                <a:sym typeface="Arial"/>
              </a:rPr>
              <a:t>BD Track</a:t>
            </a:r>
            <a:endParaRPr sz="3200" dirty="0">
              <a:solidFill>
                <a:srgbClr val="00B3E3"/>
              </a:solidFill>
              <a:latin typeface="Arial" panose="020B0604020202020204" pitchFamily="34" charset="0"/>
              <a:ea typeface="Arial"/>
              <a:cs typeface="Arial" panose="020B0604020202020204" pitchFamily="34" charset="0"/>
              <a:sym typeface="Arial"/>
            </a:endParaRPr>
          </a:p>
        </p:txBody>
      </p:sp>
      <p:sp>
        <p:nvSpPr>
          <p:cNvPr id="4" name="TextBox 3">
            <a:extLst>
              <a:ext uri="{FF2B5EF4-FFF2-40B4-BE49-F238E27FC236}">
                <a16:creationId xmlns:a16="http://schemas.microsoft.com/office/drawing/2014/main" id="{57279846-15A7-43AC-4D6C-D8A33360C732}"/>
              </a:ext>
            </a:extLst>
          </p:cNvPr>
          <p:cNvSpPr txBox="1"/>
          <p:nvPr/>
        </p:nvSpPr>
        <p:spPr>
          <a:xfrm>
            <a:off x="2898165" y="6787994"/>
            <a:ext cx="7426233" cy="584775"/>
          </a:xfrm>
          <a:prstGeom prst="rect">
            <a:avLst/>
          </a:prstGeom>
          <a:noFill/>
        </p:spPr>
        <p:txBody>
          <a:bodyPr wrap="square">
            <a:spAutoFit/>
          </a:bodyPr>
          <a:lstStyle/>
          <a:p>
            <a:r>
              <a:rPr lang="en-US" sz="3200" dirty="0">
                <a:solidFill>
                  <a:srgbClr val="00B3E3"/>
                </a:solidFill>
                <a:latin typeface="Arial" panose="020B0604020202020204" pitchFamily="34" charset="0"/>
                <a:cs typeface="Arial" panose="020B0604020202020204" pitchFamily="34" charset="0"/>
              </a:rPr>
              <a:t>G </a:t>
            </a:r>
            <a:r>
              <a:rPr lang="ar-EG" sz="3200" dirty="0">
                <a:solidFill>
                  <a:srgbClr val="00B3E3"/>
                </a:solidFill>
                <a:latin typeface="Arial" panose="020B0604020202020204" pitchFamily="34" charset="0"/>
                <a:cs typeface="Arial" panose="020B0604020202020204" pitchFamily="34" charset="0"/>
              </a:rPr>
              <a:t>7</a:t>
            </a:r>
            <a:r>
              <a:rPr lang="en-US" sz="3200" dirty="0">
                <a:solidFill>
                  <a:srgbClr val="00B3E3"/>
                </a:solidFill>
                <a:latin typeface="Arial" panose="020B0604020202020204" pitchFamily="34" charset="0"/>
                <a:cs typeface="Arial" panose="020B0604020202020204" pitchFamily="34" charset="0"/>
              </a:rPr>
              <a:t> </a:t>
            </a:r>
            <a:endParaRPr lang="en-US" sz="3200" dirty="0">
              <a:latin typeface="Arial" panose="020B0604020202020204" pitchFamily="34" charset="0"/>
              <a:cs typeface="Arial" panose="020B0604020202020204" pitchFamily="34" charset="0"/>
            </a:endParaRPr>
          </a:p>
        </p:txBody>
      </p:sp>
      <p:pic>
        <p:nvPicPr>
          <p:cNvPr id="86" name="Picture 85" descr="uber_logo_white.png"/>
          <p:cNvPicPr>
            <a:picLocks noChangeAspect="1"/>
          </p:cNvPicPr>
          <p:nvPr/>
        </p:nvPicPr>
        <p:blipFill>
          <a:blip r:embed="rId3"/>
          <a:stretch>
            <a:fillRect/>
          </a:stretch>
        </p:blipFill>
        <p:spPr>
          <a:xfrm>
            <a:off x="14538960" y="8414831"/>
            <a:ext cx="2926080" cy="10492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latin typeface="Arial" panose="020B0604020202020204" pitchFamily="34" charset="0"/>
                <a:cs typeface="Arial" panose="020B0604020202020204" pitchFamily="34" charset="0"/>
              </a:rPr>
              <a:t>Agenda</a:t>
            </a:r>
            <a:endParaRPr sz="5000" b="1" dirty="0">
              <a:latin typeface="Arial" panose="020B0604020202020204" pitchFamily="34" charset="0"/>
              <a:cs typeface="Arial" panose="020B0604020202020204" pitchFamily="34" charset="0"/>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Team</a:t>
              </a:r>
              <a:endParaRPr sz="2700" b="1" dirty="0">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19400" y="4838700"/>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Problem Statement</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3" name="Google Shape;59;p3">
            <a:extLst>
              <a:ext uri="{FF2B5EF4-FFF2-40B4-BE49-F238E27FC236}">
                <a16:creationId xmlns:a16="http://schemas.microsoft.com/office/drawing/2014/main" id="{7F7E447A-C5E1-7420-8FBB-3CF4F1A9AD02}"/>
              </a:ext>
            </a:extLst>
          </p:cNvPr>
          <p:cNvGrpSpPr/>
          <p:nvPr/>
        </p:nvGrpSpPr>
        <p:grpSpPr>
          <a:xfrm>
            <a:off x="2819400" y="5372100"/>
            <a:ext cx="8553420" cy="417167"/>
            <a:chOff x="571500" y="5165783"/>
            <a:chExt cx="5702280" cy="278111"/>
          </a:xfrm>
        </p:grpSpPr>
        <p:sp>
          <p:nvSpPr>
            <p:cNvPr id="24" name="Google Shape;60;p3">
              <a:extLst>
                <a:ext uri="{FF2B5EF4-FFF2-40B4-BE49-F238E27FC236}">
                  <a16:creationId xmlns:a16="http://schemas.microsoft.com/office/drawing/2014/main" id="{C343142B-432C-21AC-C3ED-C746402D1775}"/>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25" name="Google Shape;61;p3">
              <a:extLst>
                <a:ext uri="{FF2B5EF4-FFF2-40B4-BE49-F238E27FC236}">
                  <a16:creationId xmlns:a16="http://schemas.microsoft.com/office/drawing/2014/main" id="{A929D6BB-1C0E-E7E6-0485-DFC4F9631D1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9" name="Google Shape;59;p3">
            <a:extLst>
              <a:ext uri="{FF2B5EF4-FFF2-40B4-BE49-F238E27FC236}">
                <a16:creationId xmlns:a16="http://schemas.microsoft.com/office/drawing/2014/main" id="{6B0CC098-F2B6-F4AB-ACA1-ADA8CE90848D}"/>
              </a:ext>
            </a:extLst>
          </p:cNvPr>
          <p:cNvGrpSpPr/>
          <p:nvPr/>
        </p:nvGrpSpPr>
        <p:grpSpPr>
          <a:xfrm>
            <a:off x="2838827" y="6691517"/>
            <a:ext cx="8553420" cy="417186"/>
            <a:chOff x="571500" y="5165783"/>
            <a:chExt cx="5702280" cy="278124"/>
          </a:xfrm>
        </p:grpSpPr>
        <p:sp>
          <p:nvSpPr>
            <p:cNvPr id="30" name="Google Shape;60;p3">
              <a:extLst>
                <a:ext uri="{FF2B5EF4-FFF2-40B4-BE49-F238E27FC236}">
                  <a16:creationId xmlns:a16="http://schemas.microsoft.com/office/drawing/2014/main" id="{5827A87A-FDAA-039B-8499-A0134E71CC44}"/>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Results and Insights</a:t>
              </a:r>
            </a:p>
          </p:txBody>
        </p:sp>
        <p:sp>
          <p:nvSpPr>
            <p:cNvPr id="31" name="Google Shape;61;p3">
              <a:extLst>
                <a:ext uri="{FF2B5EF4-FFF2-40B4-BE49-F238E27FC236}">
                  <a16:creationId xmlns:a16="http://schemas.microsoft.com/office/drawing/2014/main" id="{8C925EB8-49B2-7445-4CD7-4610E9FC10C2}"/>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32" name="Google Shape;59;p3">
            <a:extLst>
              <a:ext uri="{FF2B5EF4-FFF2-40B4-BE49-F238E27FC236}">
                <a16:creationId xmlns:a16="http://schemas.microsoft.com/office/drawing/2014/main" id="{D876FA5B-C218-9A6F-8397-0DE31982F5F2}"/>
              </a:ext>
            </a:extLst>
          </p:cNvPr>
          <p:cNvGrpSpPr/>
          <p:nvPr/>
        </p:nvGrpSpPr>
        <p:grpSpPr>
          <a:xfrm>
            <a:off x="2838827" y="7283645"/>
            <a:ext cx="8553420" cy="417183"/>
            <a:chOff x="571500" y="5165783"/>
            <a:chExt cx="5702280" cy="278122"/>
          </a:xfrm>
        </p:grpSpPr>
        <p:sp>
          <p:nvSpPr>
            <p:cNvPr id="33" name="Google Shape;60;p3">
              <a:extLst>
                <a:ext uri="{FF2B5EF4-FFF2-40B4-BE49-F238E27FC236}">
                  <a16:creationId xmlns:a16="http://schemas.microsoft.com/office/drawing/2014/main" id="{5C09F73E-CCE3-EB94-1BF8-3F91767F5498}"/>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34" name="Google Shape;61;p3">
              <a:extLst>
                <a:ext uri="{FF2B5EF4-FFF2-40B4-BE49-F238E27FC236}">
                  <a16:creationId xmlns:a16="http://schemas.microsoft.com/office/drawing/2014/main" id="{62729B27-633B-0381-594B-D268770FDC45}"/>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35" name="Google Shape;59;p3">
            <a:extLst>
              <a:ext uri="{FF2B5EF4-FFF2-40B4-BE49-F238E27FC236}">
                <a16:creationId xmlns:a16="http://schemas.microsoft.com/office/drawing/2014/main" id="{5BA8E6CA-3E50-9C10-4FDF-72B2CFB555C3}"/>
              </a:ext>
            </a:extLst>
          </p:cNvPr>
          <p:cNvGrpSpPr/>
          <p:nvPr/>
        </p:nvGrpSpPr>
        <p:grpSpPr>
          <a:xfrm>
            <a:off x="2838827" y="7879169"/>
            <a:ext cx="8553420" cy="417185"/>
            <a:chOff x="571500" y="5165783"/>
            <a:chExt cx="5702280" cy="278123"/>
          </a:xfrm>
        </p:grpSpPr>
        <p:sp>
          <p:nvSpPr>
            <p:cNvPr id="36" name="Google Shape;60;p3">
              <a:extLst>
                <a:ext uri="{FF2B5EF4-FFF2-40B4-BE49-F238E27FC236}">
                  <a16:creationId xmlns:a16="http://schemas.microsoft.com/office/drawing/2014/main" id="{983DC240-2142-1D58-B1DF-73232CB9745F}"/>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latin typeface="Arial" panose="020B0604020202020204" pitchFamily="34" charset="0"/>
                <a:cs typeface="Arial" panose="020B0604020202020204" pitchFamily="34" charset="0"/>
              </a:endParaRPr>
            </a:p>
          </p:txBody>
        </p:sp>
        <p:sp>
          <p:nvSpPr>
            <p:cNvPr id="37" name="Google Shape;61;p3">
              <a:extLst>
                <a:ext uri="{FF2B5EF4-FFF2-40B4-BE49-F238E27FC236}">
                  <a16:creationId xmlns:a16="http://schemas.microsoft.com/office/drawing/2014/main" id="{3A4624BC-583E-7CE8-CECD-D0FFBABAA10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38" name="Google Shape;56;p3">
            <a:extLst>
              <a:ext uri="{FF2B5EF4-FFF2-40B4-BE49-F238E27FC236}">
                <a16:creationId xmlns:a16="http://schemas.microsoft.com/office/drawing/2014/main" id="{A7BE938D-83D0-31CC-F469-A384BD411D9E}"/>
              </a:ext>
            </a:extLst>
          </p:cNvPr>
          <p:cNvGrpSpPr/>
          <p:nvPr/>
        </p:nvGrpSpPr>
        <p:grpSpPr>
          <a:xfrm>
            <a:off x="2819400" y="6057900"/>
            <a:ext cx="8553420" cy="417186"/>
            <a:chOff x="571500" y="5165783"/>
            <a:chExt cx="5702280" cy="278124"/>
          </a:xfrm>
        </p:grpSpPr>
        <p:sp>
          <p:nvSpPr>
            <p:cNvPr id="39" name="Google Shape;57;p3">
              <a:extLst>
                <a:ext uri="{FF2B5EF4-FFF2-40B4-BE49-F238E27FC236}">
                  <a16:creationId xmlns:a16="http://schemas.microsoft.com/office/drawing/2014/main" id="{9B7D4C13-7475-82A3-078D-64A6845669B6}"/>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Key Tasks</a:t>
              </a:r>
            </a:p>
          </p:txBody>
        </p:sp>
        <p:sp>
          <p:nvSpPr>
            <p:cNvPr id="40" name="Google Shape;58;p3">
              <a:extLst>
                <a:ext uri="{FF2B5EF4-FFF2-40B4-BE49-F238E27FC236}">
                  <a16:creationId xmlns:a16="http://schemas.microsoft.com/office/drawing/2014/main" id="{5894D6D0-8127-F992-F67B-EE9DD5979182}"/>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par>
                                <p:cTn id="22" presetID="53" presetClass="entr" presetSubtype="16" fill="hold" nodeType="with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p:cTn id="24" dur="500" fill="hold"/>
                                        <p:tgtEl>
                                          <p:spTgt spid="38"/>
                                        </p:tgtEl>
                                        <p:attrNameLst>
                                          <p:attrName>ppt_w</p:attrName>
                                        </p:attrNameLst>
                                      </p:cBhvr>
                                      <p:tavLst>
                                        <p:tav tm="0">
                                          <p:val>
                                            <p:fltVal val="0"/>
                                          </p:val>
                                        </p:tav>
                                        <p:tav tm="100000">
                                          <p:val>
                                            <p:strVal val="#ppt_w"/>
                                          </p:val>
                                        </p:tav>
                                      </p:tavLst>
                                    </p:anim>
                                    <p:anim calcmode="lin" valueType="num">
                                      <p:cBhvr>
                                        <p:cTn id="25" dur="500" fill="hold"/>
                                        <p:tgtEl>
                                          <p:spTgt spid="38"/>
                                        </p:tgtEl>
                                        <p:attrNameLst>
                                          <p:attrName>ppt_h</p:attrName>
                                        </p:attrNameLst>
                                      </p:cBhvr>
                                      <p:tavLst>
                                        <p:tav tm="0">
                                          <p:val>
                                            <p:fltVal val="0"/>
                                          </p:val>
                                        </p:tav>
                                        <p:tav tm="100000">
                                          <p:val>
                                            <p:strVal val="#ppt_h"/>
                                          </p:val>
                                        </p:tav>
                                      </p:tavLst>
                                    </p:anim>
                                    <p:animEffect transition="in" filter="fade">
                                      <p:cBhvr>
                                        <p:cTn id="26" dur="500"/>
                                        <p:tgtEl>
                                          <p:spTgt spid="38"/>
                                        </p:tgtEl>
                                      </p:cBhvr>
                                    </p:animEffect>
                                  </p:childTnLst>
                                </p:cTn>
                              </p:par>
                              <p:par>
                                <p:cTn id="27" presetID="53" presetClass="entr" presetSubtype="16"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fltVal val="0"/>
                                          </p:val>
                                        </p:tav>
                                        <p:tav tm="100000">
                                          <p:val>
                                            <p:strVal val="#ppt_h"/>
                                          </p:val>
                                        </p:tav>
                                      </p:tavLst>
                                    </p:anim>
                                    <p:animEffect transition="in" filter="fade">
                                      <p:cBhvr>
                                        <p:cTn id="31" dur="500"/>
                                        <p:tgtEl>
                                          <p:spTgt spid="23"/>
                                        </p:tgtEl>
                                      </p:cBhvr>
                                    </p:animEffect>
                                  </p:childTnLst>
                                </p:cTn>
                              </p:par>
                              <p:par>
                                <p:cTn id="32" presetID="53" presetClass="entr" presetSubtype="16"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p:cTn id="34" dur="500" fill="hold"/>
                                        <p:tgtEl>
                                          <p:spTgt spid="29"/>
                                        </p:tgtEl>
                                        <p:attrNameLst>
                                          <p:attrName>ppt_w</p:attrName>
                                        </p:attrNameLst>
                                      </p:cBhvr>
                                      <p:tavLst>
                                        <p:tav tm="0">
                                          <p:val>
                                            <p:fltVal val="0"/>
                                          </p:val>
                                        </p:tav>
                                        <p:tav tm="100000">
                                          <p:val>
                                            <p:strVal val="#ppt_w"/>
                                          </p:val>
                                        </p:tav>
                                      </p:tavLst>
                                    </p:anim>
                                    <p:anim calcmode="lin" valueType="num">
                                      <p:cBhvr>
                                        <p:cTn id="35" dur="500" fill="hold"/>
                                        <p:tgtEl>
                                          <p:spTgt spid="29"/>
                                        </p:tgtEl>
                                        <p:attrNameLst>
                                          <p:attrName>ppt_h</p:attrName>
                                        </p:attrNameLst>
                                      </p:cBhvr>
                                      <p:tavLst>
                                        <p:tav tm="0">
                                          <p:val>
                                            <p:fltVal val="0"/>
                                          </p:val>
                                        </p:tav>
                                        <p:tav tm="100000">
                                          <p:val>
                                            <p:strVal val="#ppt_h"/>
                                          </p:val>
                                        </p:tav>
                                      </p:tavLst>
                                    </p:anim>
                                    <p:animEffect transition="in" filter="fade">
                                      <p:cBhvr>
                                        <p:cTn id="36" dur="500"/>
                                        <p:tgtEl>
                                          <p:spTgt spid="29"/>
                                        </p:tgtEl>
                                      </p:cBhvr>
                                    </p:animEffect>
                                  </p:childTnLst>
                                </p:cTn>
                              </p:par>
                              <p:par>
                                <p:cTn id="37" presetID="53" presetClass="entr" presetSubtype="16"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par>
                                <p:cTn id="42" presetID="53" presetClass="entr" presetSubtype="16"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p:cTn id="44" dur="500" fill="hold"/>
                                        <p:tgtEl>
                                          <p:spTgt spid="35"/>
                                        </p:tgtEl>
                                        <p:attrNameLst>
                                          <p:attrName>ppt_w</p:attrName>
                                        </p:attrNameLst>
                                      </p:cBhvr>
                                      <p:tavLst>
                                        <p:tav tm="0">
                                          <p:val>
                                            <p:fltVal val="0"/>
                                          </p:val>
                                        </p:tav>
                                        <p:tav tm="100000">
                                          <p:val>
                                            <p:strVal val="#ppt_w"/>
                                          </p:val>
                                        </p:tav>
                                      </p:tavLst>
                                    </p:anim>
                                    <p:anim calcmode="lin" valueType="num">
                                      <p:cBhvr>
                                        <p:cTn id="45" dur="500" fill="hold"/>
                                        <p:tgtEl>
                                          <p:spTgt spid="35"/>
                                        </p:tgtEl>
                                        <p:attrNameLst>
                                          <p:attrName>ppt_h</p:attrName>
                                        </p:attrNameLst>
                                      </p:cBhvr>
                                      <p:tavLst>
                                        <p:tav tm="0">
                                          <p:val>
                                            <p:fltVal val="0"/>
                                          </p:val>
                                        </p:tav>
                                        <p:tav tm="100000">
                                          <p:val>
                                            <p:strVal val="#ppt_h"/>
                                          </p:val>
                                        </p:tav>
                                      </p:tavLst>
                                    </p:anim>
                                    <p:animEffect transition="in" filter="fade">
                                      <p:cBhvr>
                                        <p:cTn id="4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C32AFD9E-D996-2ED7-6B2F-DDA0E5892C24}"/>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D3CE4F87-A67F-9911-4AB8-6400AE80BDED}"/>
              </a:ext>
            </a:extLst>
          </p:cNvPr>
          <p:cNvSpPr/>
          <p:nvPr/>
        </p:nvSpPr>
        <p:spPr>
          <a:xfrm>
            <a:off x="3057398" y="2051114"/>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Team</a:t>
            </a:r>
            <a:endParaRPr lang="en-US" sz="2700" dirty="0">
              <a:latin typeface="Arial" panose="020B0604020202020204" pitchFamily="34" charset="0"/>
              <a:cs typeface="Arial" panose="020B0604020202020204" pitchFamily="34" charset="0"/>
            </a:endParaRPr>
          </a:p>
        </p:txBody>
      </p:sp>
      <p:cxnSp>
        <p:nvCxnSpPr>
          <p:cNvPr id="41" name="Google Shape;41;p2">
            <a:extLst>
              <a:ext uri="{FF2B5EF4-FFF2-40B4-BE49-F238E27FC236}">
                <a16:creationId xmlns:a16="http://schemas.microsoft.com/office/drawing/2014/main" id="{12400C42-64AA-9CFD-69B7-D4895879472F}"/>
              </a:ext>
            </a:extLst>
          </p:cNvPr>
          <p:cNvCxnSpPr/>
          <p:nvPr/>
        </p:nvCxnSpPr>
        <p:spPr>
          <a:xfrm flipH="1">
            <a:off x="2685719" y="2806617"/>
            <a:ext cx="15750" cy="4316850"/>
          </a:xfrm>
          <a:prstGeom prst="straightConnector1">
            <a:avLst/>
          </a:prstGeom>
          <a:noFill/>
          <a:ln w="38100" cap="flat" cmpd="sng">
            <a:solidFill>
              <a:schemeClr val="lt1"/>
            </a:solidFill>
            <a:prstDash val="solid"/>
            <a:miter lim="800000"/>
            <a:headEnd type="none" w="sm" len="sm"/>
            <a:tailEnd type="none" w="sm" len="sm"/>
          </a:ln>
        </p:spPr>
      </p:cxnSp>
      <p:sp>
        <p:nvSpPr>
          <p:cNvPr id="2" name="TextBox 1">
            <a:extLst>
              <a:ext uri="{FF2B5EF4-FFF2-40B4-BE49-F238E27FC236}">
                <a16:creationId xmlns:a16="http://schemas.microsoft.com/office/drawing/2014/main" id="{15449429-F0E2-1224-F7DD-4F926DA697BF}"/>
              </a:ext>
            </a:extLst>
          </p:cNvPr>
          <p:cNvSpPr txBox="1"/>
          <p:nvPr/>
        </p:nvSpPr>
        <p:spPr>
          <a:xfrm>
            <a:off x="3057398" y="3989338"/>
            <a:ext cx="14163802" cy="2308324"/>
          </a:xfrm>
          <a:prstGeom prst="rect">
            <a:avLst/>
          </a:prstGeom>
          <a:noFill/>
        </p:spPr>
        <p:txBody>
          <a:bodyPr wrap="square" rtlCol="0">
            <a:spAutoFit/>
          </a:bodyPr>
          <a:lstStyle/>
          <a:p>
            <a:pPr marL="285750" indent="-285750">
              <a:buFont typeface="Arial" panose="020B0604020202020204" pitchFamily="34" charset="0"/>
              <a:buChar char="•"/>
            </a:pPr>
            <a:r>
              <a:rPr lang="en-US" sz="3600" dirty="0" err="1">
                <a:solidFill>
                  <a:schemeClr val="bg1"/>
                </a:solidFill>
                <a:latin typeface="Arial" panose="020B0604020202020204" pitchFamily="34" charset="0"/>
                <a:cs typeface="Arial" panose="020B0604020202020204" pitchFamily="34" charset="0"/>
              </a:rPr>
              <a:t>Shahesta</a:t>
            </a:r>
            <a:r>
              <a:rPr lang="en-US" sz="3600" dirty="0">
                <a:solidFill>
                  <a:schemeClr val="bg1"/>
                </a:solidFill>
                <a:latin typeface="Arial" panose="020B0604020202020204" pitchFamily="34" charset="0"/>
                <a:cs typeface="Arial" panose="020B0604020202020204" pitchFamily="34" charset="0"/>
              </a:rPr>
              <a:t> Mohamed Salama</a:t>
            </a:r>
          </a:p>
          <a:p>
            <a:pPr marL="285750" indent="-285750">
              <a:buFont typeface="Arial" panose="020B0604020202020204" pitchFamily="34" charset="0"/>
              <a:buChar char="•"/>
            </a:pPr>
            <a:r>
              <a:rPr lang="en-US" sz="3600" dirty="0">
                <a:solidFill>
                  <a:schemeClr val="bg1"/>
                </a:solidFill>
                <a:latin typeface="Arial" panose="020B0604020202020204" pitchFamily="34" charset="0"/>
                <a:cs typeface="Arial" panose="020B0604020202020204" pitchFamily="34" charset="0"/>
              </a:rPr>
              <a:t>Yusuf Ahmed Shoman</a:t>
            </a:r>
          </a:p>
          <a:p>
            <a:pPr marL="285750" indent="-285750">
              <a:buFont typeface="Arial" panose="020B0604020202020204" pitchFamily="34" charset="0"/>
              <a:buChar char="•"/>
            </a:pPr>
            <a:r>
              <a:rPr lang="en-US" sz="3600" dirty="0">
                <a:solidFill>
                  <a:schemeClr val="bg1"/>
                </a:solidFill>
                <a:latin typeface="Arial" panose="020B0604020202020204" pitchFamily="34" charset="0"/>
                <a:cs typeface="Arial" panose="020B0604020202020204" pitchFamily="34" charset="0"/>
              </a:rPr>
              <a:t>Amr Yousri Badr</a:t>
            </a:r>
            <a:endParaRPr lang="ar-EG" sz="36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600" dirty="0">
                <a:solidFill>
                  <a:schemeClr val="bg1"/>
                </a:solidFill>
                <a:latin typeface="Arial" panose="020B0604020202020204" pitchFamily="34" charset="0"/>
                <a:cs typeface="Arial" panose="020B0604020202020204" pitchFamily="34" charset="0"/>
              </a:rPr>
              <a:t>Ibrahim Reda Mohamed</a:t>
            </a:r>
          </a:p>
        </p:txBody>
      </p:sp>
    </p:spTree>
    <p:extLst>
      <p:ext uri="{BB962C8B-B14F-4D97-AF65-F5344CB8AC3E}">
        <p14:creationId xmlns:p14="http://schemas.microsoft.com/office/powerpoint/2010/main" val="373447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latin typeface="Arial" panose="020B0604020202020204" pitchFamily="34" charset="0"/>
                <a:cs typeface="Arial" panose="020B0604020202020204" pitchFamily="34" charset="0"/>
              </a:rPr>
              <a:t>Agenda</a:t>
            </a:r>
            <a:endParaRPr sz="5000" b="1" dirty="0">
              <a:solidFill>
                <a:schemeClr val="lt1"/>
              </a:solidFill>
              <a:latin typeface="Arial" panose="020B0604020202020204" pitchFamily="34" charset="0"/>
              <a:cs typeface="Arial" panose="020B0604020202020204" pitchFamily="34" charset="0"/>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Team</a:t>
              </a:r>
              <a:endParaRPr sz="27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chemeClr val="tx2"/>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Problem Statement</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3" name="Google Shape;59;p3">
            <a:extLst>
              <a:ext uri="{FF2B5EF4-FFF2-40B4-BE49-F238E27FC236}">
                <a16:creationId xmlns:a16="http://schemas.microsoft.com/office/drawing/2014/main" id="{54018E2D-36AB-1EDF-D600-D15897955066}"/>
              </a:ext>
            </a:extLst>
          </p:cNvPr>
          <p:cNvGrpSpPr/>
          <p:nvPr/>
        </p:nvGrpSpPr>
        <p:grpSpPr>
          <a:xfrm>
            <a:off x="2819400" y="5448300"/>
            <a:ext cx="8553420" cy="417167"/>
            <a:chOff x="571500" y="5165783"/>
            <a:chExt cx="5702280" cy="278111"/>
          </a:xfrm>
        </p:grpSpPr>
        <p:sp>
          <p:nvSpPr>
            <p:cNvPr id="24" name="Google Shape;60;p3">
              <a:extLst>
                <a:ext uri="{FF2B5EF4-FFF2-40B4-BE49-F238E27FC236}">
                  <a16:creationId xmlns:a16="http://schemas.microsoft.com/office/drawing/2014/main" id="{C284BEBB-714C-92CC-389B-E04930B213DE}"/>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25" name="Google Shape;61;p3">
              <a:extLst>
                <a:ext uri="{FF2B5EF4-FFF2-40B4-BE49-F238E27FC236}">
                  <a16:creationId xmlns:a16="http://schemas.microsoft.com/office/drawing/2014/main" id="{394F93CE-FA03-9F84-6741-14F9A46C6D20}"/>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9" name="Google Shape;59;p3">
            <a:extLst>
              <a:ext uri="{FF2B5EF4-FFF2-40B4-BE49-F238E27FC236}">
                <a16:creationId xmlns:a16="http://schemas.microsoft.com/office/drawing/2014/main" id="{1BA0F404-A618-BA1C-0C1D-8354EB22E6B7}"/>
              </a:ext>
            </a:extLst>
          </p:cNvPr>
          <p:cNvGrpSpPr/>
          <p:nvPr/>
        </p:nvGrpSpPr>
        <p:grpSpPr>
          <a:xfrm>
            <a:off x="2838827" y="6691517"/>
            <a:ext cx="8553420" cy="417186"/>
            <a:chOff x="571500" y="5165783"/>
            <a:chExt cx="5702280" cy="278124"/>
          </a:xfrm>
        </p:grpSpPr>
        <p:sp>
          <p:nvSpPr>
            <p:cNvPr id="30" name="Google Shape;60;p3">
              <a:extLst>
                <a:ext uri="{FF2B5EF4-FFF2-40B4-BE49-F238E27FC236}">
                  <a16:creationId xmlns:a16="http://schemas.microsoft.com/office/drawing/2014/main" id="{1FA5297E-EA5D-D0DB-126D-6DF8EC831E4D}"/>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Results and Insights</a:t>
              </a:r>
            </a:p>
          </p:txBody>
        </p:sp>
        <p:sp>
          <p:nvSpPr>
            <p:cNvPr id="31" name="Google Shape;61;p3">
              <a:extLst>
                <a:ext uri="{FF2B5EF4-FFF2-40B4-BE49-F238E27FC236}">
                  <a16:creationId xmlns:a16="http://schemas.microsoft.com/office/drawing/2014/main" id="{4A19E93E-6108-ED16-243D-B4A0E6FBA9EE}"/>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32" name="Google Shape;59;p3">
            <a:extLst>
              <a:ext uri="{FF2B5EF4-FFF2-40B4-BE49-F238E27FC236}">
                <a16:creationId xmlns:a16="http://schemas.microsoft.com/office/drawing/2014/main" id="{F8F1CAE1-CD2D-79C6-CB36-AD0CD87D5F1D}"/>
              </a:ext>
            </a:extLst>
          </p:cNvPr>
          <p:cNvGrpSpPr/>
          <p:nvPr/>
        </p:nvGrpSpPr>
        <p:grpSpPr>
          <a:xfrm>
            <a:off x="2838827" y="7283645"/>
            <a:ext cx="8553420" cy="417183"/>
            <a:chOff x="571500" y="5165783"/>
            <a:chExt cx="5702280" cy="278122"/>
          </a:xfrm>
        </p:grpSpPr>
        <p:sp>
          <p:nvSpPr>
            <p:cNvPr id="33" name="Google Shape;60;p3">
              <a:extLst>
                <a:ext uri="{FF2B5EF4-FFF2-40B4-BE49-F238E27FC236}">
                  <a16:creationId xmlns:a16="http://schemas.microsoft.com/office/drawing/2014/main" id="{29A19AD9-EBB1-813C-D241-45CED0068827}"/>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34" name="Google Shape;61;p3">
              <a:extLst>
                <a:ext uri="{FF2B5EF4-FFF2-40B4-BE49-F238E27FC236}">
                  <a16:creationId xmlns:a16="http://schemas.microsoft.com/office/drawing/2014/main" id="{857413E5-FA07-4665-D62C-D834A4A0AB29}"/>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35" name="Google Shape;59;p3">
            <a:extLst>
              <a:ext uri="{FF2B5EF4-FFF2-40B4-BE49-F238E27FC236}">
                <a16:creationId xmlns:a16="http://schemas.microsoft.com/office/drawing/2014/main" id="{30107B25-C25E-5ABC-C684-9F31E39AEF21}"/>
              </a:ext>
            </a:extLst>
          </p:cNvPr>
          <p:cNvGrpSpPr/>
          <p:nvPr/>
        </p:nvGrpSpPr>
        <p:grpSpPr>
          <a:xfrm>
            <a:off x="2838827" y="7879169"/>
            <a:ext cx="8553420" cy="417185"/>
            <a:chOff x="571500" y="5165783"/>
            <a:chExt cx="5702280" cy="278123"/>
          </a:xfrm>
        </p:grpSpPr>
        <p:sp>
          <p:nvSpPr>
            <p:cNvPr id="36" name="Google Shape;60;p3">
              <a:extLst>
                <a:ext uri="{FF2B5EF4-FFF2-40B4-BE49-F238E27FC236}">
                  <a16:creationId xmlns:a16="http://schemas.microsoft.com/office/drawing/2014/main" id="{EB90A88A-2C73-1444-72B8-52AE73DCEBA7}"/>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37" name="Google Shape;61;p3">
              <a:extLst>
                <a:ext uri="{FF2B5EF4-FFF2-40B4-BE49-F238E27FC236}">
                  <a16:creationId xmlns:a16="http://schemas.microsoft.com/office/drawing/2014/main" id="{9760B485-182A-D2A8-45B2-9C1A827E5D71}"/>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38" name="Google Shape;56;p3">
            <a:extLst>
              <a:ext uri="{FF2B5EF4-FFF2-40B4-BE49-F238E27FC236}">
                <a16:creationId xmlns:a16="http://schemas.microsoft.com/office/drawing/2014/main" id="{AEF15EDE-AECC-181D-01BA-8D9340B862DA}"/>
              </a:ext>
            </a:extLst>
          </p:cNvPr>
          <p:cNvGrpSpPr/>
          <p:nvPr/>
        </p:nvGrpSpPr>
        <p:grpSpPr>
          <a:xfrm>
            <a:off x="2819400" y="6134100"/>
            <a:ext cx="8553420" cy="417186"/>
            <a:chOff x="571500" y="5165783"/>
            <a:chExt cx="5702280" cy="278124"/>
          </a:xfrm>
        </p:grpSpPr>
        <p:sp>
          <p:nvSpPr>
            <p:cNvPr id="39" name="Google Shape;57;p3">
              <a:extLst>
                <a:ext uri="{FF2B5EF4-FFF2-40B4-BE49-F238E27FC236}">
                  <a16:creationId xmlns:a16="http://schemas.microsoft.com/office/drawing/2014/main" id="{5576E15D-48D3-A62E-5283-2B52E5068A79}"/>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Key Tasks</a:t>
              </a:r>
            </a:p>
          </p:txBody>
        </p:sp>
        <p:sp>
          <p:nvSpPr>
            <p:cNvPr id="40" name="Google Shape;58;p3">
              <a:extLst>
                <a:ext uri="{FF2B5EF4-FFF2-40B4-BE49-F238E27FC236}">
                  <a16:creationId xmlns:a16="http://schemas.microsoft.com/office/drawing/2014/main" id="{4689994B-7F51-9019-DF8D-4081452D209A}"/>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Tree>
    <p:extLst>
      <p:ext uri="{BB962C8B-B14F-4D97-AF65-F5344CB8AC3E}">
        <p14:creationId xmlns:p14="http://schemas.microsoft.com/office/powerpoint/2010/main" val="229908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par>
                                <p:cTn id="22" presetID="53" presetClass="entr" presetSubtype="16" fill="hold" nodeType="with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p:cTn id="24" dur="500" fill="hold"/>
                                        <p:tgtEl>
                                          <p:spTgt spid="38"/>
                                        </p:tgtEl>
                                        <p:attrNameLst>
                                          <p:attrName>ppt_w</p:attrName>
                                        </p:attrNameLst>
                                      </p:cBhvr>
                                      <p:tavLst>
                                        <p:tav tm="0">
                                          <p:val>
                                            <p:fltVal val="0"/>
                                          </p:val>
                                        </p:tav>
                                        <p:tav tm="100000">
                                          <p:val>
                                            <p:strVal val="#ppt_w"/>
                                          </p:val>
                                        </p:tav>
                                      </p:tavLst>
                                    </p:anim>
                                    <p:anim calcmode="lin" valueType="num">
                                      <p:cBhvr>
                                        <p:cTn id="25" dur="500" fill="hold"/>
                                        <p:tgtEl>
                                          <p:spTgt spid="38"/>
                                        </p:tgtEl>
                                        <p:attrNameLst>
                                          <p:attrName>ppt_h</p:attrName>
                                        </p:attrNameLst>
                                      </p:cBhvr>
                                      <p:tavLst>
                                        <p:tav tm="0">
                                          <p:val>
                                            <p:fltVal val="0"/>
                                          </p:val>
                                        </p:tav>
                                        <p:tav tm="100000">
                                          <p:val>
                                            <p:strVal val="#ppt_h"/>
                                          </p:val>
                                        </p:tav>
                                      </p:tavLst>
                                    </p:anim>
                                    <p:animEffect transition="in" filter="fade">
                                      <p:cBhvr>
                                        <p:cTn id="26" dur="500"/>
                                        <p:tgtEl>
                                          <p:spTgt spid="38"/>
                                        </p:tgtEl>
                                      </p:cBhvr>
                                    </p:animEffect>
                                  </p:childTnLst>
                                </p:cTn>
                              </p:par>
                              <p:par>
                                <p:cTn id="27" presetID="53" presetClass="entr" presetSubtype="16"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fltVal val="0"/>
                                          </p:val>
                                        </p:tav>
                                        <p:tav tm="100000">
                                          <p:val>
                                            <p:strVal val="#ppt_h"/>
                                          </p:val>
                                        </p:tav>
                                      </p:tavLst>
                                    </p:anim>
                                    <p:animEffect transition="in" filter="fade">
                                      <p:cBhvr>
                                        <p:cTn id="31" dur="500"/>
                                        <p:tgtEl>
                                          <p:spTgt spid="23"/>
                                        </p:tgtEl>
                                      </p:cBhvr>
                                    </p:animEffect>
                                  </p:childTnLst>
                                </p:cTn>
                              </p:par>
                              <p:par>
                                <p:cTn id="32" presetID="53" presetClass="entr" presetSubtype="16"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p:cTn id="34" dur="500" fill="hold"/>
                                        <p:tgtEl>
                                          <p:spTgt spid="29"/>
                                        </p:tgtEl>
                                        <p:attrNameLst>
                                          <p:attrName>ppt_w</p:attrName>
                                        </p:attrNameLst>
                                      </p:cBhvr>
                                      <p:tavLst>
                                        <p:tav tm="0">
                                          <p:val>
                                            <p:fltVal val="0"/>
                                          </p:val>
                                        </p:tav>
                                        <p:tav tm="100000">
                                          <p:val>
                                            <p:strVal val="#ppt_w"/>
                                          </p:val>
                                        </p:tav>
                                      </p:tavLst>
                                    </p:anim>
                                    <p:anim calcmode="lin" valueType="num">
                                      <p:cBhvr>
                                        <p:cTn id="35" dur="500" fill="hold"/>
                                        <p:tgtEl>
                                          <p:spTgt spid="29"/>
                                        </p:tgtEl>
                                        <p:attrNameLst>
                                          <p:attrName>ppt_h</p:attrName>
                                        </p:attrNameLst>
                                      </p:cBhvr>
                                      <p:tavLst>
                                        <p:tav tm="0">
                                          <p:val>
                                            <p:fltVal val="0"/>
                                          </p:val>
                                        </p:tav>
                                        <p:tav tm="100000">
                                          <p:val>
                                            <p:strVal val="#ppt_h"/>
                                          </p:val>
                                        </p:tav>
                                      </p:tavLst>
                                    </p:anim>
                                    <p:animEffect transition="in" filter="fade">
                                      <p:cBhvr>
                                        <p:cTn id="36" dur="500"/>
                                        <p:tgtEl>
                                          <p:spTgt spid="29"/>
                                        </p:tgtEl>
                                      </p:cBhvr>
                                    </p:animEffect>
                                  </p:childTnLst>
                                </p:cTn>
                              </p:par>
                              <p:par>
                                <p:cTn id="37" presetID="53" presetClass="entr" presetSubtype="16"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par>
                                <p:cTn id="42" presetID="53" presetClass="entr" presetSubtype="16"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p:cTn id="44" dur="500" fill="hold"/>
                                        <p:tgtEl>
                                          <p:spTgt spid="35"/>
                                        </p:tgtEl>
                                        <p:attrNameLst>
                                          <p:attrName>ppt_w</p:attrName>
                                        </p:attrNameLst>
                                      </p:cBhvr>
                                      <p:tavLst>
                                        <p:tav tm="0">
                                          <p:val>
                                            <p:fltVal val="0"/>
                                          </p:val>
                                        </p:tav>
                                        <p:tav tm="100000">
                                          <p:val>
                                            <p:strVal val="#ppt_w"/>
                                          </p:val>
                                        </p:tav>
                                      </p:tavLst>
                                    </p:anim>
                                    <p:anim calcmode="lin" valueType="num">
                                      <p:cBhvr>
                                        <p:cTn id="45" dur="500" fill="hold"/>
                                        <p:tgtEl>
                                          <p:spTgt spid="35"/>
                                        </p:tgtEl>
                                        <p:attrNameLst>
                                          <p:attrName>ppt_h</p:attrName>
                                        </p:attrNameLst>
                                      </p:cBhvr>
                                      <p:tavLst>
                                        <p:tav tm="0">
                                          <p:val>
                                            <p:fltVal val="0"/>
                                          </p:val>
                                        </p:tav>
                                        <p:tav tm="100000">
                                          <p:val>
                                            <p:strVal val="#ppt_h"/>
                                          </p:val>
                                        </p:tav>
                                      </p:tavLst>
                                    </p:anim>
                                    <p:animEffect transition="in" filter="fade">
                                      <p:cBhvr>
                                        <p:cTn id="4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2"/>
          <p:cNvSpPr/>
          <p:nvPr/>
        </p:nvSpPr>
        <p:spPr>
          <a:xfrm>
            <a:off x="2377949" y="1670114"/>
            <a:ext cx="10830067"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Introduction</a:t>
            </a:r>
            <a:endParaRPr lang="en-US" sz="2700" dirty="0">
              <a:latin typeface="Arial" panose="020B0604020202020204" pitchFamily="34" charset="0"/>
              <a:cs typeface="Arial" panose="020B0604020202020204" pitchFamily="34" charset="0"/>
            </a:endParaRPr>
          </a:p>
        </p:txBody>
      </p:sp>
      <p:cxnSp>
        <p:nvCxnSpPr>
          <p:cNvPr id="41" name="Google Shape;41;p2"/>
          <p:cNvCxnSpPr>
            <a:cxnSpLocks/>
          </p:cNvCxnSpPr>
          <p:nvPr/>
        </p:nvCxnSpPr>
        <p:spPr>
          <a:xfrm flipH="1">
            <a:off x="685800" y="3058101"/>
            <a:ext cx="15750" cy="4316850"/>
          </a:xfrm>
          <a:prstGeom prst="straightConnector1">
            <a:avLst/>
          </a:prstGeom>
          <a:noFill/>
          <a:ln w="38100" cap="flat" cmpd="sng">
            <a:solidFill>
              <a:schemeClr val="lt1"/>
            </a:solidFill>
            <a:prstDash val="solid"/>
            <a:miter lim="800000"/>
            <a:headEnd type="none" w="sm" len="sm"/>
            <a:tailEnd type="none" w="sm" len="sm"/>
          </a:ln>
        </p:spPr>
      </p:cxnSp>
      <p:sp>
        <p:nvSpPr>
          <p:cNvPr id="2" name="TextBox 1">
            <a:extLst>
              <a:ext uri="{FF2B5EF4-FFF2-40B4-BE49-F238E27FC236}">
                <a16:creationId xmlns:a16="http://schemas.microsoft.com/office/drawing/2014/main" id="{B604CBCB-43D2-5727-B3FD-4518760FA34E}"/>
              </a:ext>
            </a:extLst>
          </p:cNvPr>
          <p:cNvSpPr txBox="1"/>
          <p:nvPr/>
        </p:nvSpPr>
        <p:spPr>
          <a:xfrm>
            <a:off x="1006350" y="3058101"/>
            <a:ext cx="8137650" cy="5570756"/>
          </a:xfrm>
          <a:prstGeom prst="rect">
            <a:avLst/>
          </a:prstGeom>
          <a:noFill/>
        </p:spPr>
        <p:txBody>
          <a:bodyPr wrap="square" rtlCol="0">
            <a:spAutoFit/>
          </a:bodyPr>
          <a:lstStyle/>
          <a:p>
            <a:pPr marL="285750" indent="-285750">
              <a:buFont typeface="Arial" panose="020B0604020202020204" pitchFamily="34" charset="0"/>
              <a:buChar char="•"/>
            </a:pPr>
            <a:r>
              <a:rPr lang="en-US" sz="3200" b="1" dirty="0">
                <a:solidFill>
                  <a:srgbClr val="F8FAFC"/>
                </a:solidFill>
                <a:latin typeface="Arial" panose="020B0604020202020204" pitchFamily="34" charset="0"/>
                <a:cs typeface="Arial" panose="020B0604020202020204" pitchFamily="34" charset="0"/>
              </a:rPr>
              <a:t>The Dataset</a:t>
            </a:r>
            <a:r>
              <a:rPr lang="en-US" sz="3200" dirty="0">
                <a:solidFill>
                  <a:srgbClr val="CBD5E1"/>
                </a:solidFill>
                <a:latin typeface="Arial" panose="020B0604020202020204" pitchFamily="34" charset="0"/>
                <a:cs typeface="Arial" panose="020B0604020202020204" pitchFamily="34" charset="0"/>
              </a:rPr>
              <a:t> </a:t>
            </a:r>
            <a:r>
              <a:rPr lang="en-US" sz="2800" dirty="0">
                <a:solidFill>
                  <a:srgbClr val="CBD5E1"/>
                </a:solidFill>
                <a:latin typeface="Arial" panose="020B0604020202020204" pitchFamily="34" charset="0"/>
                <a:cs typeface="Arial" panose="020B0604020202020204" pitchFamily="34" charset="0"/>
              </a:rPr>
              <a:t>Utilizing the 2014 Uber NYC Pickups dataset (Jan - Dec 2014), combining historical batch records and continuous live streams.</a:t>
            </a:r>
          </a:p>
          <a:p>
            <a:endParaRPr lang="en-US" sz="3200" dirty="0">
              <a:solidFill>
                <a:srgbClr val="CBD5E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200" b="1" dirty="0">
                <a:solidFill>
                  <a:srgbClr val="F8FAFC"/>
                </a:solidFill>
                <a:latin typeface="Arial" panose="020B0604020202020204" pitchFamily="34" charset="0"/>
                <a:cs typeface="Arial" panose="020B0604020202020204" pitchFamily="34" charset="0"/>
              </a:rPr>
              <a:t>Medallion Architecture</a:t>
            </a:r>
            <a:r>
              <a:rPr lang="en-US" sz="3200" dirty="0">
                <a:solidFill>
                  <a:srgbClr val="CBD5E1"/>
                </a:solidFill>
                <a:latin typeface="Arial" panose="020B0604020202020204" pitchFamily="34" charset="0"/>
                <a:cs typeface="Arial" panose="020B0604020202020204" pitchFamily="34" charset="0"/>
              </a:rPr>
              <a:t> </a:t>
            </a:r>
            <a:r>
              <a:rPr lang="en-US" sz="2800" dirty="0">
                <a:solidFill>
                  <a:srgbClr val="CBD5E1"/>
                </a:solidFill>
                <a:latin typeface="Arial" panose="020B0604020202020204" pitchFamily="34" charset="0"/>
                <a:cs typeface="Arial" panose="020B0604020202020204" pitchFamily="34" charset="0"/>
              </a:rPr>
              <a:t>Implementing a structured Bronze -&gt; Silver -&gt; Gold -&gt; Serving flow, covering ingestion, geospatial processing, transformation, and serving layers.</a:t>
            </a:r>
          </a:p>
          <a:p>
            <a:endParaRPr lang="en-US" sz="3200" dirty="0">
              <a:solidFill>
                <a:srgbClr val="CBD5E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200" b="1" dirty="0">
                <a:solidFill>
                  <a:srgbClr val="F8FAFC"/>
                </a:solidFill>
                <a:latin typeface="Arial" panose="020B0604020202020204" pitchFamily="34" charset="0"/>
                <a:cs typeface="Arial" panose="020B0604020202020204" pitchFamily="34" charset="0"/>
              </a:rPr>
              <a:t>Dual Ingestion Paths</a:t>
            </a:r>
            <a:r>
              <a:rPr lang="en-US" sz="2800" dirty="0">
                <a:solidFill>
                  <a:srgbClr val="CBD5E1"/>
                </a:solidFill>
                <a:latin typeface="Arial" panose="020B0604020202020204" pitchFamily="34" charset="0"/>
                <a:cs typeface="Arial" panose="020B0604020202020204" pitchFamily="34" charset="0"/>
              </a:rPr>
              <a:t> Historical monthly files (Jan-Nov) flow through Batch ETL, while the final month (Dec 2014) simulates a Live Stream.</a:t>
            </a:r>
          </a:p>
        </p:txBody>
      </p:sp>
      <p:pic>
        <p:nvPicPr>
          <p:cNvPr id="42" name="Picture 41" descr="medallion_architecture.png"/>
          <p:cNvPicPr>
            <a:picLocks noChangeAspect="1"/>
          </p:cNvPicPr>
          <p:nvPr/>
        </p:nvPicPr>
        <p:blipFill>
          <a:blip r:embed="rId3"/>
          <a:stretch>
            <a:fillRect/>
          </a:stretch>
        </p:blipFill>
        <p:spPr>
          <a:xfrm>
            <a:off x="9546336" y="2688336"/>
            <a:ext cx="8741664" cy="49194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latin typeface="Arial" panose="020B0604020202020204" pitchFamily="34" charset="0"/>
                <a:cs typeface="Arial" panose="020B0604020202020204" pitchFamily="34" charset="0"/>
              </a:rPr>
              <a:t>Agenda</a:t>
            </a:r>
            <a:endParaRPr sz="5000" b="1" dirty="0">
              <a:solidFill>
                <a:schemeClr val="lt1"/>
              </a:solidFill>
              <a:latin typeface="Arial" panose="020B0604020202020204" pitchFamily="34" charset="0"/>
              <a:cs typeface="Arial" panose="020B0604020202020204" pitchFamily="34" charset="0"/>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Problem Statement</a:t>
              </a:r>
              <a:endParaRPr lang="en-US" sz="3600" b="1" dirty="0">
                <a:latin typeface="Arial" panose="020B0604020202020204" pitchFamily="34" charset="0"/>
                <a:cs typeface="Arial" panose="020B0604020202020204" pitchFamily="34" charset="0"/>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41" name="Google Shape;59;p3">
            <a:extLst>
              <a:ext uri="{FF2B5EF4-FFF2-40B4-BE49-F238E27FC236}">
                <a16:creationId xmlns:a16="http://schemas.microsoft.com/office/drawing/2014/main" id="{85E349D9-A193-F0B4-178E-3B608030D164}"/>
              </a:ext>
            </a:extLst>
          </p:cNvPr>
          <p:cNvGrpSpPr/>
          <p:nvPr/>
        </p:nvGrpSpPr>
        <p:grpSpPr>
          <a:xfrm>
            <a:off x="2838827" y="6060863"/>
            <a:ext cx="8553420" cy="417167"/>
            <a:chOff x="571500" y="5165783"/>
            <a:chExt cx="5702280" cy="278111"/>
          </a:xfrm>
        </p:grpSpPr>
        <p:sp>
          <p:nvSpPr>
            <p:cNvPr id="42" name="Google Shape;60;p3">
              <a:extLst>
                <a:ext uri="{FF2B5EF4-FFF2-40B4-BE49-F238E27FC236}">
                  <a16:creationId xmlns:a16="http://schemas.microsoft.com/office/drawing/2014/main" id="{EFFC4856-B028-838B-CC8D-3EF685ED7D61}"/>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43" name="Google Shape;61;p3">
              <a:extLst>
                <a:ext uri="{FF2B5EF4-FFF2-40B4-BE49-F238E27FC236}">
                  <a16:creationId xmlns:a16="http://schemas.microsoft.com/office/drawing/2014/main" id="{89CD6F7D-5AF4-EFA3-BD31-0DD92052428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44" name="Google Shape;59;p3">
            <a:extLst>
              <a:ext uri="{FF2B5EF4-FFF2-40B4-BE49-F238E27FC236}">
                <a16:creationId xmlns:a16="http://schemas.microsoft.com/office/drawing/2014/main" id="{EA2AD48F-33F1-D423-8B43-A2B9E6186B50}"/>
              </a:ext>
            </a:extLst>
          </p:cNvPr>
          <p:cNvGrpSpPr/>
          <p:nvPr/>
        </p:nvGrpSpPr>
        <p:grpSpPr>
          <a:xfrm>
            <a:off x="2838827" y="6691517"/>
            <a:ext cx="8553420" cy="417186"/>
            <a:chOff x="571500" y="5165783"/>
            <a:chExt cx="5702280" cy="278124"/>
          </a:xfrm>
        </p:grpSpPr>
        <p:sp>
          <p:nvSpPr>
            <p:cNvPr id="45" name="Google Shape;60;p3">
              <a:extLst>
                <a:ext uri="{FF2B5EF4-FFF2-40B4-BE49-F238E27FC236}">
                  <a16:creationId xmlns:a16="http://schemas.microsoft.com/office/drawing/2014/main" id="{02D5BB92-6829-58A4-14C4-CC2E1C38E7BA}"/>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Results and Insights</a:t>
              </a:r>
            </a:p>
          </p:txBody>
        </p:sp>
        <p:sp>
          <p:nvSpPr>
            <p:cNvPr id="46" name="Google Shape;61;p3">
              <a:extLst>
                <a:ext uri="{FF2B5EF4-FFF2-40B4-BE49-F238E27FC236}">
                  <a16:creationId xmlns:a16="http://schemas.microsoft.com/office/drawing/2014/main" id="{4DBAE548-F2FA-0118-D8D8-7A4374A59639}"/>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47" name="Google Shape;59;p3">
            <a:extLst>
              <a:ext uri="{FF2B5EF4-FFF2-40B4-BE49-F238E27FC236}">
                <a16:creationId xmlns:a16="http://schemas.microsoft.com/office/drawing/2014/main" id="{27BE83FF-282E-B11E-237A-CEC6525324D2}"/>
              </a:ext>
            </a:extLst>
          </p:cNvPr>
          <p:cNvGrpSpPr/>
          <p:nvPr/>
        </p:nvGrpSpPr>
        <p:grpSpPr>
          <a:xfrm>
            <a:off x="2838827" y="7283645"/>
            <a:ext cx="8553420" cy="417183"/>
            <a:chOff x="571500" y="5165783"/>
            <a:chExt cx="5702280" cy="278122"/>
          </a:xfrm>
        </p:grpSpPr>
        <p:sp>
          <p:nvSpPr>
            <p:cNvPr id="49" name="Google Shape;60;p3">
              <a:extLst>
                <a:ext uri="{FF2B5EF4-FFF2-40B4-BE49-F238E27FC236}">
                  <a16:creationId xmlns:a16="http://schemas.microsoft.com/office/drawing/2014/main" id="{9308C891-F45F-3040-CFCF-C3E87DE5FE00}"/>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50" name="Google Shape;61;p3">
              <a:extLst>
                <a:ext uri="{FF2B5EF4-FFF2-40B4-BE49-F238E27FC236}">
                  <a16:creationId xmlns:a16="http://schemas.microsoft.com/office/drawing/2014/main" id="{A41658F1-DA9B-77CA-EFB1-58FA37D2F87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51" name="Google Shape;59;p3">
            <a:extLst>
              <a:ext uri="{FF2B5EF4-FFF2-40B4-BE49-F238E27FC236}">
                <a16:creationId xmlns:a16="http://schemas.microsoft.com/office/drawing/2014/main" id="{F39646BC-47E1-D10A-F074-2B3D26B42E27}"/>
              </a:ext>
            </a:extLst>
          </p:cNvPr>
          <p:cNvGrpSpPr/>
          <p:nvPr/>
        </p:nvGrpSpPr>
        <p:grpSpPr>
          <a:xfrm>
            <a:off x="2838827" y="7879169"/>
            <a:ext cx="8553420" cy="417185"/>
            <a:chOff x="571500" y="5165783"/>
            <a:chExt cx="5702280" cy="278123"/>
          </a:xfrm>
        </p:grpSpPr>
        <p:sp>
          <p:nvSpPr>
            <p:cNvPr id="52" name="Google Shape;60;p3">
              <a:extLst>
                <a:ext uri="{FF2B5EF4-FFF2-40B4-BE49-F238E27FC236}">
                  <a16:creationId xmlns:a16="http://schemas.microsoft.com/office/drawing/2014/main" id="{1559F5DA-B18D-651C-52F0-64E602F05161}"/>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latin typeface="Arial" panose="020B0604020202020204" pitchFamily="34" charset="0"/>
                <a:cs typeface="Arial" panose="020B0604020202020204" pitchFamily="34" charset="0"/>
              </a:endParaRPr>
            </a:p>
          </p:txBody>
        </p:sp>
        <p:sp>
          <p:nvSpPr>
            <p:cNvPr id="53" name="Google Shape;61;p3">
              <a:extLst>
                <a:ext uri="{FF2B5EF4-FFF2-40B4-BE49-F238E27FC236}">
                  <a16:creationId xmlns:a16="http://schemas.microsoft.com/office/drawing/2014/main" id="{3CA93381-05C7-6869-2C6A-D9F9CD9475D2}"/>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54" name="Google Shape;56;p3">
            <a:extLst>
              <a:ext uri="{FF2B5EF4-FFF2-40B4-BE49-F238E27FC236}">
                <a16:creationId xmlns:a16="http://schemas.microsoft.com/office/drawing/2014/main" id="{B16BFB6F-F05C-E902-F780-54F76DE8E1B1}"/>
              </a:ext>
            </a:extLst>
          </p:cNvPr>
          <p:cNvGrpSpPr/>
          <p:nvPr/>
        </p:nvGrpSpPr>
        <p:grpSpPr>
          <a:xfrm>
            <a:off x="2838827" y="5404125"/>
            <a:ext cx="8553420" cy="417186"/>
            <a:chOff x="571500" y="5165783"/>
            <a:chExt cx="5702280" cy="278124"/>
          </a:xfrm>
        </p:grpSpPr>
        <p:sp>
          <p:nvSpPr>
            <p:cNvPr id="55" name="Google Shape;57;p3">
              <a:extLst>
                <a:ext uri="{FF2B5EF4-FFF2-40B4-BE49-F238E27FC236}">
                  <a16:creationId xmlns:a16="http://schemas.microsoft.com/office/drawing/2014/main" id="{19ED329B-680C-2F4B-91C2-22D9456E29D7}"/>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Key Tasks</a:t>
              </a:r>
            </a:p>
          </p:txBody>
        </p:sp>
        <p:sp>
          <p:nvSpPr>
            <p:cNvPr id="56" name="Google Shape;58;p3">
              <a:extLst>
                <a:ext uri="{FF2B5EF4-FFF2-40B4-BE49-F238E27FC236}">
                  <a16:creationId xmlns:a16="http://schemas.microsoft.com/office/drawing/2014/main" id="{ED519012-679F-022C-B285-26D9FB5ED4F1}"/>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Tree>
    <p:extLst>
      <p:ext uri="{BB962C8B-B14F-4D97-AF65-F5344CB8AC3E}">
        <p14:creationId xmlns:p14="http://schemas.microsoft.com/office/powerpoint/2010/main" val="183738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par>
                                <p:cTn id="22" presetID="53" presetClass="entr" presetSubtype="16" fill="hold" nodeType="withEffect">
                                  <p:stCondLst>
                                    <p:cond delay="0"/>
                                  </p:stCondLst>
                                  <p:childTnLst>
                                    <p:set>
                                      <p:cBhvr>
                                        <p:cTn id="23" dur="1" fill="hold">
                                          <p:stCondLst>
                                            <p:cond delay="0"/>
                                          </p:stCondLst>
                                        </p:cTn>
                                        <p:tgtEl>
                                          <p:spTgt spid="54"/>
                                        </p:tgtEl>
                                        <p:attrNameLst>
                                          <p:attrName>style.visibility</p:attrName>
                                        </p:attrNameLst>
                                      </p:cBhvr>
                                      <p:to>
                                        <p:strVal val="visible"/>
                                      </p:to>
                                    </p:set>
                                    <p:anim calcmode="lin" valueType="num">
                                      <p:cBhvr>
                                        <p:cTn id="24" dur="500" fill="hold"/>
                                        <p:tgtEl>
                                          <p:spTgt spid="54"/>
                                        </p:tgtEl>
                                        <p:attrNameLst>
                                          <p:attrName>ppt_w</p:attrName>
                                        </p:attrNameLst>
                                      </p:cBhvr>
                                      <p:tavLst>
                                        <p:tav tm="0">
                                          <p:val>
                                            <p:fltVal val="0"/>
                                          </p:val>
                                        </p:tav>
                                        <p:tav tm="100000">
                                          <p:val>
                                            <p:strVal val="#ppt_w"/>
                                          </p:val>
                                        </p:tav>
                                      </p:tavLst>
                                    </p:anim>
                                    <p:anim calcmode="lin" valueType="num">
                                      <p:cBhvr>
                                        <p:cTn id="25" dur="500" fill="hold"/>
                                        <p:tgtEl>
                                          <p:spTgt spid="54"/>
                                        </p:tgtEl>
                                        <p:attrNameLst>
                                          <p:attrName>ppt_h</p:attrName>
                                        </p:attrNameLst>
                                      </p:cBhvr>
                                      <p:tavLst>
                                        <p:tav tm="0">
                                          <p:val>
                                            <p:fltVal val="0"/>
                                          </p:val>
                                        </p:tav>
                                        <p:tav tm="100000">
                                          <p:val>
                                            <p:strVal val="#ppt_h"/>
                                          </p:val>
                                        </p:tav>
                                      </p:tavLst>
                                    </p:anim>
                                    <p:animEffect transition="in" filter="fade">
                                      <p:cBhvr>
                                        <p:cTn id="26" dur="500"/>
                                        <p:tgtEl>
                                          <p:spTgt spid="54"/>
                                        </p:tgtEl>
                                      </p:cBhvr>
                                    </p:animEffect>
                                  </p:childTnLst>
                                </p:cTn>
                              </p:par>
                              <p:par>
                                <p:cTn id="27" presetID="53" presetClass="entr" presetSubtype="16"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 calcmode="lin" valueType="num">
                                      <p:cBhvr>
                                        <p:cTn id="29" dur="500" fill="hold"/>
                                        <p:tgtEl>
                                          <p:spTgt spid="41"/>
                                        </p:tgtEl>
                                        <p:attrNameLst>
                                          <p:attrName>ppt_w</p:attrName>
                                        </p:attrNameLst>
                                      </p:cBhvr>
                                      <p:tavLst>
                                        <p:tav tm="0">
                                          <p:val>
                                            <p:fltVal val="0"/>
                                          </p:val>
                                        </p:tav>
                                        <p:tav tm="100000">
                                          <p:val>
                                            <p:strVal val="#ppt_w"/>
                                          </p:val>
                                        </p:tav>
                                      </p:tavLst>
                                    </p:anim>
                                    <p:anim calcmode="lin" valueType="num">
                                      <p:cBhvr>
                                        <p:cTn id="30" dur="500" fill="hold"/>
                                        <p:tgtEl>
                                          <p:spTgt spid="41"/>
                                        </p:tgtEl>
                                        <p:attrNameLst>
                                          <p:attrName>ppt_h</p:attrName>
                                        </p:attrNameLst>
                                      </p:cBhvr>
                                      <p:tavLst>
                                        <p:tav tm="0">
                                          <p:val>
                                            <p:fltVal val="0"/>
                                          </p:val>
                                        </p:tav>
                                        <p:tav tm="100000">
                                          <p:val>
                                            <p:strVal val="#ppt_h"/>
                                          </p:val>
                                        </p:tav>
                                      </p:tavLst>
                                    </p:anim>
                                    <p:animEffect transition="in" filter="fade">
                                      <p:cBhvr>
                                        <p:cTn id="31" dur="500"/>
                                        <p:tgtEl>
                                          <p:spTgt spid="41"/>
                                        </p:tgtEl>
                                      </p:cBhvr>
                                    </p:animEffect>
                                  </p:childTnLst>
                                </p:cTn>
                              </p:par>
                              <p:par>
                                <p:cTn id="32" presetID="53" presetClass="entr" presetSubtype="16" fill="hold" nodeType="with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p:cTn id="34" dur="500" fill="hold"/>
                                        <p:tgtEl>
                                          <p:spTgt spid="44"/>
                                        </p:tgtEl>
                                        <p:attrNameLst>
                                          <p:attrName>ppt_w</p:attrName>
                                        </p:attrNameLst>
                                      </p:cBhvr>
                                      <p:tavLst>
                                        <p:tav tm="0">
                                          <p:val>
                                            <p:fltVal val="0"/>
                                          </p:val>
                                        </p:tav>
                                        <p:tav tm="100000">
                                          <p:val>
                                            <p:strVal val="#ppt_w"/>
                                          </p:val>
                                        </p:tav>
                                      </p:tavLst>
                                    </p:anim>
                                    <p:anim calcmode="lin" valueType="num">
                                      <p:cBhvr>
                                        <p:cTn id="35" dur="500" fill="hold"/>
                                        <p:tgtEl>
                                          <p:spTgt spid="44"/>
                                        </p:tgtEl>
                                        <p:attrNameLst>
                                          <p:attrName>ppt_h</p:attrName>
                                        </p:attrNameLst>
                                      </p:cBhvr>
                                      <p:tavLst>
                                        <p:tav tm="0">
                                          <p:val>
                                            <p:fltVal val="0"/>
                                          </p:val>
                                        </p:tav>
                                        <p:tav tm="100000">
                                          <p:val>
                                            <p:strVal val="#ppt_h"/>
                                          </p:val>
                                        </p:tav>
                                      </p:tavLst>
                                    </p:anim>
                                    <p:animEffect transition="in" filter="fade">
                                      <p:cBhvr>
                                        <p:cTn id="36" dur="500"/>
                                        <p:tgtEl>
                                          <p:spTgt spid="44"/>
                                        </p:tgtEl>
                                      </p:cBhvr>
                                    </p:animEffect>
                                  </p:childTnLst>
                                </p:cTn>
                              </p:par>
                              <p:par>
                                <p:cTn id="37" presetID="53" presetClass="entr" presetSubtype="16"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anim calcmode="lin" valueType="num">
                                      <p:cBhvr>
                                        <p:cTn id="39" dur="500" fill="hold"/>
                                        <p:tgtEl>
                                          <p:spTgt spid="47"/>
                                        </p:tgtEl>
                                        <p:attrNameLst>
                                          <p:attrName>ppt_w</p:attrName>
                                        </p:attrNameLst>
                                      </p:cBhvr>
                                      <p:tavLst>
                                        <p:tav tm="0">
                                          <p:val>
                                            <p:fltVal val="0"/>
                                          </p:val>
                                        </p:tav>
                                        <p:tav tm="100000">
                                          <p:val>
                                            <p:strVal val="#ppt_w"/>
                                          </p:val>
                                        </p:tav>
                                      </p:tavLst>
                                    </p:anim>
                                    <p:anim calcmode="lin" valueType="num">
                                      <p:cBhvr>
                                        <p:cTn id="40" dur="500" fill="hold"/>
                                        <p:tgtEl>
                                          <p:spTgt spid="47"/>
                                        </p:tgtEl>
                                        <p:attrNameLst>
                                          <p:attrName>ppt_h</p:attrName>
                                        </p:attrNameLst>
                                      </p:cBhvr>
                                      <p:tavLst>
                                        <p:tav tm="0">
                                          <p:val>
                                            <p:fltVal val="0"/>
                                          </p:val>
                                        </p:tav>
                                        <p:tav tm="100000">
                                          <p:val>
                                            <p:strVal val="#ppt_h"/>
                                          </p:val>
                                        </p:tav>
                                      </p:tavLst>
                                    </p:anim>
                                    <p:animEffect transition="in" filter="fade">
                                      <p:cBhvr>
                                        <p:cTn id="41" dur="500"/>
                                        <p:tgtEl>
                                          <p:spTgt spid="47"/>
                                        </p:tgtEl>
                                      </p:cBhvr>
                                    </p:animEffect>
                                  </p:childTnLst>
                                </p:cTn>
                              </p:par>
                              <p:par>
                                <p:cTn id="42" presetID="53" presetClass="entr" presetSubtype="16" fill="hold" nodeType="withEffect">
                                  <p:stCondLst>
                                    <p:cond delay="0"/>
                                  </p:stCondLst>
                                  <p:childTnLst>
                                    <p:set>
                                      <p:cBhvr>
                                        <p:cTn id="43" dur="1" fill="hold">
                                          <p:stCondLst>
                                            <p:cond delay="0"/>
                                          </p:stCondLst>
                                        </p:cTn>
                                        <p:tgtEl>
                                          <p:spTgt spid="51"/>
                                        </p:tgtEl>
                                        <p:attrNameLst>
                                          <p:attrName>style.visibility</p:attrName>
                                        </p:attrNameLst>
                                      </p:cBhvr>
                                      <p:to>
                                        <p:strVal val="visible"/>
                                      </p:to>
                                    </p:set>
                                    <p:anim calcmode="lin" valueType="num">
                                      <p:cBhvr>
                                        <p:cTn id="44" dur="500" fill="hold"/>
                                        <p:tgtEl>
                                          <p:spTgt spid="51"/>
                                        </p:tgtEl>
                                        <p:attrNameLst>
                                          <p:attrName>ppt_w</p:attrName>
                                        </p:attrNameLst>
                                      </p:cBhvr>
                                      <p:tavLst>
                                        <p:tav tm="0">
                                          <p:val>
                                            <p:fltVal val="0"/>
                                          </p:val>
                                        </p:tav>
                                        <p:tav tm="100000">
                                          <p:val>
                                            <p:strVal val="#ppt_w"/>
                                          </p:val>
                                        </p:tav>
                                      </p:tavLst>
                                    </p:anim>
                                    <p:anim calcmode="lin" valueType="num">
                                      <p:cBhvr>
                                        <p:cTn id="45" dur="500" fill="hold"/>
                                        <p:tgtEl>
                                          <p:spTgt spid="51"/>
                                        </p:tgtEl>
                                        <p:attrNameLst>
                                          <p:attrName>ppt_h</p:attrName>
                                        </p:attrNameLst>
                                      </p:cBhvr>
                                      <p:tavLst>
                                        <p:tav tm="0">
                                          <p:val>
                                            <p:fltVal val="0"/>
                                          </p:val>
                                        </p:tav>
                                        <p:tav tm="100000">
                                          <p:val>
                                            <p:strVal val="#ppt_h"/>
                                          </p:val>
                                        </p:tav>
                                      </p:tavLst>
                                    </p:anim>
                                    <p:animEffect transition="in" filter="fade">
                                      <p:cBhvr>
                                        <p:cTn id="4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2"/>
          <p:cNvSpPr/>
          <p:nvPr/>
        </p:nvSpPr>
        <p:spPr>
          <a:xfrm>
            <a:off x="3057398" y="2051114"/>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Problem Statement</a:t>
            </a:r>
            <a:endParaRPr lang="en-US" sz="2700" dirty="0">
              <a:latin typeface="Arial" panose="020B0604020202020204" pitchFamily="34" charset="0"/>
              <a:cs typeface="Arial" panose="020B0604020202020204" pitchFamily="34" charset="0"/>
            </a:endParaRPr>
          </a:p>
        </p:txBody>
      </p:sp>
      <p:cxnSp>
        <p:nvCxnSpPr>
          <p:cNvPr id="41" name="Google Shape;41;p2"/>
          <p:cNvCxnSpPr/>
          <p:nvPr/>
        </p:nvCxnSpPr>
        <p:spPr>
          <a:xfrm flipH="1">
            <a:off x="1752600" y="3543300"/>
            <a:ext cx="15750" cy="4316850"/>
          </a:xfrm>
          <a:prstGeom prst="straightConnector1">
            <a:avLst/>
          </a:prstGeom>
          <a:noFill/>
          <a:ln w="38100" cap="flat" cmpd="sng">
            <a:solidFill>
              <a:schemeClr val="lt1"/>
            </a:solidFill>
            <a:prstDash val="solid"/>
            <a:miter lim="800000"/>
            <a:headEnd type="none" w="sm" len="sm"/>
            <a:tailEnd type="none" w="sm" len="sm"/>
          </a:ln>
        </p:spPr>
      </p:cxnSp>
      <p:sp>
        <p:nvSpPr>
          <p:cNvPr id="2" name="TextBox 1">
            <a:extLst>
              <a:ext uri="{FF2B5EF4-FFF2-40B4-BE49-F238E27FC236}">
                <a16:creationId xmlns:a16="http://schemas.microsoft.com/office/drawing/2014/main" id="{04C30208-CFD9-97B6-82C2-62139B27E2E9}"/>
              </a:ext>
            </a:extLst>
          </p:cNvPr>
          <p:cNvSpPr txBox="1"/>
          <p:nvPr/>
        </p:nvSpPr>
        <p:spPr>
          <a:xfrm>
            <a:off x="2026347" y="4381500"/>
            <a:ext cx="4800600" cy="4585871"/>
          </a:xfrm>
          <a:prstGeom prst="rect">
            <a:avLst/>
          </a:prstGeom>
          <a:noFill/>
        </p:spPr>
        <p:txBody>
          <a:bodyPr wrap="square" rtlCol="0">
            <a:spAutoFit/>
          </a:bodyPr>
          <a:lstStyle/>
          <a:p>
            <a:pPr algn="ctr"/>
            <a:r>
              <a:rPr lang="en-US" sz="3200" b="1" dirty="0">
                <a:solidFill>
                  <a:schemeClr val="bg1"/>
                </a:solidFill>
                <a:latin typeface="Arial" panose="020B0604020202020204" pitchFamily="34" charset="0"/>
                <a:cs typeface="Arial" panose="020B0604020202020204" pitchFamily="34" charset="0"/>
              </a:rPr>
              <a:t>Indefinite Stream Looping</a:t>
            </a:r>
          </a:p>
          <a:p>
            <a:pPr algn="ctr"/>
            <a:endParaRPr lang="en-US" sz="3200" dirty="0">
              <a:solidFill>
                <a:schemeClr val="bg1"/>
              </a:solidFill>
              <a:latin typeface="Arial" panose="020B0604020202020204" pitchFamily="34" charset="0"/>
              <a:cs typeface="Arial" panose="020B0604020202020204" pitchFamily="34" charset="0"/>
            </a:endParaRPr>
          </a:p>
          <a:p>
            <a:r>
              <a:rPr lang="en-US" sz="2800" dirty="0">
                <a:solidFill>
                  <a:schemeClr val="bg1"/>
                </a:solidFill>
                <a:latin typeface="Arial" panose="020B0604020202020204" pitchFamily="34" charset="0"/>
                <a:cs typeface="Arial" panose="020B0604020202020204" pitchFamily="34" charset="0"/>
              </a:rPr>
              <a:t>Raw ride data arrives as static historical files and continuously generated live events, which must be unified into a single, consistent view.</a:t>
            </a:r>
          </a:p>
          <a:p>
            <a:endParaRPr lang="en-US" sz="2800"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9FACB91-1736-3D22-05CE-378D2DBB7AF8}"/>
              </a:ext>
            </a:extLst>
          </p:cNvPr>
          <p:cNvSpPr txBox="1"/>
          <p:nvPr/>
        </p:nvSpPr>
        <p:spPr>
          <a:xfrm>
            <a:off x="7741347" y="4381500"/>
            <a:ext cx="4800600" cy="4093428"/>
          </a:xfrm>
          <a:prstGeom prst="rect">
            <a:avLst/>
          </a:prstGeom>
          <a:noFill/>
        </p:spPr>
        <p:txBody>
          <a:bodyPr wrap="square" rtlCol="0">
            <a:spAutoFit/>
          </a:bodyPr>
          <a:lstStyle/>
          <a:p>
            <a:pPr algn="ctr"/>
            <a:r>
              <a:rPr lang="en-US" sz="3200" b="1" dirty="0">
                <a:solidFill>
                  <a:schemeClr val="bg1"/>
                </a:solidFill>
                <a:latin typeface="Arial" panose="020B0604020202020204" pitchFamily="34" charset="0"/>
                <a:cs typeface="Arial" panose="020B0604020202020204" pitchFamily="34" charset="0"/>
              </a:rPr>
              <a:t>Watermark Limitations</a:t>
            </a:r>
          </a:p>
          <a:p>
            <a:pPr algn="ctr"/>
            <a:endParaRPr lang="en-US" sz="3200" b="1" dirty="0">
              <a:solidFill>
                <a:schemeClr val="bg1"/>
              </a:solidFill>
              <a:latin typeface="Arial" panose="020B0604020202020204" pitchFamily="34" charset="0"/>
              <a:cs typeface="Arial" panose="020B0604020202020204" pitchFamily="34" charset="0"/>
            </a:endParaRPr>
          </a:p>
          <a:p>
            <a:r>
              <a:rPr lang="en-US" sz="2800" dirty="0">
                <a:solidFill>
                  <a:schemeClr val="bg1"/>
                </a:solidFill>
                <a:latin typeface="Arial" panose="020B0604020202020204" pitchFamily="34" charset="0"/>
                <a:cs typeface="Arial" panose="020B0604020202020204" pitchFamily="34" charset="0"/>
              </a:rPr>
              <a:t>Raw coordinates aren't directly useful for spatial analysis; they must be converted into H3 geo-hash keys to enable region-based aggregation and route analysis.</a:t>
            </a:r>
          </a:p>
          <a:p>
            <a:endParaRPr lang="en-US" sz="2800" dirty="0">
              <a:solidFill>
                <a:schemeClr val="bg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6586D63-8508-488D-B712-2D838317D290}"/>
              </a:ext>
            </a:extLst>
          </p:cNvPr>
          <p:cNvSpPr txBox="1"/>
          <p:nvPr/>
        </p:nvSpPr>
        <p:spPr>
          <a:xfrm>
            <a:off x="13227747" y="4381500"/>
            <a:ext cx="4495800" cy="4093428"/>
          </a:xfrm>
          <a:prstGeom prst="rect">
            <a:avLst/>
          </a:prstGeom>
          <a:noFill/>
        </p:spPr>
        <p:txBody>
          <a:bodyPr wrap="square" rtlCol="0">
            <a:spAutoFit/>
          </a:bodyPr>
          <a:lstStyle/>
          <a:p>
            <a:pPr algn="ctr"/>
            <a:r>
              <a:rPr lang="en-US" sz="3200" b="1" dirty="0">
                <a:solidFill>
                  <a:schemeClr val="bg1"/>
                </a:solidFill>
                <a:latin typeface="Arial" panose="020B0604020202020204" pitchFamily="34" charset="0"/>
                <a:cs typeface="Arial" panose="020B0604020202020204" pitchFamily="34" charset="0"/>
              </a:rPr>
              <a:t>Schema Alignment</a:t>
            </a:r>
          </a:p>
          <a:p>
            <a:pPr algn="ctr"/>
            <a:endParaRPr lang="en-US" sz="3200" b="1" dirty="0">
              <a:solidFill>
                <a:schemeClr val="bg1"/>
              </a:solidFill>
              <a:latin typeface="Arial" panose="020B0604020202020204" pitchFamily="34" charset="0"/>
              <a:cs typeface="Arial" panose="020B0604020202020204" pitchFamily="34" charset="0"/>
            </a:endParaRPr>
          </a:p>
          <a:p>
            <a:r>
              <a:rPr lang="en-US" sz="2800" dirty="0">
                <a:solidFill>
                  <a:schemeClr val="bg1"/>
                </a:solidFill>
                <a:latin typeface="Arial" panose="020B0604020202020204" pitchFamily="34" charset="0"/>
                <a:cs typeface="Arial" panose="020B0604020202020204" pitchFamily="34" charset="0"/>
              </a:rPr>
              <a:t>Data quality issues (invalid timestamps, missing coordinates, duplicate records) must be handled reliably, especially since streamed source data may be replayed.</a:t>
            </a:r>
          </a:p>
          <a:p>
            <a:endParaRPr lang="en-US" sz="2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9282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latin typeface="Arial" panose="020B0604020202020204" pitchFamily="34" charset="0"/>
                <a:cs typeface="Arial" panose="020B0604020202020204" pitchFamily="34" charset="0"/>
              </a:rPr>
              <a:t>Agenda</a:t>
            </a:r>
            <a:endParaRPr sz="5000" b="1" dirty="0">
              <a:solidFill>
                <a:schemeClr val="lt1"/>
              </a:solidFill>
              <a:latin typeface="Arial" panose="020B0604020202020204" pitchFamily="34" charset="0"/>
              <a:cs typeface="Arial" panose="020B0604020202020204" pitchFamily="34" charset="0"/>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5" name="Google Shape;59;p3">
            <a:extLst>
              <a:ext uri="{FF2B5EF4-FFF2-40B4-BE49-F238E27FC236}">
                <a16:creationId xmlns:a16="http://schemas.microsoft.com/office/drawing/2014/main" id="{3C8824F9-5ABC-4EFF-668A-50A202A3809F}"/>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110235D1-3508-1C69-D303-3222F55949D0}"/>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ea typeface="Arial" panose="020B0604020202020204" pitchFamily="34" charset="0"/>
                  <a:cs typeface="Arial" panose="020B0604020202020204" pitchFamily="34" charset="0"/>
                </a:rPr>
                <a:t>Methodology</a:t>
              </a:r>
              <a:endParaRPr lang="en-US" sz="3600" b="1" dirty="0">
                <a:latin typeface="Arial" panose="020B0604020202020204" pitchFamily="34" charset="0"/>
                <a:cs typeface="Arial" panose="020B0604020202020204" pitchFamily="34" charset="0"/>
              </a:endParaRPr>
            </a:p>
          </p:txBody>
        </p:sp>
        <p:sp>
          <p:nvSpPr>
            <p:cNvPr id="7" name="Google Shape;61;p3">
              <a:extLst>
                <a:ext uri="{FF2B5EF4-FFF2-40B4-BE49-F238E27FC236}">
                  <a16:creationId xmlns:a16="http://schemas.microsoft.com/office/drawing/2014/main" id="{E6458DC3-59A4-0EBF-A289-048FA7A60A77}"/>
                </a:ext>
              </a:extLst>
            </p:cNvPr>
            <p:cNvSpPr/>
            <p:nvPr/>
          </p:nvSpPr>
          <p:spPr>
            <a:xfrm>
              <a:off x="571500" y="5165783"/>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8" name="Google Shape;59;p3">
            <a:extLst>
              <a:ext uri="{FF2B5EF4-FFF2-40B4-BE49-F238E27FC236}">
                <a16:creationId xmlns:a16="http://schemas.microsoft.com/office/drawing/2014/main" id="{0E83B93D-FB8E-813F-FBA1-1E0AA2590DF9}"/>
              </a:ext>
            </a:extLst>
          </p:cNvPr>
          <p:cNvGrpSpPr/>
          <p:nvPr/>
        </p:nvGrpSpPr>
        <p:grpSpPr>
          <a:xfrm>
            <a:off x="2838827" y="6691517"/>
            <a:ext cx="8553420" cy="417186"/>
            <a:chOff x="571500" y="5165783"/>
            <a:chExt cx="5702280" cy="278124"/>
          </a:xfrm>
        </p:grpSpPr>
        <p:sp>
          <p:nvSpPr>
            <p:cNvPr id="9" name="Google Shape;60;p3">
              <a:extLst>
                <a:ext uri="{FF2B5EF4-FFF2-40B4-BE49-F238E27FC236}">
                  <a16:creationId xmlns:a16="http://schemas.microsoft.com/office/drawing/2014/main" id="{FDE556D7-EC6D-1D09-60BA-1733684DF161}"/>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Results and Insights</a:t>
              </a:r>
            </a:p>
          </p:txBody>
        </p:sp>
        <p:sp>
          <p:nvSpPr>
            <p:cNvPr id="10" name="Google Shape;61;p3">
              <a:extLst>
                <a:ext uri="{FF2B5EF4-FFF2-40B4-BE49-F238E27FC236}">
                  <a16:creationId xmlns:a16="http://schemas.microsoft.com/office/drawing/2014/main" id="{6277DDF3-91B1-AA00-1386-A1A6AE3E879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1" name="Google Shape;59;p3">
            <a:extLst>
              <a:ext uri="{FF2B5EF4-FFF2-40B4-BE49-F238E27FC236}">
                <a16:creationId xmlns:a16="http://schemas.microsoft.com/office/drawing/2014/main" id="{3CA8EB46-EC47-6EAB-45AB-35AABA7AD741}"/>
              </a:ext>
            </a:extLst>
          </p:cNvPr>
          <p:cNvGrpSpPr/>
          <p:nvPr/>
        </p:nvGrpSpPr>
        <p:grpSpPr>
          <a:xfrm>
            <a:off x="2838827" y="7283645"/>
            <a:ext cx="8553420" cy="417183"/>
            <a:chOff x="571500" y="5165783"/>
            <a:chExt cx="5702280" cy="278122"/>
          </a:xfrm>
        </p:grpSpPr>
        <p:sp>
          <p:nvSpPr>
            <p:cNvPr id="12" name="Google Shape;60;p3">
              <a:extLst>
                <a:ext uri="{FF2B5EF4-FFF2-40B4-BE49-F238E27FC236}">
                  <a16:creationId xmlns:a16="http://schemas.microsoft.com/office/drawing/2014/main" id="{2231DFCB-7FA7-1BBF-5F08-CDF456B44596}"/>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Google Shape;61;p3">
              <a:extLst>
                <a:ext uri="{FF2B5EF4-FFF2-40B4-BE49-F238E27FC236}">
                  <a16:creationId xmlns:a16="http://schemas.microsoft.com/office/drawing/2014/main" id="{5EF8DC89-3F49-24B6-3A27-FDD5D5F053D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4" name="Google Shape;59;p3">
            <a:extLst>
              <a:ext uri="{FF2B5EF4-FFF2-40B4-BE49-F238E27FC236}">
                <a16:creationId xmlns:a16="http://schemas.microsoft.com/office/drawing/2014/main" id="{A19A8D05-497D-B04B-F2FA-1D1B5594F206}"/>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AD80F6BE-9137-46A3-7D4B-B3F6D935D845}"/>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latin typeface="Arial" panose="020B0604020202020204" pitchFamily="34" charset="0"/>
                <a:cs typeface="Arial" panose="020B0604020202020204" pitchFamily="34" charset="0"/>
              </a:endParaRPr>
            </a:p>
          </p:txBody>
        </p:sp>
        <p:sp>
          <p:nvSpPr>
            <p:cNvPr id="16" name="Google Shape;61;p3">
              <a:extLst>
                <a:ext uri="{FF2B5EF4-FFF2-40B4-BE49-F238E27FC236}">
                  <a16:creationId xmlns:a16="http://schemas.microsoft.com/office/drawing/2014/main" id="{349DEBB7-FAA1-C511-4D90-C55FABEDE3E8}"/>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0" name="Google Shape;56;p3">
            <a:extLst>
              <a:ext uri="{FF2B5EF4-FFF2-40B4-BE49-F238E27FC236}">
                <a16:creationId xmlns:a16="http://schemas.microsoft.com/office/drawing/2014/main" id="{F008D7E0-5724-D67D-06AA-9C1725D5BFDC}"/>
              </a:ext>
            </a:extLst>
          </p:cNvPr>
          <p:cNvGrpSpPr/>
          <p:nvPr/>
        </p:nvGrpSpPr>
        <p:grpSpPr>
          <a:xfrm>
            <a:off x="2819400" y="6057900"/>
            <a:ext cx="8553420" cy="417186"/>
            <a:chOff x="571500" y="5165783"/>
            <a:chExt cx="5702280" cy="278124"/>
          </a:xfrm>
        </p:grpSpPr>
        <p:sp>
          <p:nvSpPr>
            <p:cNvPr id="21" name="Google Shape;57;p3">
              <a:extLst>
                <a:ext uri="{FF2B5EF4-FFF2-40B4-BE49-F238E27FC236}">
                  <a16:creationId xmlns:a16="http://schemas.microsoft.com/office/drawing/2014/main" id="{91F47DB6-1F13-BCA9-1F4A-C0BE191FBDAC}"/>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Key Tasks</a:t>
              </a:r>
            </a:p>
          </p:txBody>
        </p:sp>
        <p:sp>
          <p:nvSpPr>
            <p:cNvPr id="22" name="Google Shape;58;p3">
              <a:extLst>
                <a:ext uri="{FF2B5EF4-FFF2-40B4-BE49-F238E27FC236}">
                  <a16:creationId xmlns:a16="http://schemas.microsoft.com/office/drawing/2014/main" id="{6A8D02FD-47C3-273C-A1A4-117CD8F6C287}"/>
                </a:ext>
              </a:extLst>
            </p:cNvPr>
            <p:cNvSpPr/>
            <p:nvPr/>
          </p:nvSpPr>
          <p:spPr>
            <a:xfrm>
              <a:off x="571500" y="5165783"/>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latin typeface="Arial" panose="020B0604020202020204" pitchFamily="34" charset="0"/>
                <a:cs typeface="Arial" panose="020B0604020202020204" pitchFamily="34" charset="0"/>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Tree>
    <p:extLst>
      <p:ext uri="{BB962C8B-B14F-4D97-AF65-F5344CB8AC3E}">
        <p14:creationId xmlns:p14="http://schemas.microsoft.com/office/powerpoint/2010/main" val="232031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par>
                                <p:cTn id="22" presetID="53" presetClass="entr" presetSubtype="16"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09D43E36-2EA9-297E-A67D-24EE7E56AF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D1AF08-5716-F2E1-5BCB-80DC842C8EA3}"/>
              </a:ext>
            </a:extLst>
          </p:cNvPr>
          <p:cNvSpPr txBox="1"/>
          <p:nvPr/>
        </p:nvSpPr>
        <p:spPr>
          <a:xfrm>
            <a:off x="1066800" y="571500"/>
            <a:ext cx="9144000" cy="830997"/>
          </a:xfrm>
          <a:prstGeom prst="rect">
            <a:avLst/>
          </a:prstGeom>
          <a:noFill/>
        </p:spPr>
        <p:txBody>
          <a:bodyPr wrap="square">
            <a:spAutoFit/>
          </a:bodyPr>
          <a:lstStyle/>
          <a:p>
            <a:pPr algn="l"/>
            <a:r>
              <a:rPr lang="en-US" sz="4800" b="1" i="0" u="none" dirty="0">
                <a:solidFill>
                  <a:srgbClr val="FFFFFF"/>
                </a:solidFill>
                <a:latin typeface="Inter"/>
              </a:rPr>
              <a:t>The Complete Journey of a Trip</a:t>
            </a:r>
          </a:p>
        </p:txBody>
      </p:sp>
      <p:pic>
        <p:nvPicPr>
          <p:cNvPr id="5" name="Picture 4">
            <a:extLst>
              <a:ext uri="{FF2B5EF4-FFF2-40B4-BE49-F238E27FC236}">
                <a16:creationId xmlns:a16="http://schemas.microsoft.com/office/drawing/2014/main" id="{17D5A85F-97F4-A585-ED3A-6B96F6BF0EBD}"/>
              </a:ext>
            </a:extLst>
          </p:cNvPr>
          <p:cNvPicPr>
            <a:picLocks noChangeAspect="1"/>
          </p:cNvPicPr>
          <p:nvPr/>
        </p:nvPicPr>
        <p:blipFill>
          <a:blip r:embed="rId3"/>
          <a:stretch>
            <a:fillRect/>
          </a:stretch>
        </p:blipFill>
        <p:spPr>
          <a:xfrm>
            <a:off x="1219200" y="1483415"/>
            <a:ext cx="11029950" cy="9525"/>
          </a:xfrm>
          <a:prstGeom prst="rect">
            <a:avLst/>
          </a:prstGeom>
        </p:spPr>
      </p:pic>
      <p:pic>
        <p:nvPicPr>
          <p:cNvPr id="7" name="Picture 6">
            <a:extLst>
              <a:ext uri="{FF2B5EF4-FFF2-40B4-BE49-F238E27FC236}">
                <a16:creationId xmlns:a16="http://schemas.microsoft.com/office/drawing/2014/main" id="{CDA9FEAB-384D-DC41-C6DD-DA68D061E82C}"/>
              </a:ext>
            </a:extLst>
          </p:cNvPr>
          <p:cNvPicPr>
            <a:picLocks noChangeAspect="1"/>
          </p:cNvPicPr>
          <p:nvPr/>
        </p:nvPicPr>
        <p:blipFill>
          <a:blip r:embed="rId4"/>
          <a:stretch>
            <a:fillRect/>
          </a:stretch>
        </p:blipFill>
        <p:spPr>
          <a:xfrm>
            <a:off x="2895601" y="1573858"/>
            <a:ext cx="12877800" cy="7962900"/>
          </a:xfrm>
          <a:prstGeom prst="rect">
            <a:avLst/>
          </a:prstGeom>
        </p:spPr>
      </p:pic>
    </p:spTree>
    <p:extLst>
      <p:ext uri="{BB962C8B-B14F-4D97-AF65-F5344CB8AC3E}">
        <p14:creationId xmlns:p14="http://schemas.microsoft.com/office/powerpoint/2010/main" val="2902168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969FC169-39BA-42CD-C134-F6280258F8FF}"/>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D5337FD6-6D1B-1374-904E-DBF72AA5AA62}"/>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C2E2437-58B9-6130-ED1C-BED03EFD7CF5}"/>
              </a:ext>
            </a:extLst>
          </p:cNvPr>
          <p:cNvSpPr txBox="1"/>
          <p:nvPr/>
        </p:nvSpPr>
        <p:spPr>
          <a:xfrm>
            <a:off x="400050" y="3238500"/>
            <a:ext cx="17887950" cy="4031873"/>
          </a:xfrm>
          <a:prstGeom prst="rect">
            <a:avLst/>
          </a:prstGeom>
          <a:noFill/>
        </p:spPr>
        <p:txBody>
          <a:bodyPr wrap="square" rtlCol="0">
            <a:spAutoFit/>
          </a:bodyPr>
          <a:lstStyle/>
          <a:p>
            <a:pPr marL="285750" indent="-285750">
              <a:buFont typeface="Arial" panose="020B0604020202020204" pitchFamily="34" charset="0"/>
              <a:buChar char="•"/>
            </a:pPr>
            <a:r>
              <a:rPr lang="en-US" sz="3200" b="1" dirty="0">
                <a:solidFill>
                  <a:schemeClr val="bg1"/>
                </a:solidFill>
                <a:latin typeface="Arial" panose="020B0604020202020204" pitchFamily="34" charset="0"/>
                <a:cs typeface="Arial" panose="020B0604020202020204" pitchFamily="34" charset="0"/>
              </a:rPr>
              <a:t>Batch Path:</a:t>
            </a:r>
            <a:r>
              <a:rPr lang="en-US" sz="3200" dirty="0">
                <a:solidFill>
                  <a:schemeClr val="bg1"/>
                </a:solidFill>
                <a:latin typeface="Arial" panose="020B0604020202020204" pitchFamily="34" charset="0"/>
                <a:cs typeface="Arial" panose="020B0604020202020204" pitchFamily="34" charset="0"/>
              </a:rPr>
              <a:t> Ingests historical data (Jan-Nov) via Apache </a:t>
            </a:r>
            <a:r>
              <a:rPr lang="en-US" sz="3200" dirty="0" err="1">
                <a:solidFill>
                  <a:schemeClr val="bg1"/>
                </a:solidFill>
                <a:latin typeface="Arial" panose="020B0604020202020204" pitchFamily="34" charset="0"/>
                <a:cs typeface="Arial" panose="020B0604020202020204" pitchFamily="34" charset="0"/>
              </a:rPr>
              <a:t>NiFi</a:t>
            </a:r>
            <a:r>
              <a:rPr lang="en-US" sz="3200" dirty="0">
                <a:solidFill>
                  <a:schemeClr val="bg1"/>
                </a:solidFill>
                <a:latin typeface="Arial" panose="020B0604020202020204" pitchFamily="34" charset="0"/>
                <a:cs typeface="Arial" panose="020B0604020202020204" pitchFamily="34" charset="0"/>
              </a:rPr>
              <a:t> to Bronze HDFS, followed by </a:t>
            </a:r>
            <a:r>
              <a:rPr lang="en-US" sz="3200" dirty="0" err="1">
                <a:solidFill>
                  <a:schemeClr val="bg1"/>
                </a:solidFill>
                <a:latin typeface="Arial" panose="020B0604020202020204" pitchFamily="34" charset="0"/>
                <a:cs typeface="Arial" panose="020B0604020202020204" pitchFamily="34" charset="0"/>
              </a:rPr>
              <a:t>PySpark</a:t>
            </a:r>
            <a:r>
              <a:rPr lang="en-US" sz="3200" dirty="0">
                <a:solidFill>
                  <a:schemeClr val="bg1"/>
                </a:solidFill>
                <a:latin typeface="Arial" panose="020B0604020202020204" pitchFamily="34" charset="0"/>
                <a:cs typeface="Arial" panose="020B0604020202020204" pitchFamily="34" charset="0"/>
              </a:rPr>
              <a:t> batch ETL for geo-hashing and cleaning.</a:t>
            </a:r>
          </a:p>
          <a:p>
            <a:endParaRPr lang="en-US" sz="32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200" b="1" dirty="0">
                <a:solidFill>
                  <a:schemeClr val="bg1"/>
                </a:solidFill>
                <a:latin typeface="Arial" panose="020B0604020202020204" pitchFamily="34" charset="0"/>
                <a:cs typeface="Arial" panose="020B0604020202020204" pitchFamily="34" charset="0"/>
              </a:rPr>
              <a:t>Stream Path:</a:t>
            </a:r>
            <a:r>
              <a:rPr lang="en-US" sz="3200" dirty="0">
                <a:solidFill>
                  <a:schemeClr val="bg1"/>
                </a:solidFill>
                <a:latin typeface="Arial" panose="020B0604020202020204" pitchFamily="34" charset="0"/>
                <a:cs typeface="Arial" panose="020B0604020202020204" pitchFamily="34" charset="0"/>
              </a:rPr>
              <a:t> Simulates live events (Dec) using a Kafka producer. Spark Structured Streaming </a:t>
            </a:r>
          </a:p>
          <a:p>
            <a:endParaRPr lang="en-US" sz="32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200" b="1" dirty="0">
                <a:solidFill>
                  <a:schemeClr val="bg1"/>
                </a:solidFill>
                <a:latin typeface="Arial" panose="020B0604020202020204" pitchFamily="34" charset="0"/>
                <a:cs typeface="Arial" panose="020B0604020202020204" pitchFamily="34" charset="0"/>
              </a:rPr>
              <a:t>Convergence:</a:t>
            </a:r>
            <a:r>
              <a:rPr lang="en-US" sz="3200" dirty="0">
                <a:solidFill>
                  <a:schemeClr val="bg1"/>
                </a:solidFill>
                <a:latin typeface="Arial" panose="020B0604020202020204" pitchFamily="34" charset="0"/>
                <a:cs typeface="Arial" panose="020B0604020202020204" pitchFamily="34" charset="0"/>
              </a:rPr>
              <a:t> Both paths land in a unified Silver rides table, then transform into a Gold layer dimensional model for Hive/Presto querying.</a:t>
            </a:r>
          </a:p>
        </p:txBody>
      </p:sp>
    </p:spTree>
    <p:extLst>
      <p:ext uri="{BB962C8B-B14F-4D97-AF65-F5344CB8AC3E}">
        <p14:creationId xmlns:p14="http://schemas.microsoft.com/office/powerpoint/2010/main" val="2579218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7007840" cy="731520"/>
          </a:xfrm>
          <a:prstGeom prst="rect">
            <a:avLst/>
          </a:prstGeom>
          <a:noFill/>
        </p:spPr>
        <p:txBody>
          <a:bodyPr wrap="none">
            <a:spAutoFit/>
          </a:bodyPr>
          <a:lstStyle/>
          <a:p>
            <a:r>
              <a:rPr sz="3000" b="1">
                <a:solidFill>
                  <a:srgbClr val="FFFFFF"/>
                </a:solidFill>
                <a:latin typeface="Arial"/>
              </a:rPr>
              <a:t>Methodology — Two Ingestion Paths, One Silver Layer</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C7D2EE"/>
                </a:solidFill>
                <a:latin typeface="Arial"/>
              </a:rPr>
              <a:t>Samsung Innovation Campus</a:t>
            </a:r>
          </a:p>
        </p:txBody>
      </p:sp>
      <p:pic>
        <p:nvPicPr>
          <p:cNvPr id="7" name="Picture 6" descr="batch_vs_stream.png"/>
          <p:cNvPicPr>
            <a:picLocks noChangeAspect="1"/>
          </p:cNvPicPr>
          <p:nvPr/>
        </p:nvPicPr>
        <p:blipFill>
          <a:blip r:embed="rId2"/>
          <a:stretch>
            <a:fillRect/>
          </a:stretch>
        </p:blipFill>
        <p:spPr>
          <a:xfrm>
            <a:off x="2194560" y="1554480"/>
            <a:ext cx="13898880" cy="78181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04BAD2AF-C806-4816-5559-24247B853158}"/>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8EF77F78-43E6-0144-D39F-FD21C72DEE40}"/>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56DA9B3-3888-AD96-5FAE-FDBB469702CE}"/>
              </a:ext>
            </a:extLst>
          </p:cNvPr>
          <p:cNvSpPr txBox="1"/>
          <p:nvPr/>
        </p:nvSpPr>
        <p:spPr>
          <a:xfrm>
            <a:off x="581024" y="2666999"/>
            <a:ext cx="5972175" cy="738664"/>
          </a:xfrm>
          <a:prstGeom prst="rect">
            <a:avLst/>
          </a:prstGeom>
          <a:noFill/>
        </p:spPr>
        <p:txBody>
          <a:bodyPr wrap="square" lIns="0" tIns="0" rIns="0" bIns="0" anchor="t">
            <a:spAutoFit/>
          </a:bodyPr>
          <a:lstStyle/>
          <a:p>
            <a:pPr algn="l"/>
            <a:r>
              <a:rPr sz="4800" b="1" i="0" u="none" dirty="0">
                <a:solidFill>
                  <a:schemeClr val="bg1"/>
                </a:solidFill>
                <a:latin typeface="Inter"/>
              </a:rPr>
              <a:t>Why Batch Processing?</a:t>
            </a:r>
          </a:p>
        </p:txBody>
      </p:sp>
      <p:sp>
        <p:nvSpPr>
          <p:cNvPr id="9" name="TextBox 8">
            <a:extLst>
              <a:ext uri="{FF2B5EF4-FFF2-40B4-BE49-F238E27FC236}">
                <a16:creationId xmlns:a16="http://schemas.microsoft.com/office/drawing/2014/main" id="{14ADA2F7-7863-0DB9-13B3-7B954CD46A30}"/>
              </a:ext>
            </a:extLst>
          </p:cNvPr>
          <p:cNvSpPr txBox="1"/>
          <p:nvPr/>
        </p:nvSpPr>
        <p:spPr>
          <a:xfrm>
            <a:off x="581024" y="4117996"/>
            <a:ext cx="8349534" cy="287130"/>
          </a:xfrm>
          <a:prstGeom prst="rect">
            <a:avLst/>
          </a:prstGeom>
          <a:noFill/>
        </p:spPr>
        <p:txBody>
          <a:bodyPr wrap="square" lIns="0" tIns="0" rIns="0" bIns="0" anchor="t">
            <a:spAutoFit/>
          </a:bodyPr>
          <a:lstStyle/>
          <a:p>
            <a:pPr algn="l">
              <a:lnSpc>
                <a:spcPts val="2025"/>
              </a:lnSpc>
            </a:pPr>
            <a:r>
              <a:rPr sz="2800" b="0" i="0" u="none" dirty="0">
                <a:solidFill>
                  <a:schemeClr val="bg1"/>
                </a:solidFill>
                <a:latin typeface="Inter"/>
              </a:rPr>
              <a:t>Ideal for historical backfills (Jan–Nov 2014 datasets).</a:t>
            </a:r>
          </a:p>
        </p:txBody>
      </p:sp>
      <p:sp>
        <p:nvSpPr>
          <p:cNvPr id="11" name="TextBox 10">
            <a:extLst>
              <a:ext uri="{FF2B5EF4-FFF2-40B4-BE49-F238E27FC236}">
                <a16:creationId xmlns:a16="http://schemas.microsoft.com/office/drawing/2014/main" id="{CB3F8C56-55C7-E9DA-D91C-09236AC171A2}"/>
              </a:ext>
            </a:extLst>
          </p:cNvPr>
          <p:cNvSpPr txBox="1"/>
          <p:nvPr/>
        </p:nvSpPr>
        <p:spPr>
          <a:xfrm>
            <a:off x="581024" y="5049053"/>
            <a:ext cx="9873534" cy="287130"/>
          </a:xfrm>
          <a:prstGeom prst="rect">
            <a:avLst/>
          </a:prstGeom>
          <a:noFill/>
        </p:spPr>
        <p:txBody>
          <a:bodyPr wrap="square" lIns="0" tIns="0" rIns="0" bIns="0" anchor="t">
            <a:spAutoFit/>
          </a:bodyPr>
          <a:lstStyle/>
          <a:p>
            <a:pPr algn="l">
              <a:lnSpc>
                <a:spcPts val="2025"/>
              </a:lnSpc>
            </a:pPr>
            <a:r>
              <a:rPr sz="2800" b="0" i="0" u="none" dirty="0">
                <a:solidFill>
                  <a:schemeClr val="bg1"/>
                </a:solidFill>
                <a:latin typeface="Inter"/>
              </a:rPr>
              <a:t>High-throughput processing of massive archived CSV files.</a:t>
            </a:r>
          </a:p>
        </p:txBody>
      </p:sp>
      <p:sp>
        <p:nvSpPr>
          <p:cNvPr id="13" name="TextBox 12">
            <a:extLst>
              <a:ext uri="{FF2B5EF4-FFF2-40B4-BE49-F238E27FC236}">
                <a16:creationId xmlns:a16="http://schemas.microsoft.com/office/drawing/2014/main" id="{4A2701D0-F551-E810-F748-D10F6341A100}"/>
              </a:ext>
            </a:extLst>
          </p:cNvPr>
          <p:cNvSpPr txBox="1"/>
          <p:nvPr/>
        </p:nvSpPr>
        <p:spPr>
          <a:xfrm>
            <a:off x="581024" y="5778491"/>
            <a:ext cx="9187734" cy="287130"/>
          </a:xfrm>
          <a:prstGeom prst="rect">
            <a:avLst/>
          </a:prstGeom>
          <a:noFill/>
        </p:spPr>
        <p:txBody>
          <a:bodyPr wrap="square" lIns="0" tIns="0" rIns="0" bIns="0" anchor="t">
            <a:spAutoFit/>
          </a:bodyPr>
          <a:lstStyle/>
          <a:p>
            <a:pPr algn="l">
              <a:lnSpc>
                <a:spcPts val="2025"/>
              </a:lnSpc>
            </a:pPr>
            <a:r>
              <a:rPr sz="2800" b="0" i="0" u="none" dirty="0">
                <a:solidFill>
                  <a:schemeClr val="bg1"/>
                </a:solidFill>
                <a:latin typeface="Inter"/>
              </a:rPr>
              <a:t>Scheduled, predictable ETL jobs for bulk data integration.</a:t>
            </a:r>
          </a:p>
        </p:txBody>
      </p:sp>
      <p:pic>
        <p:nvPicPr>
          <p:cNvPr id="15" name="Picture 14" descr="image.png">
            <a:extLst>
              <a:ext uri="{FF2B5EF4-FFF2-40B4-BE49-F238E27FC236}">
                <a16:creationId xmlns:a16="http://schemas.microsoft.com/office/drawing/2014/main" id="{DC53F39F-7C7F-46B4-3349-748E4C9C0100}"/>
              </a:ext>
            </a:extLst>
          </p:cNvPr>
          <p:cNvPicPr>
            <a:picLocks noChangeAspect="1"/>
          </p:cNvPicPr>
          <p:nvPr/>
        </p:nvPicPr>
        <p:blipFill>
          <a:blip r:embed="rId3"/>
          <a:stretch>
            <a:fillRect/>
          </a:stretch>
        </p:blipFill>
        <p:spPr>
          <a:xfrm>
            <a:off x="9119191" y="1922088"/>
            <a:ext cx="9001270" cy="1110257"/>
          </a:xfrm>
          <a:prstGeom prst="rect">
            <a:avLst/>
          </a:prstGeom>
        </p:spPr>
      </p:pic>
      <p:pic>
        <p:nvPicPr>
          <p:cNvPr id="17" name="Picture 16" descr="image.png">
            <a:extLst>
              <a:ext uri="{FF2B5EF4-FFF2-40B4-BE49-F238E27FC236}">
                <a16:creationId xmlns:a16="http://schemas.microsoft.com/office/drawing/2014/main" id="{74EA33F9-604F-29DA-A4EF-DBCA462065E1}"/>
              </a:ext>
            </a:extLst>
          </p:cNvPr>
          <p:cNvPicPr>
            <a:picLocks noChangeAspect="1"/>
          </p:cNvPicPr>
          <p:nvPr/>
        </p:nvPicPr>
        <p:blipFill>
          <a:blip r:embed="rId4"/>
          <a:stretch>
            <a:fillRect/>
          </a:stretch>
        </p:blipFill>
        <p:spPr>
          <a:xfrm>
            <a:off x="9119191" y="5640234"/>
            <a:ext cx="9001270" cy="1046418"/>
          </a:xfrm>
          <a:prstGeom prst="rect">
            <a:avLst/>
          </a:prstGeom>
        </p:spPr>
      </p:pic>
      <p:pic>
        <p:nvPicPr>
          <p:cNvPr id="19" name="Picture 18" descr="image.png">
            <a:extLst>
              <a:ext uri="{FF2B5EF4-FFF2-40B4-BE49-F238E27FC236}">
                <a16:creationId xmlns:a16="http://schemas.microsoft.com/office/drawing/2014/main" id="{1E5E8A21-2CC2-1717-28B0-6DD0543A5001}"/>
              </a:ext>
            </a:extLst>
          </p:cNvPr>
          <p:cNvPicPr>
            <a:picLocks noChangeAspect="1"/>
          </p:cNvPicPr>
          <p:nvPr/>
        </p:nvPicPr>
        <p:blipFill>
          <a:blip r:embed="rId5"/>
          <a:stretch>
            <a:fillRect/>
          </a:stretch>
        </p:blipFill>
        <p:spPr>
          <a:xfrm>
            <a:off x="9119191" y="3840880"/>
            <a:ext cx="9001270" cy="1046419"/>
          </a:xfrm>
          <a:prstGeom prst="rect">
            <a:avLst/>
          </a:prstGeom>
        </p:spPr>
      </p:pic>
      <p:pic>
        <p:nvPicPr>
          <p:cNvPr id="21" name="Picture 20" descr="image.png">
            <a:extLst>
              <a:ext uri="{FF2B5EF4-FFF2-40B4-BE49-F238E27FC236}">
                <a16:creationId xmlns:a16="http://schemas.microsoft.com/office/drawing/2014/main" id="{3EE689FF-39A7-638E-9F9D-57DC24258003}"/>
              </a:ext>
            </a:extLst>
          </p:cNvPr>
          <p:cNvPicPr>
            <a:picLocks noChangeAspect="1"/>
          </p:cNvPicPr>
          <p:nvPr/>
        </p:nvPicPr>
        <p:blipFill>
          <a:blip r:embed="rId6"/>
          <a:stretch>
            <a:fillRect/>
          </a:stretch>
        </p:blipFill>
        <p:spPr>
          <a:xfrm>
            <a:off x="9144000" y="7315836"/>
            <a:ext cx="9001270" cy="1046418"/>
          </a:xfrm>
          <a:prstGeom prst="rect">
            <a:avLst/>
          </a:prstGeom>
        </p:spPr>
      </p:pic>
      <p:pic>
        <p:nvPicPr>
          <p:cNvPr id="31" name="Picture 30" descr="image.png">
            <a:extLst>
              <a:ext uri="{FF2B5EF4-FFF2-40B4-BE49-F238E27FC236}">
                <a16:creationId xmlns:a16="http://schemas.microsoft.com/office/drawing/2014/main" id="{0D860C88-79E8-32AB-1ABB-C465AA748C35}"/>
              </a:ext>
            </a:extLst>
          </p:cNvPr>
          <p:cNvPicPr>
            <a:picLocks noChangeAspect="1"/>
          </p:cNvPicPr>
          <p:nvPr/>
        </p:nvPicPr>
        <p:blipFill>
          <a:blip r:embed="rId7"/>
          <a:stretch>
            <a:fillRect/>
          </a:stretch>
        </p:blipFill>
        <p:spPr>
          <a:xfrm flipH="1">
            <a:off x="13065934" y="3065714"/>
            <a:ext cx="535781" cy="714375"/>
          </a:xfrm>
          <a:prstGeom prst="rect">
            <a:avLst/>
          </a:prstGeom>
        </p:spPr>
      </p:pic>
      <p:pic>
        <p:nvPicPr>
          <p:cNvPr id="35" name="Picture 34" descr="image.png">
            <a:extLst>
              <a:ext uri="{FF2B5EF4-FFF2-40B4-BE49-F238E27FC236}">
                <a16:creationId xmlns:a16="http://schemas.microsoft.com/office/drawing/2014/main" id="{DBDCDA6C-8DFC-829B-3F24-135BA504AE4E}"/>
              </a:ext>
            </a:extLst>
          </p:cNvPr>
          <p:cNvPicPr>
            <a:picLocks noChangeAspect="1"/>
          </p:cNvPicPr>
          <p:nvPr/>
        </p:nvPicPr>
        <p:blipFill>
          <a:blip r:embed="rId7"/>
          <a:stretch>
            <a:fillRect/>
          </a:stretch>
        </p:blipFill>
        <p:spPr>
          <a:xfrm flipH="1">
            <a:off x="13108854" y="4887299"/>
            <a:ext cx="535781" cy="714375"/>
          </a:xfrm>
          <a:prstGeom prst="rect">
            <a:avLst/>
          </a:prstGeom>
        </p:spPr>
      </p:pic>
      <p:pic>
        <p:nvPicPr>
          <p:cNvPr id="37" name="Picture 36" descr="image.png">
            <a:extLst>
              <a:ext uri="{FF2B5EF4-FFF2-40B4-BE49-F238E27FC236}">
                <a16:creationId xmlns:a16="http://schemas.microsoft.com/office/drawing/2014/main" id="{EA30A4C7-0C70-7FFC-4422-B50BC3A410EE}"/>
              </a:ext>
            </a:extLst>
          </p:cNvPr>
          <p:cNvPicPr>
            <a:picLocks noChangeAspect="1"/>
          </p:cNvPicPr>
          <p:nvPr/>
        </p:nvPicPr>
        <p:blipFill>
          <a:blip r:embed="rId7"/>
          <a:stretch>
            <a:fillRect/>
          </a:stretch>
        </p:blipFill>
        <p:spPr>
          <a:xfrm flipH="1">
            <a:off x="13108854" y="6633515"/>
            <a:ext cx="535781" cy="714375"/>
          </a:xfrm>
          <a:prstGeom prst="rect">
            <a:avLst/>
          </a:prstGeom>
        </p:spPr>
      </p:pic>
    </p:spTree>
    <p:extLst>
      <p:ext uri="{BB962C8B-B14F-4D97-AF65-F5344CB8AC3E}">
        <p14:creationId xmlns:p14="http://schemas.microsoft.com/office/powerpoint/2010/main" val="3546622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34E4679F-3265-4464-0A49-927B59056E05}"/>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7728C7CA-9329-332D-6FCF-ADF7145CDF2E}"/>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3" name="Picture 2" descr="image.png">
            <a:extLst>
              <a:ext uri="{FF2B5EF4-FFF2-40B4-BE49-F238E27FC236}">
                <a16:creationId xmlns:a16="http://schemas.microsoft.com/office/drawing/2014/main" id="{D45BCDE1-67BE-6E19-6C50-C63BF2047592}"/>
              </a:ext>
            </a:extLst>
          </p:cNvPr>
          <p:cNvPicPr>
            <a:picLocks noChangeAspect="1"/>
          </p:cNvPicPr>
          <p:nvPr/>
        </p:nvPicPr>
        <p:blipFill>
          <a:blip r:embed="rId3"/>
          <a:stretch>
            <a:fillRect/>
          </a:stretch>
        </p:blipFill>
        <p:spPr>
          <a:xfrm>
            <a:off x="9702209" y="3774279"/>
            <a:ext cx="7756217" cy="3205163"/>
          </a:xfrm>
          <a:prstGeom prst="rect">
            <a:avLst/>
          </a:prstGeom>
        </p:spPr>
      </p:pic>
      <p:sp>
        <p:nvSpPr>
          <p:cNvPr id="5" name="TextBox 4">
            <a:extLst>
              <a:ext uri="{FF2B5EF4-FFF2-40B4-BE49-F238E27FC236}">
                <a16:creationId xmlns:a16="http://schemas.microsoft.com/office/drawing/2014/main" id="{6FB21718-31D1-9478-F926-F5D2C9CC7727}"/>
              </a:ext>
            </a:extLst>
          </p:cNvPr>
          <p:cNvSpPr txBox="1"/>
          <p:nvPr/>
        </p:nvSpPr>
        <p:spPr>
          <a:xfrm>
            <a:off x="1250278" y="2945578"/>
            <a:ext cx="6750721" cy="615553"/>
          </a:xfrm>
          <a:prstGeom prst="rect">
            <a:avLst/>
          </a:prstGeom>
          <a:noFill/>
        </p:spPr>
        <p:txBody>
          <a:bodyPr wrap="square" lIns="0" tIns="0" rIns="0" bIns="0" anchor="t">
            <a:spAutoFit/>
          </a:bodyPr>
          <a:lstStyle/>
          <a:p>
            <a:pPr algn="l"/>
            <a:r>
              <a:rPr sz="4000" b="1" i="0" u="none" dirty="0" err="1">
                <a:solidFill>
                  <a:schemeClr val="bg1"/>
                </a:solidFill>
                <a:latin typeface="Inter"/>
              </a:rPr>
              <a:t>NiFi</a:t>
            </a:r>
            <a:r>
              <a:rPr sz="4000" b="1" i="0" u="none" dirty="0">
                <a:solidFill>
                  <a:schemeClr val="bg1"/>
                </a:solidFill>
                <a:latin typeface="Inter"/>
              </a:rPr>
              <a:t> Flow Components</a:t>
            </a:r>
          </a:p>
        </p:txBody>
      </p:sp>
      <p:sp>
        <p:nvSpPr>
          <p:cNvPr id="7" name="TextBox 6">
            <a:extLst>
              <a:ext uri="{FF2B5EF4-FFF2-40B4-BE49-F238E27FC236}">
                <a16:creationId xmlns:a16="http://schemas.microsoft.com/office/drawing/2014/main" id="{85DD1397-466C-1BDD-449E-6F35B4F81688}"/>
              </a:ext>
            </a:extLst>
          </p:cNvPr>
          <p:cNvSpPr txBox="1"/>
          <p:nvPr/>
        </p:nvSpPr>
        <p:spPr>
          <a:xfrm>
            <a:off x="10382727" y="4186237"/>
            <a:ext cx="5941439" cy="492443"/>
          </a:xfrm>
          <a:prstGeom prst="rect">
            <a:avLst/>
          </a:prstGeom>
          <a:noFill/>
        </p:spPr>
        <p:txBody>
          <a:bodyPr wrap="square" lIns="0" tIns="0" rIns="0" bIns="0" anchor="t">
            <a:spAutoFit/>
          </a:bodyPr>
          <a:lstStyle/>
          <a:p>
            <a:pPr algn="l"/>
            <a:r>
              <a:rPr sz="3200" b="1" i="0" u="none" dirty="0">
                <a:solidFill>
                  <a:srgbClr val="10B981"/>
                </a:solidFill>
                <a:latin typeface="Inter"/>
              </a:rPr>
              <a:t>Reliability &amp; Governance</a:t>
            </a:r>
          </a:p>
        </p:txBody>
      </p:sp>
      <p:sp>
        <p:nvSpPr>
          <p:cNvPr id="9" name="TextBox 8">
            <a:extLst>
              <a:ext uri="{FF2B5EF4-FFF2-40B4-BE49-F238E27FC236}">
                <a16:creationId xmlns:a16="http://schemas.microsoft.com/office/drawing/2014/main" id="{612A304E-BF80-974B-9D77-6442B4ACB055}"/>
              </a:ext>
            </a:extLst>
          </p:cNvPr>
          <p:cNvSpPr txBox="1"/>
          <p:nvPr/>
        </p:nvSpPr>
        <p:spPr>
          <a:xfrm>
            <a:off x="10365005" y="4946451"/>
            <a:ext cx="6932395" cy="530082"/>
          </a:xfrm>
          <a:prstGeom prst="rect">
            <a:avLst/>
          </a:prstGeom>
          <a:noFill/>
        </p:spPr>
        <p:txBody>
          <a:bodyPr wrap="square" lIns="0" tIns="0" rIns="0" bIns="0" anchor="t">
            <a:spAutoFit/>
          </a:bodyPr>
          <a:lstStyle/>
          <a:p>
            <a:pPr algn="l">
              <a:lnSpc>
                <a:spcPts val="2025"/>
              </a:lnSpc>
            </a:pPr>
            <a:r>
              <a:rPr sz="2400" b="0" i="0" u="none" dirty="0" err="1">
                <a:solidFill>
                  <a:schemeClr val="bg1"/>
                </a:solidFill>
                <a:latin typeface="Inter"/>
              </a:rPr>
              <a:t>NiFi</a:t>
            </a:r>
            <a:r>
              <a:rPr sz="2400" b="0" i="0" u="none" dirty="0">
                <a:solidFill>
                  <a:schemeClr val="bg1"/>
                </a:solidFill>
                <a:latin typeface="Inter"/>
              </a:rPr>
              <a:t> provides visual data routing, backpressure management, and robust error handling.</a:t>
            </a:r>
          </a:p>
        </p:txBody>
      </p:sp>
      <p:sp>
        <p:nvSpPr>
          <p:cNvPr id="11" name="TextBox 10">
            <a:extLst>
              <a:ext uri="{FF2B5EF4-FFF2-40B4-BE49-F238E27FC236}">
                <a16:creationId xmlns:a16="http://schemas.microsoft.com/office/drawing/2014/main" id="{4FCABB88-C86C-4677-E54B-7767D19448DC}"/>
              </a:ext>
            </a:extLst>
          </p:cNvPr>
          <p:cNvSpPr txBox="1"/>
          <p:nvPr/>
        </p:nvSpPr>
        <p:spPr>
          <a:xfrm>
            <a:off x="10365006" y="5802435"/>
            <a:ext cx="5658515" cy="786562"/>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Failed file transfers are automatically routed to a DLQ for inspection, guaranteeing fault-tolerant ingestion.</a:t>
            </a:r>
          </a:p>
        </p:txBody>
      </p:sp>
      <p:sp>
        <p:nvSpPr>
          <p:cNvPr id="13" name="TextBox 12">
            <a:extLst>
              <a:ext uri="{FF2B5EF4-FFF2-40B4-BE49-F238E27FC236}">
                <a16:creationId xmlns:a16="http://schemas.microsoft.com/office/drawing/2014/main" id="{0D052327-43F4-828B-AB0D-05FB176FB1A7}"/>
              </a:ext>
            </a:extLst>
          </p:cNvPr>
          <p:cNvSpPr txBox="1"/>
          <p:nvPr/>
        </p:nvSpPr>
        <p:spPr>
          <a:xfrm>
            <a:off x="1220153" y="4161872"/>
            <a:ext cx="8152447" cy="300723"/>
          </a:xfrm>
          <a:prstGeom prst="rect">
            <a:avLst/>
          </a:prstGeom>
          <a:noFill/>
        </p:spPr>
        <p:txBody>
          <a:bodyPr wrap="square" lIns="0" tIns="0" rIns="0" bIns="0" anchor="t">
            <a:spAutoFit/>
          </a:bodyPr>
          <a:lstStyle/>
          <a:p>
            <a:pPr algn="l">
              <a:lnSpc>
                <a:spcPts val="2025"/>
              </a:lnSpc>
            </a:pPr>
            <a:r>
              <a:rPr sz="3200" b="1" i="0" u="none" dirty="0" err="1">
                <a:solidFill>
                  <a:schemeClr val="bg1"/>
                </a:solidFill>
                <a:latin typeface="Inter"/>
              </a:rPr>
              <a:t>ListFile</a:t>
            </a:r>
            <a:r>
              <a:rPr sz="3200" b="1" i="0" u="none" dirty="0">
                <a:solidFill>
                  <a:schemeClr val="bg1"/>
                </a:solidFill>
                <a:latin typeface="Inter"/>
              </a:rPr>
              <a:t>:</a:t>
            </a:r>
            <a:r>
              <a:rPr sz="3200" b="0" i="0" u="none" dirty="0">
                <a:solidFill>
                  <a:schemeClr val="bg1"/>
                </a:solidFill>
                <a:latin typeface="Inter"/>
              </a:rPr>
              <a:t> Detects and lists source CSV files.</a:t>
            </a:r>
          </a:p>
        </p:txBody>
      </p:sp>
      <p:sp>
        <p:nvSpPr>
          <p:cNvPr id="15" name="TextBox 14">
            <a:extLst>
              <a:ext uri="{FF2B5EF4-FFF2-40B4-BE49-F238E27FC236}">
                <a16:creationId xmlns:a16="http://schemas.microsoft.com/office/drawing/2014/main" id="{5F1D26F1-DCB8-BE8A-289E-A132FABD3A20}"/>
              </a:ext>
            </a:extLst>
          </p:cNvPr>
          <p:cNvSpPr txBox="1"/>
          <p:nvPr/>
        </p:nvSpPr>
        <p:spPr>
          <a:xfrm>
            <a:off x="1214837" y="4993138"/>
            <a:ext cx="8512181" cy="300723"/>
          </a:xfrm>
          <a:prstGeom prst="rect">
            <a:avLst/>
          </a:prstGeom>
          <a:noFill/>
        </p:spPr>
        <p:txBody>
          <a:bodyPr wrap="square" lIns="0" tIns="0" rIns="0" bIns="0" anchor="t">
            <a:spAutoFit/>
          </a:bodyPr>
          <a:lstStyle/>
          <a:p>
            <a:pPr algn="l">
              <a:lnSpc>
                <a:spcPts val="2025"/>
              </a:lnSpc>
            </a:pPr>
            <a:r>
              <a:rPr sz="3200" b="1" i="0" u="none" dirty="0" err="1">
                <a:solidFill>
                  <a:schemeClr val="bg1"/>
                </a:solidFill>
                <a:latin typeface="Inter"/>
              </a:rPr>
              <a:t>DetectDuplicate</a:t>
            </a:r>
            <a:r>
              <a:rPr sz="3200" b="1" i="0" u="none" dirty="0">
                <a:solidFill>
                  <a:schemeClr val="bg1"/>
                </a:solidFill>
                <a:latin typeface="Inter"/>
              </a:rPr>
              <a:t>:</a:t>
            </a:r>
            <a:r>
              <a:rPr sz="3200" b="0" i="0" u="none" dirty="0">
                <a:solidFill>
                  <a:schemeClr val="bg1"/>
                </a:solidFill>
                <a:latin typeface="Inter"/>
              </a:rPr>
              <a:t> Prevents duplicate file ingestion.</a:t>
            </a:r>
          </a:p>
        </p:txBody>
      </p:sp>
      <p:sp>
        <p:nvSpPr>
          <p:cNvPr id="17" name="TextBox 16">
            <a:extLst>
              <a:ext uri="{FF2B5EF4-FFF2-40B4-BE49-F238E27FC236}">
                <a16:creationId xmlns:a16="http://schemas.microsoft.com/office/drawing/2014/main" id="{86371888-E22F-E510-4E1D-A801EE55934C}"/>
              </a:ext>
            </a:extLst>
          </p:cNvPr>
          <p:cNvSpPr txBox="1"/>
          <p:nvPr/>
        </p:nvSpPr>
        <p:spPr>
          <a:xfrm>
            <a:off x="1250278" y="5998061"/>
            <a:ext cx="6655027" cy="300723"/>
          </a:xfrm>
          <a:prstGeom prst="rect">
            <a:avLst/>
          </a:prstGeom>
          <a:noFill/>
        </p:spPr>
        <p:txBody>
          <a:bodyPr wrap="square" lIns="0" tIns="0" rIns="0" bIns="0" anchor="t">
            <a:spAutoFit/>
          </a:bodyPr>
          <a:lstStyle/>
          <a:p>
            <a:pPr algn="l">
              <a:lnSpc>
                <a:spcPts val="2025"/>
              </a:lnSpc>
            </a:pPr>
            <a:r>
              <a:rPr sz="3200" b="1" i="0" u="none" dirty="0" err="1">
                <a:solidFill>
                  <a:schemeClr val="bg1"/>
                </a:solidFill>
                <a:latin typeface="Inter"/>
              </a:rPr>
              <a:t>FetchFile</a:t>
            </a:r>
            <a:r>
              <a:rPr sz="3200" b="1" i="0" u="none" dirty="0">
                <a:solidFill>
                  <a:schemeClr val="bg1"/>
                </a:solidFill>
                <a:latin typeface="Inter"/>
              </a:rPr>
              <a:t>:</a:t>
            </a:r>
            <a:r>
              <a:rPr sz="3200" b="0" i="0" u="none" dirty="0">
                <a:solidFill>
                  <a:schemeClr val="bg1"/>
                </a:solidFill>
                <a:latin typeface="Inter"/>
              </a:rPr>
              <a:t> Retrieves file payload.</a:t>
            </a:r>
          </a:p>
        </p:txBody>
      </p:sp>
      <p:sp>
        <p:nvSpPr>
          <p:cNvPr id="19" name="TextBox 18">
            <a:extLst>
              <a:ext uri="{FF2B5EF4-FFF2-40B4-BE49-F238E27FC236}">
                <a16:creationId xmlns:a16="http://schemas.microsoft.com/office/drawing/2014/main" id="{176E9D5A-A6AF-574F-E340-A27D392FD684}"/>
              </a:ext>
            </a:extLst>
          </p:cNvPr>
          <p:cNvSpPr txBox="1"/>
          <p:nvPr/>
        </p:nvSpPr>
        <p:spPr>
          <a:xfrm>
            <a:off x="1321163" y="6788733"/>
            <a:ext cx="7213237" cy="300723"/>
          </a:xfrm>
          <a:prstGeom prst="rect">
            <a:avLst/>
          </a:prstGeom>
          <a:noFill/>
        </p:spPr>
        <p:txBody>
          <a:bodyPr wrap="square" lIns="0" tIns="0" rIns="0" bIns="0" anchor="t">
            <a:spAutoFit/>
          </a:bodyPr>
          <a:lstStyle/>
          <a:p>
            <a:pPr algn="l">
              <a:lnSpc>
                <a:spcPts val="2025"/>
              </a:lnSpc>
            </a:pPr>
            <a:r>
              <a:rPr sz="3200" b="1" i="0" u="none" dirty="0" err="1">
                <a:solidFill>
                  <a:schemeClr val="bg1"/>
                </a:solidFill>
                <a:latin typeface="Inter"/>
              </a:rPr>
              <a:t>PutHDFS</a:t>
            </a:r>
            <a:r>
              <a:rPr sz="3200" b="1" i="0" u="none" dirty="0">
                <a:solidFill>
                  <a:schemeClr val="bg1"/>
                </a:solidFill>
                <a:latin typeface="Inter"/>
              </a:rPr>
              <a:t>:</a:t>
            </a:r>
            <a:r>
              <a:rPr sz="3200" b="0" i="0" u="none" dirty="0">
                <a:solidFill>
                  <a:schemeClr val="bg1"/>
                </a:solidFill>
                <a:latin typeface="Inter"/>
              </a:rPr>
              <a:t> Lands raw files into HDFS Bronze.</a:t>
            </a:r>
          </a:p>
        </p:txBody>
      </p:sp>
      <p:sp>
        <p:nvSpPr>
          <p:cNvPr id="21" name="TextBox 20">
            <a:extLst>
              <a:ext uri="{FF2B5EF4-FFF2-40B4-BE49-F238E27FC236}">
                <a16:creationId xmlns:a16="http://schemas.microsoft.com/office/drawing/2014/main" id="{AD3875B5-8854-6DB8-0D99-D522E46258B0}"/>
              </a:ext>
            </a:extLst>
          </p:cNvPr>
          <p:cNvSpPr txBox="1"/>
          <p:nvPr/>
        </p:nvSpPr>
        <p:spPr>
          <a:xfrm>
            <a:off x="1349516" y="7579405"/>
            <a:ext cx="10080484" cy="300723"/>
          </a:xfrm>
          <a:prstGeom prst="rect">
            <a:avLst/>
          </a:prstGeom>
          <a:noFill/>
        </p:spPr>
        <p:txBody>
          <a:bodyPr wrap="square" lIns="0" tIns="0" rIns="0" bIns="0" anchor="t">
            <a:spAutoFit/>
          </a:bodyPr>
          <a:lstStyle/>
          <a:p>
            <a:pPr algn="l">
              <a:lnSpc>
                <a:spcPts val="2025"/>
              </a:lnSpc>
            </a:pPr>
            <a:r>
              <a:rPr sz="3200" b="1" i="0" u="none" dirty="0">
                <a:solidFill>
                  <a:schemeClr val="bg1"/>
                </a:solidFill>
                <a:latin typeface="Inter"/>
              </a:rPr>
              <a:t>Error Handling:</a:t>
            </a:r>
            <a:r>
              <a:rPr sz="3200" b="0" i="0" u="none" dirty="0">
                <a:solidFill>
                  <a:schemeClr val="bg1"/>
                </a:solidFill>
                <a:latin typeface="Inter"/>
              </a:rPr>
              <a:t> </a:t>
            </a:r>
            <a:r>
              <a:rPr sz="3200" b="0" i="0" u="none" dirty="0" err="1">
                <a:solidFill>
                  <a:schemeClr val="bg1"/>
                </a:solidFill>
                <a:latin typeface="Inter"/>
              </a:rPr>
              <a:t>RetryFlowFile</a:t>
            </a:r>
            <a:r>
              <a:rPr sz="3200" b="0" i="0" u="none" dirty="0">
                <a:solidFill>
                  <a:schemeClr val="bg1"/>
                </a:solidFill>
                <a:latin typeface="Inter"/>
              </a:rPr>
              <a:t> &amp; Dead-Letter Queue (DLQ).</a:t>
            </a:r>
          </a:p>
        </p:txBody>
      </p:sp>
      <p:sp>
        <p:nvSpPr>
          <p:cNvPr id="33" name="TextBox 32">
            <a:extLst>
              <a:ext uri="{FF2B5EF4-FFF2-40B4-BE49-F238E27FC236}">
                <a16:creationId xmlns:a16="http://schemas.microsoft.com/office/drawing/2014/main" id="{1BA3F7E1-D7EE-BEFC-4DCA-A57D04D75D26}"/>
              </a:ext>
            </a:extLst>
          </p:cNvPr>
          <p:cNvSpPr txBox="1"/>
          <p:nvPr/>
        </p:nvSpPr>
        <p:spPr>
          <a:xfrm>
            <a:off x="1220153" y="2076450"/>
            <a:ext cx="11581447" cy="447675"/>
          </a:xfrm>
          <a:prstGeom prst="rect">
            <a:avLst/>
          </a:prstGeom>
          <a:noFill/>
        </p:spPr>
        <p:txBody>
          <a:bodyPr wrap="square" lIns="0" tIns="0" rIns="0" bIns="0" anchor="t">
            <a:spAutoFit/>
          </a:bodyPr>
          <a:lstStyle/>
          <a:p>
            <a:pPr algn="l"/>
            <a:r>
              <a:rPr sz="2850" b="1" i="0" u="none">
                <a:solidFill>
                  <a:srgbClr val="FFFFFF"/>
                </a:solidFill>
                <a:latin typeface="Inter"/>
              </a:rPr>
              <a:t>Batch Ingestion with Apache NiFi</a:t>
            </a:r>
          </a:p>
        </p:txBody>
      </p:sp>
      <p:sp>
        <p:nvSpPr>
          <p:cNvPr id="35" name="Rectangle 34">
            <a:extLst>
              <a:ext uri="{FF2B5EF4-FFF2-40B4-BE49-F238E27FC236}">
                <a16:creationId xmlns:a16="http://schemas.microsoft.com/office/drawing/2014/main" id="{288A4AF1-EC32-AE7C-8A0F-E4CB83D2695D}"/>
              </a:ext>
            </a:extLst>
          </p:cNvPr>
          <p:cNvSpPr/>
          <p:nvPr/>
        </p:nvSpPr>
        <p:spPr>
          <a:xfrm>
            <a:off x="1220153" y="2657475"/>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a:extLst>
              <a:ext uri="{FF2B5EF4-FFF2-40B4-BE49-F238E27FC236}">
                <a16:creationId xmlns:a16="http://schemas.microsoft.com/office/drawing/2014/main" id="{B44465D2-10AA-7D06-ED29-D4DB1443B9B0}"/>
              </a:ext>
            </a:extLst>
          </p:cNvPr>
          <p:cNvSpPr/>
          <p:nvPr/>
        </p:nvSpPr>
        <p:spPr>
          <a:xfrm>
            <a:off x="1414264" y="8183304"/>
            <a:ext cx="38100" cy="6477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461577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B7A06377-54EF-B03E-3891-134DB5CEC6C5}"/>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ED6E6311-3B75-4513-CB6E-0518D9C18965}"/>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40" name="Picture 39" descr="nifi_flow.png">
            <a:extLst>
              <a:ext uri="{FF2B5EF4-FFF2-40B4-BE49-F238E27FC236}">
                <a16:creationId xmlns:a16="http://schemas.microsoft.com/office/drawing/2014/main" id="{BB10CA12-5AEE-FD78-D8A9-1CA359B35779}"/>
              </a:ext>
            </a:extLst>
          </p:cNvPr>
          <p:cNvPicPr>
            <a:picLocks noChangeAspect="1"/>
          </p:cNvPicPr>
          <p:nvPr/>
        </p:nvPicPr>
        <p:blipFill>
          <a:blip r:embed="rId3"/>
          <a:stretch>
            <a:fillRect/>
          </a:stretch>
        </p:blipFill>
        <p:spPr>
          <a:xfrm>
            <a:off x="2770632" y="2103120"/>
            <a:ext cx="13021056" cy="7315200"/>
          </a:xfrm>
          <a:prstGeom prst="rect">
            <a:avLst/>
          </a:prstGeom>
        </p:spPr>
      </p:pic>
    </p:spTree>
    <p:extLst>
      <p:ext uri="{BB962C8B-B14F-4D97-AF65-F5344CB8AC3E}">
        <p14:creationId xmlns:p14="http://schemas.microsoft.com/office/powerpoint/2010/main" val="3333686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04BAD2AF-C806-4816-5559-24247B853158}"/>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8EF77F78-43E6-0144-D39F-FD21C72DEE40}"/>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sp>
        <p:nvSpPr>
          <p:cNvPr id="40" name="TextBox 39"/>
          <p:cNvSpPr txBox="1"/>
          <p:nvPr/>
        </p:nvSpPr>
        <p:spPr>
          <a:xfrm>
            <a:off x="640080" y="1965960"/>
            <a:ext cx="17007840" cy="457200"/>
          </a:xfrm>
          <a:prstGeom prst="rect">
            <a:avLst/>
          </a:prstGeom>
          <a:noFill/>
        </p:spPr>
        <p:txBody>
          <a:bodyPr wrap="none" lIns="0" tIns="0">
            <a:spAutoFit/>
          </a:bodyPr>
          <a:lstStyle/>
          <a:p>
            <a:r>
              <a:rPr sz="2000" b="1">
                <a:solidFill>
                  <a:srgbClr val="C7D2EE"/>
                </a:solidFill>
                <a:latin typeface="Arial"/>
              </a:rPr>
              <a:t>Batch Ingestion Flow — Live NiFi Canvas</a:t>
            </a:r>
          </a:p>
        </p:txBody>
      </p:sp>
      <p:pic>
        <p:nvPicPr>
          <p:cNvPr id="41" name="Picture 40" descr="Nifi Screenshpt.jpeg"/>
          <p:cNvPicPr>
            <a:picLocks noChangeAspect="1"/>
          </p:cNvPicPr>
          <p:nvPr/>
        </p:nvPicPr>
        <p:blipFill>
          <a:blip r:embed="rId2"/>
          <a:stretch>
            <a:fillRect/>
          </a:stretch>
        </p:blipFill>
        <p:spPr>
          <a:xfrm>
            <a:off x="2964446" y="2514600"/>
            <a:ext cx="12359107" cy="6903720"/>
          </a:xfrm>
          <a:prstGeom prst="rect">
            <a:avLst/>
          </a:prstGeom>
        </p:spPr>
      </p:pic>
    </p:spTree>
    <p:extLst>
      <p:ext uri="{BB962C8B-B14F-4D97-AF65-F5344CB8AC3E}">
        <p14:creationId xmlns:p14="http://schemas.microsoft.com/office/powerpoint/2010/main" val="3546622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B708A3CC-9B54-DA41-1AA1-B49D475A90CF}"/>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E152B6AB-4456-EAEF-B0D9-A7EAF154D1D4}"/>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F3DCE67A-5F47-AE50-CCCD-AAA898934E20}"/>
              </a:ext>
            </a:extLst>
          </p:cNvPr>
          <p:cNvSpPr txBox="1"/>
          <p:nvPr/>
        </p:nvSpPr>
        <p:spPr>
          <a:xfrm>
            <a:off x="1020380" y="2318891"/>
            <a:ext cx="8961820" cy="661720"/>
          </a:xfrm>
          <a:prstGeom prst="rect">
            <a:avLst/>
          </a:prstGeom>
          <a:noFill/>
        </p:spPr>
        <p:txBody>
          <a:bodyPr wrap="square" lIns="0" tIns="0">
            <a:spAutoFit/>
          </a:bodyPr>
          <a:lstStyle/>
          <a:p>
            <a:r>
              <a:rPr lang="en-US" sz="4000" b="1" dirty="0">
                <a:solidFill>
                  <a:srgbClr val="FFFFFF"/>
                </a:solidFill>
                <a:latin typeface="Inter"/>
              </a:rPr>
              <a:t>Batch Transformation with </a:t>
            </a:r>
            <a:r>
              <a:rPr lang="en-US" sz="4000" b="1" dirty="0" err="1">
                <a:solidFill>
                  <a:srgbClr val="FFFFFF"/>
                </a:solidFill>
                <a:latin typeface="Inter"/>
              </a:rPr>
              <a:t>PySpark</a:t>
            </a:r>
            <a:endParaRPr lang="en-US" sz="4000" b="1" dirty="0">
              <a:solidFill>
                <a:srgbClr val="FFFFFF"/>
              </a:solidFill>
              <a:latin typeface="Inter"/>
            </a:endParaRPr>
          </a:p>
        </p:txBody>
      </p:sp>
      <p:pic>
        <p:nvPicPr>
          <p:cNvPr id="3" name="Picture 2" descr="image.png">
            <a:extLst>
              <a:ext uri="{FF2B5EF4-FFF2-40B4-BE49-F238E27FC236}">
                <a16:creationId xmlns:a16="http://schemas.microsoft.com/office/drawing/2014/main" id="{BC85BEA1-D030-C84B-037E-39CA44B8E5D9}"/>
              </a:ext>
            </a:extLst>
          </p:cNvPr>
          <p:cNvPicPr>
            <a:picLocks noChangeAspect="1"/>
          </p:cNvPicPr>
          <p:nvPr/>
        </p:nvPicPr>
        <p:blipFill>
          <a:blip r:embed="rId2"/>
          <a:stretch>
            <a:fillRect/>
          </a:stretch>
        </p:blipFill>
        <p:spPr>
          <a:xfrm>
            <a:off x="2838450" y="3324225"/>
            <a:ext cx="11029950" cy="3267075"/>
          </a:xfrm>
          <a:prstGeom prst="rect">
            <a:avLst/>
          </a:prstGeom>
        </p:spPr>
      </p:pic>
      <p:pic>
        <p:nvPicPr>
          <p:cNvPr id="7" name="Picture 6" descr="image.png">
            <a:extLst>
              <a:ext uri="{FF2B5EF4-FFF2-40B4-BE49-F238E27FC236}">
                <a16:creationId xmlns:a16="http://schemas.microsoft.com/office/drawing/2014/main" id="{C36C57E3-F11A-6D71-23F1-078768A3B53C}"/>
              </a:ext>
            </a:extLst>
          </p:cNvPr>
          <p:cNvPicPr>
            <a:picLocks noChangeAspect="1"/>
          </p:cNvPicPr>
          <p:nvPr/>
        </p:nvPicPr>
        <p:blipFill>
          <a:blip r:embed="rId3"/>
          <a:stretch>
            <a:fillRect/>
          </a:stretch>
        </p:blipFill>
        <p:spPr>
          <a:xfrm>
            <a:off x="3228975" y="4257675"/>
            <a:ext cx="1745009" cy="495300"/>
          </a:xfrm>
          <a:prstGeom prst="rect">
            <a:avLst/>
          </a:prstGeom>
        </p:spPr>
      </p:pic>
      <p:pic>
        <p:nvPicPr>
          <p:cNvPr id="9" name="Picture 8" descr="image.png">
            <a:extLst>
              <a:ext uri="{FF2B5EF4-FFF2-40B4-BE49-F238E27FC236}">
                <a16:creationId xmlns:a16="http://schemas.microsoft.com/office/drawing/2014/main" id="{070E9B3D-3BB4-0A46-A325-D0A38DC0CE0B}"/>
              </a:ext>
            </a:extLst>
          </p:cNvPr>
          <p:cNvPicPr>
            <a:picLocks noChangeAspect="1"/>
          </p:cNvPicPr>
          <p:nvPr/>
        </p:nvPicPr>
        <p:blipFill>
          <a:blip r:embed="rId4"/>
          <a:stretch>
            <a:fillRect/>
          </a:stretch>
        </p:blipFill>
        <p:spPr>
          <a:xfrm>
            <a:off x="5354984" y="4257675"/>
            <a:ext cx="1745009" cy="495300"/>
          </a:xfrm>
          <a:prstGeom prst="rect">
            <a:avLst/>
          </a:prstGeom>
        </p:spPr>
      </p:pic>
      <p:pic>
        <p:nvPicPr>
          <p:cNvPr id="11" name="Picture 10" descr="image.png">
            <a:extLst>
              <a:ext uri="{FF2B5EF4-FFF2-40B4-BE49-F238E27FC236}">
                <a16:creationId xmlns:a16="http://schemas.microsoft.com/office/drawing/2014/main" id="{CBEC59DC-8276-B9F8-D2EC-4D8B1FE2CC07}"/>
              </a:ext>
            </a:extLst>
          </p:cNvPr>
          <p:cNvPicPr>
            <a:picLocks noChangeAspect="1"/>
          </p:cNvPicPr>
          <p:nvPr/>
        </p:nvPicPr>
        <p:blipFill>
          <a:blip r:embed="rId5"/>
          <a:stretch>
            <a:fillRect/>
          </a:stretch>
        </p:blipFill>
        <p:spPr>
          <a:xfrm>
            <a:off x="7480994" y="4257675"/>
            <a:ext cx="1745009" cy="495300"/>
          </a:xfrm>
          <a:prstGeom prst="rect">
            <a:avLst/>
          </a:prstGeom>
        </p:spPr>
      </p:pic>
      <p:pic>
        <p:nvPicPr>
          <p:cNvPr id="13" name="Picture 12" descr="image.png">
            <a:extLst>
              <a:ext uri="{FF2B5EF4-FFF2-40B4-BE49-F238E27FC236}">
                <a16:creationId xmlns:a16="http://schemas.microsoft.com/office/drawing/2014/main" id="{05BFD401-3B92-0C6D-92BA-21C5AC97FBA8}"/>
              </a:ext>
            </a:extLst>
          </p:cNvPr>
          <p:cNvPicPr>
            <a:picLocks noChangeAspect="1"/>
          </p:cNvPicPr>
          <p:nvPr/>
        </p:nvPicPr>
        <p:blipFill>
          <a:blip r:embed="rId6"/>
          <a:stretch>
            <a:fillRect/>
          </a:stretch>
        </p:blipFill>
        <p:spPr>
          <a:xfrm>
            <a:off x="9607004" y="4162425"/>
            <a:ext cx="1745009" cy="685800"/>
          </a:xfrm>
          <a:prstGeom prst="rect">
            <a:avLst/>
          </a:prstGeom>
        </p:spPr>
      </p:pic>
      <p:pic>
        <p:nvPicPr>
          <p:cNvPr id="15" name="Picture 14" descr="image.png">
            <a:extLst>
              <a:ext uri="{FF2B5EF4-FFF2-40B4-BE49-F238E27FC236}">
                <a16:creationId xmlns:a16="http://schemas.microsoft.com/office/drawing/2014/main" id="{D2ACED58-B1BA-1DE3-EE4D-F928E8F5060F}"/>
              </a:ext>
            </a:extLst>
          </p:cNvPr>
          <p:cNvPicPr>
            <a:picLocks noChangeAspect="1"/>
          </p:cNvPicPr>
          <p:nvPr/>
        </p:nvPicPr>
        <p:blipFill>
          <a:blip r:embed="rId7"/>
          <a:stretch>
            <a:fillRect/>
          </a:stretch>
        </p:blipFill>
        <p:spPr>
          <a:xfrm>
            <a:off x="11733014" y="4257675"/>
            <a:ext cx="1745009" cy="495300"/>
          </a:xfrm>
          <a:prstGeom prst="rect">
            <a:avLst/>
          </a:prstGeom>
        </p:spPr>
      </p:pic>
      <p:sp>
        <p:nvSpPr>
          <p:cNvPr id="17" name="TextBox 16">
            <a:extLst>
              <a:ext uri="{FF2B5EF4-FFF2-40B4-BE49-F238E27FC236}">
                <a16:creationId xmlns:a16="http://schemas.microsoft.com/office/drawing/2014/main" id="{7F18FAE2-0EC5-5348-0365-AFB5405DE701}"/>
              </a:ext>
            </a:extLst>
          </p:cNvPr>
          <p:cNvSpPr txBox="1"/>
          <p:nvPr/>
        </p:nvSpPr>
        <p:spPr>
          <a:xfrm>
            <a:off x="5069234" y="4391025"/>
            <a:ext cx="190500" cy="307777"/>
          </a:xfrm>
          <a:prstGeom prst="rect">
            <a:avLst/>
          </a:prstGeom>
          <a:noFill/>
        </p:spPr>
        <p:txBody>
          <a:bodyPr wrap="square" lIns="0" tIns="0" rIns="0" bIns="0" anchor="t">
            <a:spAutoFit/>
          </a:bodyPr>
          <a:lstStyle/>
          <a:p>
            <a:pPr algn="l"/>
            <a:r>
              <a:rPr sz="2000" b="0" i="0" u="none">
                <a:solidFill>
                  <a:srgbClr val="64748B"/>
                </a:solidFill>
                <a:latin typeface="Inter"/>
              </a:rPr>
              <a:t>→</a:t>
            </a:r>
          </a:p>
        </p:txBody>
      </p:sp>
      <p:sp>
        <p:nvSpPr>
          <p:cNvPr id="19" name="TextBox 18">
            <a:extLst>
              <a:ext uri="{FF2B5EF4-FFF2-40B4-BE49-F238E27FC236}">
                <a16:creationId xmlns:a16="http://schemas.microsoft.com/office/drawing/2014/main" id="{5469222C-9A78-A162-A3D7-4244D2923F14}"/>
              </a:ext>
            </a:extLst>
          </p:cNvPr>
          <p:cNvSpPr txBox="1"/>
          <p:nvPr/>
        </p:nvSpPr>
        <p:spPr>
          <a:xfrm>
            <a:off x="7195244" y="4391025"/>
            <a:ext cx="190500" cy="307777"/>
          </a:xfrm>
          <a:prstGeom prst="rect">
            <a:avLst/>
          </a:prstGeom>
          <a:noFill/>
        </p:spPr>
        <p:txBody>
          <a:bodyPr wrap="square" lIns="0" tIns="0" rIns="0" bIns="0" anchor="t">
            <a:spAutoFit/>
          </a:bodyPr>
          <a:lstStyle/>
          <a:p>
            <a:pPr algn="l"/>
            <a:r>
              <a:rPr sz="2000" b="0" i="0" u="none" dirty="0">
                <a:solidFill>
                  <a:srgbClr val="64748B"/>
                </a:solidFill>
                <a:latin typeface="Inter"/>
              </a:rPr>
              <a:t>→</a:t>
            </a:r>
          </a:p>
        </p:txBody>
      </p:sp>
      <p:sp>
        <p:nvSpPr>
          <p:cNvPr id="21" name="TextBox 20">
            <a:extLst>
              <a:ext uri="{FF2B5EF4-FFF2-40B4-BE49-F238E27FC236}">
                <a16:creationId xmlns:a16="http://schemas.microsoft.com/office/drawing/2014/main" id="{76210E1F-FF40-D546-FE63-4BBC35A90C57}"/>
              </a:ext>
            </a:extLst>
          </p:cNvPr>
          <p:cNvSpPr txBox="1"/>
          <p:nvPr/>
        </p:nvSpPr>
        <p:spPr>
          <a:xfrm>
            <a:off x="9321254" y="4391025"/>
            <a:ext cx="190500" cy="307777"/>
          </a:xfrm>
          <a:prstGeom prst="rect">
            <a:avLst/>
          </a:prstGeom>
          <a:noFill/>
        </p:spPr>
        <p:txBody>
          <a:bodyPr wrap="square" lIns="0" tIns="0" rIns="0" bIns="0" anchor="t">
            <a:spAutoFit/>
          </a:bodyPr>
          <a:lstStyle/>
          <a:p>
            <a:pPr algn="l"/>
            <a:r>
              <a:rPr sz="2000" b="0" i="0" u="none">
                <a:solidFill>
                  <a:srgbClr val="64748B"/>
                </a:solidFill>
                <a:latin typeface="Inter"/>
              </a:rPr>
              <a:t>→</a:t>
            </a:r>
          </a:p>
        </p:txBody>
      </p:sp>
      <p:sp>
        <p:nvSpPr>
          <p:cNvPr id="23" name="TextBox 22">
            <a:extLst>
              <a:ext uri="{FF2B5EF4-FFF2-40B4-BE49-F238E27FC236}">
                <a16:creationId xmlns:a16="http://schemas.microsoft.com/office/drawing/2014/main" id="{79CE90E3-C940-6F49-58CF-0128800F6188}"/>
              </a:ext>
            </a:extLst>
          </p:cNvPr>
          <p:cNvSpPr txBox="1"/>
          <p:nvPr/>
        </p:nvSpPr>
        <p:spPr>
          <a:xfrm>
            <a:off x="11447264" y="4391025"/>
            <a:ext cx="190500" cy="307777"/>
          </a:xfrm>
          <a:prstGeom prst="rect">
            <a:avLst/>
          </a:prstGeom>
          <a:noFill/>
        </p:spPr>
        <p:txBody>
          <a:bodyPr wrap="square" lIns="0" tIns="0" rIns="0" bIns="0" anchor="t">
            <a:spAutoFit/>
          </a:bodyPr>
          <a:lstStyle/>
          <a:p>
            <a:pPr algn="l"/>
            <a:r>
              <a:rPr sz="2000" b="0" i="0" u="none">
                <a:solidFill>
                  <a:srgbClr val="64748B"/>
                </a:solidFill>
                <a:latin typeface="Inter"/>
              </a:rPr>
              <a:t>→</a:t>
            </a:r>
          </a:p>
        </p:txBody>
      </p:sp>
      <p:sp>
        <p:nvSpPr>
          <p:cNvPr id="25" name="TextBox 24">
            <a:extLst>
              <a:ext uri="{FF2B5EF4-FFF2-40B4-BE49-F238E27FC236}">
                <a16:creationId xmlns:a16="http://schemas.microsoft.com/office/drawing/2014/main" id="{FF86194B-2838-B054-40DE-65B1A37D3DE2}"/>
              </a:ext>
            </a:extLst>
          </p:cNvPr>
          <p:cNvSpPr txBox="1"/>
          <p:nvPr/>
        </p:nvSpPr>
        <p:spPr>
          <a:xfrm>
            <a:off x="3228975" y="5387876"/>
            <a:ext cx="10610850" cy="514350"/>
          </a:xfrm>
          <a:prstGeom prst="rect">
            <a:avLst/>
          </a:prstGeom>
          <a:noFill/>
        </p:spPr>
        <p:txBody>
          <a:bodyPr wrap="square" lIns="0" tIns="0" rIns="0" bIns="0" anchor="t">
            <a:spAutoFit/>
          </a:bodyPr>
          <a:lstStyle/>
          <a:p>
            <a:pPr algn="l">
              <a:lnSpc>
                <a:spcPts val="2025"/>
              </a:lnSpc>
            </a:pPr>
            <a:r>
              <a:rPr sz="2000" b="0" i="0" u="none" dirty="0">
                <a:solidFill>
                  <a:srgbClr val="94A3B8"/>
                </a:solidFill>
                <a:latin typeface="Inter"/>
              </a:rPr>
              <a:t>The batch output schema is intentionally shaped to match the streaming output schema. </a:t>
            </a:r>
            <a:r>
              <a:rPr sz="2000" b="1" i="0" u="none" dirty="0">
                <a:solidFill>
                  <a:srgbClr val="94A3B8"/>
                </a:solidFill>
                <a:latin typeface="Inter"/>
              </a:rPr>
              <a:t>Schema consistency is critical</a:t>
            </a:r>
            <a:r>
              <a:rPr sz="2000" b="0" i="0" u="none" dirty="0">
                <a:solidFill>
                  <a:srgbClr val="94A3B8"/>
                </a:solidFill>
                <a:latin typeface="Inter"/>
              </a:rPr>
              <a:t> because both ingestion paths are ultimately UNIONED into a single Silver layer.</a:t>
            </a:r>
          </a:p>
        </p:txBody>
      </p:sp>
      <p:sp>
        <p:nvSpPr>
          <p:cNvPr id="27" name="Rectangle 26">
            <a:extLst>
              <a:ext uri="{FF2B5EF4-FFF2-40B4-BE49-F238E27FC236}">
                <a16:creationId xmlns:a16="http://schemas.microsoft.com/office/drawing/2014/main" id="{8242A8D7-6412-D526-9C64-B4E364F86963}"/>
              </a:ext>
            </a:extLst>
          </p:cNvPr>
          <p:cNvSpPr/>
          <p:nvPr/>
        </p:nvSpPr>
        <p:spPr>
          <a:xfrm>
            <a:off x="2838450" y="2200275"/>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35" name="Picture 34">
            <a:extLst>
              <a:ext uri="{FF2B5EF4-FFF2-40B4-BE49-F238E27FC236}">
                <a16:creationId xmlns:a16="http://schemas.microsoft.com/office/drawing/2014/main" id="{839182C6-A6E4-2F98-581A-39E0E9847806}"/>
              </a:ext>
            </a:extLst>
          </p:cNvPr>
          <p:cNvPicPr>
            <a:picLocks noChangeAspect="1"/>
          </p:cNvPicPr>
          <p:nvPr/>
        </p:nvPicPr>
        <p:blipFill>
          <a:blip r:embed="rId8"/>
          <a:stretch>
            <a:fillRect/>
          </a:stretch>
        </p:blipFill>
        <p:spPr>
          <a:xfrm>
            <a:off x="1143000" y="3009900"/>
            <a:ext cx="11029950" cy="9525"/>
          </a:xfrm>
          <a:prstGeom prst="rect">
            <a:avLst/>
          </a:prstGeom>
        </p:spPr>
      </p:pic>
    </p:spTree>
    <p:extLst>
      <p:ext uri="{BB962C8B-B14F-4D97-AF65-F5344CB8AC3E}">
        <p14:creationId xmlns:p14="http://schemas.microsoft.com/office/powerpoint/2010/main" val="2329969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9A6A4E17-4615-0AC8-2097-186BEA90EF53}"/>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B27D52DD-F151-AC02-0609-3098DA39E56D}"/>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57" name="Picture 56" descr="image.png">
            <a:extLst>
              <a:ext uri="{FF2B5EF4-FFF2-40B4-BE49-F238E27FC236}">
                <a16:creationId xmlns:a16="http://schemas.microsoft.com/office/drawing/2014/main" id="{DEBF32EA-9A7F-288A-F339-69DF15DEB21B}"/>
              </a:ext>
            </a:extLst>
          </p:cNvPr>
          <p:cNvPicPr>
            <a:picLocks noChangeAspect="1"/>
          </p:cNvPicPr>
          <p:nvPr/>
        </p:nvPicPr>
        <p:blipFill>
          <a:blip r:embed="rId2"/>
          <a:stretch>
            <a:fillRect/>
          </a:stretch>
        </p:blipFill>
        <p:spPr>
          <a:xfrm>
            <a:off x="10768012" y="3126316"/>
            <a:ext cx="6858000" cy="3770868"/>
          </a:xfrm>
          <a:prstGeom prst="rect">
            <a:avLst/>
          </a:prstGeom>
        </p:spPr>
      </p:pic>
      <p:pic>
        <p:nvPicPr>
          <p:cNvPr id="59" name="Picture 58" descr="image.png">
            <a:extLst>
              <a:ext uri="{FF2B5EF4-FFF2-40B4-BE49-F238E27FC236}">
                <a16:creationId xmlns:a16="http://schemas.microsoft.com/office/drawing/2014/main" id="{AA43B0BA-956C-7C63-B933-C10D8E22FFA4}"/>
              </a:ext>
            </a:extLst>
          </p:cNvPr>
          <p:cNvPicPr>
            <a:picLocks noChangeAspect="1"/>
          </p:cNvPicPr>
          <p:nvPr/>
        </p:nvPicPr>
        <p:blipFill>
          <a:blip r:embed="rId3"/>
          <a:stretch>
            <a:fillRect/>
          </a:stretch>
        </p:blipFill>
        <p:spPr>
          <a:xfrm>
            <a:off x="11982450" y="3895725"/>
            <a:ext cx="4543425" cy="495300"/>
          </a:xfrm>
          <a:prstGeom prst="rect">
            <a:avLst/>
          </a:prstGeom>
        </p:spPr>
      </p:pic>
      <p:pic>
        <p:nvPicPr>
          <p:cNvPr id="61" name="Picture 60" descr="image.png">
            <a:extLst>
              <a:ext uri="{FF2B5EF4-FFF2-40B4-BE49-F238E27FC236}">
                <a16:creationId xmlns:a16="http://schemas.microsoft.com/office/drawing/2014/main" id="{66A8BE2A-37A3-2898-06DB-BA2CA38469A3}"/>
              </a:ext>
            </a:extLst>
          </p:cNvPr>
          <p:cNvPicPr>
            <a:picLocks noChangeAspect="1"/>
          </p:cNvPicPr>
          <p:nvPr/>
        </p:nvPicPr>
        <p:blipFill>
          <a:blip r:embed="rId4"/>
          <a:stretch>
            <a:fillRect/>
          </a:stretch>
        </p:blipFill>
        <p:spPr>
          <a:xfrm>
            <a:off x="11982450" y="4772025"/>
            <a:ext cx="4543425" cy="495300"/>
          </a:xfrm>
          <a:prstGeom prst="rect">
            <a:avLst/>
          </a:prstGeom>
        </p:spPr>
      </p:pic>
      <p:pic>
        <p:nvPicPr>
          <p:cNvPr id="63" name="Picture 62" descr="image.png">
            <a:extLst>
              <a:ext uri="{FF2B5EF4-FFF2-40B4-BE49-F238E27FC236}">
                <a16:creationId xmlns:a16="http://schemas.microsoft.com/office/drawing/2014/main" id="{C4251F22-53C3-7FCC-98DC-7CB69AC36694}"/>
              </a:ext>
            </a:extLst>
          </p:cNvPr>
          <p:cNvPicPr>
            <a:picLocks noChangeAspect="1"/>
          </p:cNvPicPr>
          <p:nvPr/>
        </p:nvPicPr>
        <p:blipFill>
          <a:blip r:embed="rId5"/>
          <a:stretch>
            <a:fillRect/>
          </a:stretch>
        </p:blipFill>
        <p:spPr>
          <a:xfrm>
            <a:off x="11982450" y="5648325"/>
            <a:ext cx="4543425" cy="495300"/>
          </a:xfrm>
          <a:prstGeom prst="rect">
            <a:avLst/>
          </a:prstGeom>
        </p:spPr>
      </p:pic>
      <p:sp>
        <p:nvSpPr>
          <p:cNvPr id="65" name="TextBox 64">
            <a:extLst>
              <a:ext uri="{FF2B5EF4-FFF2-40B4-BE49-F238E27FC236}">
                <a16:creationId xmlns:a16="http://schemas.microsoft.com/office/drawing/2014/main" id="{52B1975F-1AFE-499D-9F73-4D38BD6A4172}"/>
              </a:ext>
            </a:extLst>
          </p:cNvPr>
          <p:cNvSpPr txBox="1"/>
          <p:nvPr/>
        </p:nvSpPr>
        <p:spPr>
          <a:xfrm>
            <a:off x="1316244" y="3522020"/>
            <a:ext cx="5590698" cy="492443"/>
          </a:xfrm>
          <a:prstGeom prst="rect">
            <a:avLst/>
          </a:prstGeom>
          <a:noFill/>
        </p:spPr>
        <p:txBody>
          <a:bodyPr wrap="square" lIns="0" tIns="0" rIns="0" bIns="0" anchor="t">
            <a:spAutoFit/>
          </a:bodyPr>
          <a:lstStyle/>
          <a:p>
            <a:pPr algn="l"/>
            <a:r>
              <a:rPr sz="3200" b="1" i="0" u="none" dirty="0">
                <a:solidFill>
                  <a:schemeClr val="bg1"/>
                </a:solidFill>
                <a:latin typeface="Inter"/>
              </a:rPr>
              <a:t>Simulating Live Operations</a:t>
            </a:r>
          </a:p>
        </p:txBody>
      </p:sp>
      <p:sp>
        <p:nvSpPr>
          <p:cNvPr id="67" name="TextBox 66">
            <a:extLst>
              <a:ext uri="{FF2B5EF4-FFF2-40B4-BE49-F238E27FC236}">
                <a16:creationId xmlns:a16="http://schemas.microsoft.com/office/drawing/2014/main" id="{910064C3-60A1-DC13-6E81-B69D41D18C98}"/>
              </a:ext>
            </a:extLst>
          </p:cNvPr>
          <p:cNvSpPr txBox="1"/>
          <p:nvPr/>
        </p:nvSpPr>
        <p:spPr>
          <a:xfrm>
            <a:off x="1316244" y="4425923"/>
            <a:ext cx="8818356" cy="530082"/>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The final month of the dataset (December 2014) is replayed through a Python producer to simulate real-time incoming rider events.</a:t>
            </a:r>
          </a:p>
        </p:txBody>
      </p:sp>
      <p:sp>
        <p:nvSpPr>
          <p:cNvPr id="69" name="TextBox 68">
            <a:extLst>
              <a:ext uri="{FF2B5EF4-FFF2-40B4-BE49-F238E27FC236}">
                <a16:creationId xmlns:a16="http://schemas.microsoft.com/office/drawing/2014/main" id="{F163FBDA-0B1E-DD72-6945-0E9ABA49719E}"/>
              </a:ext>
            </a:extLst>
          </p:cNvPr>
          <p:cNvSpPr txBox="1"/>
          <p:nvPr/>
        </p:nvSpPr>
        <p:spPr>
          <a:xfrm>
            <a:off x="1316244" y="5335132"/>
            <a:ext cx="8818356" cy="273601"/>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Controlled pacing (e.g., 1.5 seconds per trip record).</a:t>
            </a:r>
          </a:p>
        </p:txBody>
      </p:sp>
      <p:sp>
        <p:nvSpPr>
          <p:cNvPr id="71" name="TextBox 70">
            <a:extLst>
              <a:ext uri="{FF2B5EF4-FFF2-40B4-BE49-F238E27FC236}">
                <a16:creationId xmlns:a16="http://schemas.microsoft.com/office/drawing/2014/main" id="{73BF2319-3C50-AF3F-4299-7E5D41E16F65}"/>
              </a:ext>
            </a:extLst>
          </p:cNvPr>
          <p:cNvSpPr txBox="1"/>
          <p:nvPr/>
        </p:nvSpPr>
        <p:spPr>
          <a:xfrm>
            <a:off x="1316244" y="6116158"/>
            <a:ext cx="8818356" cy="273601"/>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Kafka acts as the decoupled distributed message broker.</a:t>
            </a:r>
          </a:p>
        </p:txBody>
      </p:sp>
      <p:sp>
        <p:nvSpPr>
          <p:cNvPr id="73" name="TextBox 72">
            <a:extLst>
              <a:ext uri="{FF2B5EF4-FFF2-40B4-BE49-F238E27FC236}">
                <a16:creationId xmlns:a16="http://schemas.microsoft.com/office/drawing/2014/main" id="{3AECD78A-C649-107F-8870-753EEF1D8BD1}"/>
              </a:ext>
            </a:extLst>
          </p:cNvPr>
          <p:cNvSpPr txBox="1"/>
          <p:nvPr/>
        </p:nvSpPr>
        <p:spPr>
          <a:xfrm>
            <a:off x="1316243" y="6897184"/>
            <a:ext cx="7827757" cy="273601"/>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Spark Structured Streaming processes events in micro-batches.</a:t>
            </a:r>
          </a:p>
        </p:txBody>
      </p:sp>
      <p:pic>
        <p:nvPicPr>
          <p:cNvPr id="75" name="Picture 74" descr="image.png">
            <a:extLst>
              <a:ext uri="{FF2B5EF4-FFF2-40B4-BE49-F238E27FC236}">
                <a16:creationId xmlns:a16="http://schemas.microsoft.com/office/drawing/2014/main" id="{496F6F50-7F90-344B-9FC3-DCB83A5B0BA1}"/>
              </a:ext>
            </a:extLst>
          </p:cNvPr>
          <p:cNvPicPr>
            <a:picLocks noChangeAspect="1"/>
          </p:cNvPicPr>
          <p:nvPr/>
        </p:nvPicPr>
        <p:blipFill>
          <a:blip r:embed="rId6"/>
          <a:stretch>
            <a:fillRect/>
          </a:stretch>
        </p:blipFill>
        <p:spPr>
          <a:xfrm>
            <a:off x="14197012" y="4505325"/>
            <a:ext cx="114300" cy="152400"/>
          </a:xfrm>
          <a:prstGeom prst="rect">
            <a:avLst/>
          </a:prstGeom>
        </p:spPr>
      </p:pic>
      <p:pic>
        <p:nvPicPr>
          <p:cNvPr id="77" name="Picture 76" descr="image.png">
            <a:extLst>
              <a:ext uri="{FF2B5EF4-FFF2-40B4-BE49-F238E27FC236}">
                <a16:creationId xmlns:a16="http://schemas.microsoft.com/office/drawing/2014/main" id="{C2134804-182A-1B06-C306-D3E2C3A5EFDF}"/>
              </a:ext>
            </a:extLst>
          </p:cNvPr>
          <p:cNvPicPr>
            <a:picLocks noChangeAspect="1"/>
          </p:cNvPicPr>
          <p:nvPr/>
        </p:nvPicPr>
        <p:blipFill>
          <a:blip r:embed="rId6"/>
          <a:stretch>
            <a:fillRect/>
          </a:stretch>
        </p:blipFill>
        <p:spPr>
          <a:xfrm>
            <a:off x="14197012" y="5381625"/>
            <a:ext cx="114300" cy="152400"/>
          </a:xfrm>
          <a:prstGeom prst="rect">
            <a:avLst/>
          </a:prstGeom>
        </p:spPr>
      </p:pic>
      <p:sp>
        <p:nvSpPr>
          <p:cNvPr id="85" name="TextBox 84">
            <a:extLst>
              <a:ext uri="{FF2B5EF4-FFF2-40B4-BE49-F238E27FC236}">
                <a16:creationId xmlns:a16="http://schemas.microsoft.com/office/drawing/2014/main" id="{AAD2B128-5690-B150-F645-52CD5D97AEEE}"/>
              </a:ext>
            </a:extLst>
          </p:cNvPr>
          <p:cNvSpPr txBox="1"/>
          <p:nvPr/>
        </p:nvSpPr>
        <p:spPr>
          <a:xfrm>
            <a:off x="1316243" y="2019300"/>
            <a:ext cx="11581447" cy="677108"/>
          </a:xfrm>
          <a:prstGeom prst="rect">
            <a:avLst/>
          </a:prstGeom>
          <a:noFill/>
        </p:spPr>
        <p:txBody>
          <a:bodyPr wrap="square" lIns="0" tIns="0" rIns="0" bIns="0" anchor="t">
            <a:spAutoFit/>
          </a:bodyPr>
          <a:lstStyle/>
          <a:p>
            <a:pPr algn="l"/>
            <a:r>
              <a:rPr sz="4400" b="1" i="0" u="none" dirty="0">
                <a:solidFill>
                  <a:srgbClr val="FFFFFF"/>
                </a:solidFill>
                <a:latin typeface="Inter"/>
              </a:rPr>
              <a:t>Real-Time Streaming Pipeline</a:t>
            </a:r>
          </a:p>
        </p:txBody>
      </p:sp>
      <p:sp>
        <p:nvSpPr>
          <p:cNvPr id="93" name="Rectangle 92">
            <a:extLst>
              <a:ext uri="{FF2B5EF4-FFF2-40B4-BE49-F238E27FC236}">
                <a16:creationId xmlns:a16="http://schemas.microsoft.com/office/drawing/2014/main" id="{B92339DD-94C2-30FA-66D8-F9DB1244E254}"/>
              </a:ext>
            </a:extLst>
          </p:cNvPr>
          <p:cNvSpPr/>
          <p:nvPr/>
        </p:nvSpPr>
        <p:spPr>
          <a:xfrm>
            <a:off x="1733550" y="7509272"/>
            <a:ext cx="38100" cy="6477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97" name="Picture 96">
            <a:extLst>
              <a:ext uri="{FF2B5EF4-FFF2-40B4-BE49-F238E27FC236}">
                <a16:creationId xmlns:a16="http://schemas.microsoft.com/office/drawing/2014/main" id="{C88EFF7D-8FC1-A556-0D32-F6E8EC9E4B1E}"/>
              </a:ext>
            </a:extLst>
          </p:cNvPr>
          <p:cNvPicPr>
            <a:picLocks noChangeAspect="1"/>
          </p:cNvPicPr>
          <p:nvPr/>
        </p:nvPicPr>
        <p:blipFill>
          <a:blip r:embed="rId7"/>
          <a:stretch>
            <a:fillRect/>
          </a:stretch>
        </p:blipFill>
        <p:spPr>
          <a:xfrm>
            <a:off x="1295400" y="2732392"/>
            <a:ext cx="11029950" cy="9525"/>
          </a:xfrm>
          <a:prstGeom prst="rect">
            <a:avLst/>
          </a:prstGeom>
        </p:spPr>
      </p:pic>
    </p:spTree>
    <p:extLst>
      <p:ext uri="{BB962C8B-B14F-4D97-AF65-F5344CB8AC3E}">
        <p14:creationId xmlns:p14="http://schemas.microsoft.com/office/powerpoint/2010/main" val="3898571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00DDED64-97D4-0A45-2715-B661DED3A145}"/>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25C2C53F-7BEF-8100-70D1-427CC23A28AB}"/>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3" name="Picture 2" descr="image.png">
            <a:extLst>
              <a:ext uri="{FF2B5EF4-FFF2-40B4-BE49-F238E27FC236}">
                <a16:creationId xmlns:a16="http://schemas.microsoft.com/office/drawing/2014/main" id="{06799839-F969-4F2C-2936-3DC54CA3E567}"/>
              </a:ext>
            </a:extLst>
          </p:cNvPr>
          <p:cNvPicPr>
            <a:picLocks noChangeAspect="1"/>
          </p:cNvPicPr>
          <p:nvPr/>
        </p:nvPicPr>
        <p:blipFill>
          <a:blip r:embed="rId2"/>
          <a:stretch>
            <a:fillRect/>
          </a:stretch>
        </p:blipFill>
        <p:spPr>
          <a:xfrm>
            <a:off x="3219450" y="6496050"/>
            <a:ext cx="11029950" cy="476250"/>
          </a:xfrm>
          <a:prstGeom prst="rect">
            <a:avLst/>
          </a:prstGeom>
        </p:spPr>
      </p:pic>
      <p:pic>
        <p:nvPicPr>
          <p:cNvPr id="5" name="Picture 4" descr="image.png">
            <a:extLst>
              <a:ext uri="{FF2B5EF4-FFF2-40B4-BE49-F238E27FC236}">
                <a16:creationId xmlns:a16="http://schemas.microsoft.com/office/drawing/2014/main" id="{9384997E-E450-6839-0F77-640F622301CA}"/>
              </a:ext>
            </a:extLst>
          </p:cNvPr>
          <p:cNvPicPr>
            <a:picLocks noChangeAspect="1"/>
          </p:cNvPicPr>
          <p:nvPr/>
        </p:nvPicPr>
        <p:blipFill>
          <a:blip r:embed="rId3"/>
          <a:stretch>
            <a:fillRect/>
          </a:stretch>
        </p:blipFill>
        <p:spPr>
          <a:xfrm>
            <a:off x="3219450" y="3914775"/>
            <a:ext cx="3517850" cy="2295525"/>
          </a:xfrm>
          <a:prstGeom prst="rect">
            <a:avLst/>
          </a:prstGeom>
        </p:spPr>
      </p:pic>
      <p:pic>
        <p:nvPicPr>
          <p:cNvPr id="7" name="Picture 6" descr="image.png">
            <a:extLst>
              <a:ext uri="{FF2B5EF4-FFF2-40B4-BE49-F238E27FC236}">
                <a16:creationId xmlns:a16="http://schemas.microsoft.com/office/drawing/2014/main" id="{B78DB38E-4494-8FBA-877E-26C42281F67B}"/>
              </a:ext>
            </a:extLst>
          </p:cNvPr>
          <p:cNvPicPr>
            <a:picLocks noChangeAspect="1"/>
          </p:cNvPicPr>
          <p:nvPr/>
        </p:nvPicPr>
        <p:blipFill>
          <a:blip r:embed="rId4"/>
          <a:stretch>
            <a:fillRect/>
          </a:stretch>
        </p:blipFill>
        <p:spPr>
          <a:xfrm>
            <a:off x="6975425" y="3914775"/>
            <a:ext cx="3517850" cy="2295525"/>
          </a:xfrm>
          <a:prstGeom prst="rect">
            <a:avLst/>
          </a:prstGeom>
        </p:spPr>
      </p:pic>
      <p:pic>
        <p:nvPicPr>
          <p:cNvPr id="9" name="Picture 8" descr="image.png">
            <a:extLst>
              <a:ext uri="{FF2B5EF4-FFF2-40B4-BE49-F238E27FC236}">
                <a16:creationId xmlns:a16="http://schemas.microsoft.com/office/drawing/2014/main" id="{F2FEEA22-C95F-AD1B-6F45-A6A16208B763}"/>
              </a:ext>
            </a:extLst>
          </p:cNvPr>
          <p:cNvPicPr>
            <a:picLocks noChangeAspect="1"/>
          </p:cNvPicPr>
          <p:nvPr/>
        </p:nvPicPr>
        <p:blipFill>
          <a:blip r:embed="rId5"/>
          <a:stretch>
            <a:fillRect/>
          </a:stretch>
        </p:blipFill>
        <p:spPr>
          <a:xfrm>
            <a:off x="10731400" y="3914775"/>
            <a:ext cx="3517999" cy="2295525"/>
          </a:xfrm>
          <a:prstGeom prst="rect">
            <a:avLst/>
          </a:prstGeom>
        </p:spPr>
      </p:pic>
      <p:pic>
        <p:nvPicPr>
          <p:cNvPr id="11" name="Picture 10" descr="image.png">
            <a:extLst>
              <a:ext uri="{FF2B5EF4-FFF2-40B4-BE49-F238E27FC236}">
                <a16:creationId xmlns:a16="http://schemas.microsoft.com/office/drawing/2014/main" id="{6E6F0DCA-A118-5585-146F-C4031926CB7F}"/>
              </a:ext>
            </a:extLst>
          </p:cNvPr>
          <p:cNvPicPr>
            <a:picLocks noChangeAspect="1"/>
          </p:cNvPicPr>
          <p:nvPr/>
        </p:nvPicPr>
        <p:blipFill>
          <a:blip r:embed="rId6"/>
          <a:stretch>
            <a:fillRect/>
          </a:stretch>
        </p:blipFill>
        <p:spPr>
          <a:xfrm>
            <a:off x="3467100" y="4162425"/>
            <a:ext cx="838200" cy="238125"/>
          </a:xfrm>
          <a:prstGeom prst="rect">
            <a:avLst/>
          </a:prstGeom>
        </p:spPr>
      </p:pic>
      <p:pic>
        <p:nvPicPr>
          <p:cNvPr id="13" name="Picture 12" descr="image.png">
            <a:extLst>
              <a:ext uri="{FF2B5EF4-FFF2-40B4-BE49-F238E27FC236}">
                <a16:creationId xmlns:a16="http://schemas.microsoft.com/office/drawing/2014/main" id="{259B1F88-DAD4-1B41-03FC-C77B4309ACB9}"/>
              </a:ext>
            </a:extLst>
          </p:cNvPr>
          <p:cNvPicPr>
            <a:picLocks noChangeAspect="1"/>
          </p:cNvPicPr>
          <p:nvPr/>
        </p:nvPicPr>
        <p:blipFill>
          <a:blip r:embed="rId7"/>
          <a:stretch>
            <a:fillRect/>
          </a:stretch>
        </p:blipFill>
        <p:spPr>
          <a:xfrm>
            <a:off x="7223075" y="4162425"/>
            <a:ext cx="876300" cy="238125"/>
          </a:xfrm>
          <a:prstGeom prst="rect">
            <a:avLst/>
          </a:prstGeom>
        </p:spPr>
      </p:pic>
      <p:pic>
        <p:nvPicPr>
          <p:cNvPr id="15" name="Picture 14" descr="image.png">
            <a:extLst>
              <a:ext uri="{FF2B5EF4-FFF2-40B4-BE49-F238E27FC236}">
                <a16:creationId xmlns:a16="http://schemas.microsoft.com/office/drawing/2014/main" id="{D78C5AFD-D510-CA63-6EE2-AD7FA5260A3E}"/>
              </a:ext>
            </a:extLst>
          </p:cNvPr>
          <p:cNvPicPr>
            <a:picLocks noChangeAspect="1"/>
          </p:cNvPicPr>
          <p:nvPr/>
        </p:nvPicPr>
        <p:blipFill>
          <a:blip r:embed="rId8"/>
          <a:stretch>
            <a:fillRect/>
          </a:stretch>
        </p:blipFill>
        <p:spPr>
          <a:xfrm>
            <a:off x="10979050" y="4162425"/>
            <a:ext cx="914400" cy="238125"/>
          </a:xfrm>
          <a:prstGeom prst="rect">
            <a:avLst/>
          </a:prstGeom>
        </p:spPr>
      </p:pic>
      <p:sp>
        <p:nvSpPr>
          <p:cNvPr id="17" name="TextBox 16">
            <a:extLst>
              <a:ext uri="{FF2B5EF4-FFF2-40B4-BE49-F238E27FC236}">
                <a16:creationId xmlns:a16="http://schemas.microsoft.com/office/drawing/2014/main" id="{5ECEE215-D86C-6646-4F92-6B763C8E57E5}"/>
              </a:ext>
            </a:extLst>
          </p:cNvPr>
          <p:cNvSpPr txBox="1"/>
          <p:nvPr/>
        </p:nvSpPr>
        <p:spPr>
          <a:xfrm>
            <a:off x="3467100" y="4543425"/>
            <a:ext cx="3173677" cy="307777"/>
          </a:xfrm>
          <a:prstGeom prst="rect">
            <a:avLst/>
          </a:prstGeom>
          <a:noFill/>
        </p:spPr>
        <p:txBody>
          <a:bodyPr wrap="square" lIns="0" tIns="0" rIns="0" bIns="0" anchor="t">
            <a:spAutoFit/>
          </a:bodyPr>
          <a:lstStyle/>
          <a:p>
            <a:pPr algn="ctr"/>
            <a:r>
              <a:rPr sz="2000" b="1" i="0" u="none" dirty="0">
                <a:solidFill>
                  <a:schemeClr val="bg1"/>
                </a:solidFill>
                <a:latin typeface="Inter"/>
              </a:rPr>
              <a:t>Python Producer</a:t>
            </a:r>
          </a:p>
        </p:txBody>
      </p:sp>
      <p:sp>
        <p:nvSpPr>
          <p:cNvPr id="19" name="TextBox 18">
            <a:extLst>
              <a:ext uri="{FF2B5EF4-FFF2-40B4-BE49-F238E27FC236}">
                <a16:creationId xmlns:a16="http://schemas.microsoft.com/office/drawing/2014/main" id="{C57940A3-A42F-5FA4-BE43-80624277EC9C}"/>
              </a:ext>
            </a:extLst>
          </p:cNvPr>
          <p:cNvSpPr txBox="1"/>
          <p:nvPr/>
        </p:nvSpPr>
        <p:spPr>
          <a:xfrm>
            <a:off x="3467100" y="4933950"/>
            <a:ext cx="3022550" cy="1285993"/>
          </a:xfrm>
          <a:prstGeom prst="rect">
            <a:avLst/>
          </a:prstGeom>
          <a:noFill/>
        </p:spPr>
        <p:txBody>
          <a:bodyPr wrap="square" lIns="0" tIns="0" rIns="0" bIns="0" anchor="t">
            <a:spAutoFit/>
          </a:bodyPr>
          <a:lstStyle/>
          <a:p>
            <a:pPr algn="ctr">
              <a:lnSpc>
                <a:spcPts val="2025"/>
              </a:lnSpc>
            </a:pPr>
            <a:r>
              <a:rPr sz="2000" b="0" i="0" u="none" dirty="0">
                <a:solidFill>
                  <a:srgbClr val="94A3B8"/>
                </a:solidFill>
                <a:latin typeface="Inter"/>
              </a:rPr>
              <a:t>Reads `stream_source.csv` row by row and publishes JSON records to Kafka topic `</a:t>
            </a:r>
            <a:r>
              <a:rPr sz="2000" b="0" i="0" u="none" dirty="0" err="1">
                <a:solidFill>
                  <a:srgbClr val="94A3B8"/>
                </a:solidFill>
                <a:latin typeface="Inter"/>
              </a:rPr>
              <a:t>uber_stream_dec</a:t>
            </a:r>
            <a:r>
              <a:rPr sz="2000" b="0" i="0" u="none" dirty="0">
                <a:solidFill>
                  <a:srgbClr val="94A3B8"/>
                </a:solidFill>
                <a:latin typeface="Inter"/>
              </a:rPr>
              <a:t>` at set intervals.</a:t>
            </a:r>
          </a:p>
        </p:txBody>
      </p:sp>
      <p:sp>
        <p:nvSpPr>
          <p:cNvPr id="21" name="TextBox 20">
            <a:extLst>
              <a:ext uri="{FF2B5EF4-FFF2-40B4-BE49-F238E27FC236}">
                <a16:creationId xmlns:a16="http://schemas.microsoft.com/office/drawing/2014/main" id="{4FE2F6C7-7070-3622-21ED-4DF15981007C}"/>
              </a:ext>
            </a:extLst>
          </p:cNvPr>
          <p:cNvSpPr txBox="1"/>
          <p:nvPr/>
        </p:nvSpPr>
        <p:spPr>
          <a:xfrm>
            <a:off x="7223075" y="4543425"/>
            <a:ext cx="3173677" cy="307777"/>
          </a:xfrm>
          <a:prstGeom prst="rect">
            <a:avLst/>
          </a:prstGeom>
          <a:noFill/>
        </p:spPr>
        <p:txBody>
          <a:bodyPr wrap="square" lIns="0" tIns="0" rIns="0" bIns="0" anchor="t">
            <a:spAutoFit/>
          </a:bodyPr>
          <a:lstStyle/>
          <a:p>
            <a:pPr algn="ctr"/>
            <a:r>
              <a:rPr sz="2000" b="1" i="0" u="none" dirty="0">
                <a:solidFill>
                  <a:schemeClr val="bg1"/>
                </a:solidFill>
                <a:latin typeface="Inter"/>
              </a:rPr>
              <a:t>Kafka Topic</a:t>
            </a:r>
          </a:p>
        </p:txBody>
      </p:sp>
      <p:sp>
        <p:nvSpPr>
          <p:cNvPr id="23" name="TextBox 22">
            <a:extLst>
              <a:ext uri="{FF2B5EF4-FFF2-40B4-BE49-F238E27FC236}">
                <a16:creationId xmlns:a16="http://schemas.microsoft.com/office/drawing/2014/main" id="{E5FFBAB7-6CF0-2660-A28F-2FFBAC05E337}"/>
              </a:ext>
            </a:extLst>
          </p:cNvPr>
          <p:cNvSpPr txBox="1"/>
          <p:nvPr/>
        </p:nvSpPr>
        <p:spPr>
          <a:xfrm>
            <a:off x="7223075" y="4933950"/>
            <a:ext cx="3022550" cy="1285993"/>
          </a:xfrm>
          <a:prstGeom prst="rect">
            <a:avLst/>
          </a:prstGeom>
          <a:noFill/>
        </p:spPr>
        <p:txBody>
          <a:bodyPr wrap="square" lIns="0" tIns="0" rIns="0" bIns="0" anchor="t">
            <a:spAutoFit/>
          </a:bodyPr>
          <a:lstStyle/>
          <a:p>
            <a:pPr algn="ctr">
              <a:lnSpc>
                <a:spcPts val="2025"/>
              </a:lnSpc>
            </a:pPr>
            <a:r>
              <a:rPr sz="2000" b="0" i="0" u="none">
                <a:solidFill>
                  <a:srgbClr val="94A3B8"/>
                </a:solidFill>
                <a:latin typeface="Inter"/>
              </a:rPr>
              <a:t>Acts as a durable, fault-tolerant event buffer decoupling trip generation from downstream consumers.</a:t>
            </a:r>
          </a:p>
        </p:txBody>
      </p:sp>
      <p:sp>
        <p:nvSpPr>
          <p:cNvPr id="25" name="TextBox 24">
            <a:extLst>
              <a:ext uri="{FF2B5EF4-FFF2-40B4-BE49-F238E27FC236}">
                <a16:creationId xmlns:a16="http://schemas.microsoft.com/office/drawing/2014/main" id="{BF4044B2-921F-9D17-A611-9B5AFEDE0EBA}"/>
              </a:ext>
            </a:extLst>
          </p:cNvPr>
          <p:cNvSpPr txBox="1"/>
          <p:nvPr/>
        </p:nvSpPr>
        <p:spPr>
          <a:xfrm>
            <a:off x="10979050" y="4543425"/>
            <a:ext cx="3173834" cy="307777"/>
          </a:xfrm>
          <a:prstGeom prst="rect">
            <a:avLst/>
          </a:prstGeom>
          <a:noFill/>
        </p:spPr>
        <p:txBody>
          <a:bodyPr wrap="square" lIns="0" tIns="0" rIns="0" bIns="0" anchor="t">
            <a:spAutoFit/>
          </a:bodyPr>
          <a:lstStyle/>
          <a:p>
            <a:pPr algn="ctr"/>
            <a:r>
              <a:rPr sz="2000" b="1" i="0" u="none" dirty="0">
                <a:solidFill>
                  <a:schemeClr val="bg1"/>
                </a:solidFill>
                <a:latin typeface="Inter"/>
              </a:rPr>
              <a:t>Bronze Archival</a:t>
            </a:r>
          </a:p>
        </p:txBody>
      </p:sp>
      <p:sp>
        <p:nvSpPr>
          <p:cNvPr id="27" name="TextBox 26">
            <a:extLst>
              <a:ext uri="{FF2B5EF4-FFF2-40B4-BE49-F238E27FC236}">
                <a16:creationId xmlns:a16="http://schemas.microsoft.com/office/drawing/2014/main" id="{6E7082BD-7824-978E-30D1-FF7D2680AAAA}"/>
              </a:ext>
            </a:extLst>
          </p:cNvPr>
          <p:cNvSpPr txBox="1"/>
          <p:nvPr/>
        </p:nvSpPr>
        <p:spPr>
          <a:xfrm>
            <a:off x="10979050" y="4933950"/>
            <a:ext cx="3022699" cy="1029513"/>
          </a:xfrm>
          <a:prstGeom prst="rect">
            <a:avLst/>
          </a:prstGeom>
          <a:noFill/>
        </p:spPr>
        <p:txBody>
          <a:bodyPr wrap="square" lIns="0" tIns="0" rIns="0" bIns="0" anchor="t">
            <a:spAutoFit/>
          </a:bodyPr>
          <a:lstStyle/>
          <a:p>
            <a:pPr algn="ctr">
              <a:lnSpc>
                <a:spcPts val="2025"/>
              </a:lnSpc>
            </a:pPr>
            <a:r>
              <a:rPr sz="2000" b="0" i="0" u="none">
                <a:solidFill>
                  <a:srgbClr val="94A3B8"/>
                </a:solidFill>
                <a:latin typeface="Inter"/>
              </a:rPr>
              <a:t>Consumer script reads messages and lands them directly into HDFS Bronze for audit and replayability.</a:t>
            </a:r>
          </a:p>
        </p:txBody>
      </p:sp>
      <p:sp>
        <p:nvSpPr>
          <p:cNvPr id="29" name="TextBox 28">
            <a:extLst>
              <a:ext uri="{FF2B5EF4-FFF2-40B4-BE49-F238E27FC236}">
                <a16:creationId xmlns:a16="http://schemas.microsoft.com/office/drawing/2014/main" id="{1BABF846-D828-E19A-6C45-34BA3B40AC53}"/>
              </a:ext>
            </a:extLst>
          </p:cNvPr>
          <p:cNvSpPr txBox="1"/>
          <p:nvPr/>
        </p:nvSpPr>
        <p:spPr>
          <a:xfrm>
            <a:off x="1372553" y="2100263"/>
            <a:ext cx="11581447" cy="553998"/>
          </a:xfrm>
          <a:prstGeom prst="rect">
            <a:avLst/>
          </a:prstGeom>
          <a:noFill/>
        </p:spPr>
        <p:txBody>
          <a:bodyPr wrap="square" lIns="0" tIns="0" rIns="0" bIns="0" anchor="t">
            <a:spAutoFit/>
          </a:bodyPr>
          <a:lstStyle/>
          <a:p>
            <a:pPr algn="l"/>
            <a:r>
              <a:rPr sz="3600" b="1" i="0" u="none" dirty="0">
                <a:solidFill>
                  <a:srgbClr val="FFFFFF"/>
                </a:solidFill>
                <a:latin typeface="Inter"/>
              </a:rPr>
              <a:t>Streaming Ingestion with Apache Kafka</a:t>
            </a:r>
          </a:p>
        </p:txBody>
      </p:sp>
      <p:sp>
        <p:nvSpPr>
          <p:cNvPr id="31" name="Rectangle 30">
            <a:extLst>
              <a:ext uri="{FF2B5EF4-FFF2-40B4-BE49-F238E27FC236}">
                <a16:creationId xmlns:a16="http://schemas.microsoft.com/office/drawing/2014/main" id="{82CEAC20-83C1-B3C1-3C9B-8B6FB64696F9}"/>
              </a:ext>
            </a:extLst>
          </p:cNvPr>
          <p:cNvSpPr/>
          <p:nvPr/>
        </p:nvSpPr>
        <p:spPr>
          <a:xfrm>
            <a:off x="1334453" y="2681288"/>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616572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A5A137FD-AA3C-A481-74C4-C10E64F86D78}"/>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063BDC3E-9B2C-2B54-C231-33FD0A456906}"/>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4" name="Picture 3" descr="image.png">
            <a:extLst>
              <a:ext uri="{FF2B5EF4-FFF2-40B4-BE49-F238E27FC236}">
                <a16:creationId xmlns:a16="http://schemas.microsoft.com/office/drawing/2014/main" id="{D6ADD77A-C141-5ED2-6614-52C7F3A45FA0}"/>
              </a:ext>
            </a:extLst>
          </p:cNvPr>
          <p:cNvPicPr>
            <a:picLocks noChangeAspect="1"/>
          </p:cNvPicPr>
          <p:nvPr/>
        </p:nvPicPr>
        <p:blipFill>
          <a:blip r:embed="rId2"/>
          <a:stretch>
            <a:fillRect/>
          </a:stretch>
        </p:blipFill>
        <p:spPr>
          <a:xfrm>
            <a:off x="10363200" y="4407305"/>
            <a:ext cx="7906173" cy="2945995"/>
          </a:xfrm>
          <a:prstGeom prst="rect">
            <a:avLst/>
          </a:prstGeom>
        </p:spPr>
      </p:pic>
      <p:sp>
        <p:nvSpPr>
          <p:cNvPr id="8" name="TextBox 7">
            <a:extLst>
              <a:ext uri="{FF2B5EF4-FFF2-40B4-BE49-F238E27FC236}">
                <a16:creationId xmlns:a16="http://schemas.microsoft.com/office/drawing/2014/main" id="{0B5383C4-4B5B-8710-C026-826B1E4EC8C5}"/>
              </a:ext>
            </a:extLst>
          </p:cNvPr>
          <p:cNvSpPr txBox="1"/>
          <p:nvPr/>
        </p:nvSpPr>
        <p:spPr>
          <a:xfrm>
            <a:off x="632637" y="3662478"/>
            <a:ext cx="7519810" cy="553998"/>
          </a:xfrm>
          <a:prstGeom prst="rect">
            <a:avLst/>
          </a:prstGeom>
          <a:noFill/>
        </p:spPr>
        <p:txBody>
          <a:bodyPr wrap="square" lIns="0" tIns="0" rIns="0" bIns="0" anchor="t">
            <a:spAutoFit/>
          </a:bodyPr>
          <a:lstStyle/>
          <a:p>
            <a:pPr algn="l"/>
            <a:r>
              <a:rPr lang="en-US" sz="3600" b="1" i="0" u="none" dirty="0">
                <a:solidFill>
                  <a:srgbClr val="00B0F0"/>
                </a:solidFill>
                <a:latin typeface="Inter"/>
              </a:rPr>
              <a:t>Continuous Micro-Batch Processing</a:t>
            </a:r>
          </a:p>
        </p:txBody>
      </p:sp>
      <p:sp>
        <p:nvSpPr>
          <p:cNvPr id="12" name="TextBox 11">
            <a:extLst>
              <a:ext uri="{FF2B5EF4-FFF2-40B4-BE49-F238E27FC236}">
                <a16:creationId xmlns:a16="http://schemas.microsoft.com/office/drawing/2014/main" id="{CB2BB8E1-8D25-1108-428E-DAE5DBAAF2E5}"/>
              </a:ext>
            </a:extLst>
          </p:cNvPr>
          <p:cNvSpPr txBox="1"/>
          <p:nvPr/>
        </p:nvSpPr>
        <p:spPr>
          <a:xfrm>
            <a:off x="10848975" y="4762500"/>
            <a:ext cx="5070633" cy="430887"/>
          </a:xfrm>
          <a:prstGeom prst="rect">
            <a:avLst/>
          </a:prstGeom>
          <a:noFill/>
        </p:spPr>
        <p:txBody>
          <a:bodyPr wrap="square" lIns="0" tIns="0" rIns="0" bIns="0" anchor="t">
            <a:spAutoFit/>
          </a:bodyPr>
          <a:lstStyle/>
          <a:p>
            <a:pPr algn="l"/>
            <a:r>
              <a:rPr sz="2800" b="1" i="0" u="none" dirty="0">
                <a:solidFill>
                  <a:schemeClr val="bg1"/>
                </a:solidFill>
                <a:latin typeface="Inter"/>
              </a:rPr>
              <a:t>Streaming Mechanics</a:t>
            </a:r>
          </a:p>
        </p:txBody>
      </p:sp>
      <p:sp>
        <p:nvSpPr>
          <p:cNvPr id="16" name="TextBox 15">
            <a:extLst>
              <a:ext uri="{FF2B5EF4-FFF2-40B4-BE49-F238E27FC236}">
                <a16:creationId xmlns:a16="http://schemas.microsoft.com/office/drawing/2014/main" id="{CAC0FF63-1CF9-0E04-A87B-7CE9EF8FD9BD}"/>
              </a:ext>
            </a:extLst>
          </p:cNvPr>
          <p:cNvSpPr txBox="1"/>
          <p:nvPr/>
        </p:nvSpPr>
        <p:spPr>
          <a:xfrm>
            <a:off x="10826114" y="5309462"/>
            <a:ext cx="7157086" cy="516552"/>
          </a:xfrm>
          <a:prstGeom prst="rect">
            <a:avLst/>
          </a:prstGeom>
          <a:noFill/>
        </p:spPr>
        <p:txBody>
          <a:bodyPr wrap="square" lIns="0" tIns="0" rIns="0" bIns="0" anchor="t">
            <a:spAutoFit/>
          </a:bodyPr>
          <a:lstStyle/>
          <a:p>
            <a:pPr algn="l">
              <a:lnSpc>
                <a:spcPts val="2025"/>
              </a:lnSpc>
            </a:pPr>
            <a:r>
              <a:rPr sz="2000" b="0" i="0" u="none" dirty="0">
                <a:solidFill>
                  <a:schemeClr val="bg1"/>
                </a:solidFill>
                <a:latin typeface="Inter"/>
              </a:rPr>
              <a:t>Built on Spark's </a:t>
            </a:r>
            <a:r>
              <a:rPr sz="2000" b="0" i="0" u="none" dirty="0" err="1">
                <a:solidFill>
                  <a:schemeClr val="bg1"/>
                </a:solidFill>
                <a:latin typeface="Inter"/>
              </a:rPr>
              <a:t>DataFrame</a:t>
            </a:r>
            <a:r>
              <a:rPr sz="2000" b="0" i="0" u="none" dirty="0">
                <a:solidFill>
                  <a:schemeClr val="bg1"/>
                </a:solidFill>
                <a:latin typeface="Inter"/>
              </a:rPr>
              <a:t> API, providing fault-tolerant, exactly-once processing semantics.</a:t>
            </a:r>
          </a:p>
        </p:txBody>
      </p:sp>
      <p:sp>
        <p:nvSpPr>
          <p:cNvPr id="20" name="TextBox 19">
            <a:extLst>
              <a:ext uri="{FF2B5EF4-FFF2-40B4-BE49-F238E27FC236}">
                <a16:creationId xmlns:a16="http://schemas.microsoft.com/office/drawing/2014/main" id="{C916CAE0-746E-159E-7ABE-1351568A3C14}"/>
              </a:ext>
            </a:extLst>
          </p:cNvPr>
          <p:cNvSpPr txBox="1"/>
          <p:nvPr/>
        </p:nvSpPr>
        <p:spPr>
          <a:xfrm>
            <a:off x="10826115" y="6247292"/>
            <a:ext cx="6928485" cy="530082"/>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Enables low-latency transformation of incoming live trip events into trusted Silver-grade data.</a:t>
            </a:r>
          </a:p>
        </p:txBody>
      </p:sp>
      <p:sp>
        <p:nvSpPr>
          <p:cNvPr id="24" name="TextBox 23">
            <a:extLst>
              <a:ext uri="{FF2B5EF4-FFF2-40B4-BE49-F238E27FC236}">
                <a16:creationId xmlns:a16="http://schemas.microsoft.com/office/drawing/2014/main" id="{82CF4232-0871-31AC-AD89-0A38E39D33F6}"/>
              </a:ext>
            </a:extLst>
          </p:cNvPr>
          <p:cNvSpPr txBox="1"/>
          <p:nvPr/>
        </p:nvSpPr>
        <p:spPr>
          <a:xfrm>
            <a:off x="584322" y="4649777"/>
            <a:ext cx="9466898" cy="543610"/>
          </a:xfrm>
          <a:prstGeom prst="rect">
            <a:avLst/>
          </a:prstGeom>
          <a:noFill/>
        </p:spPr>
        <p:txBody>
          <a:bodyPr wrap="square" lIns="0" tIns="0" rIns="0" bIns="0" anchor="t">
            <a:spAutoFit/>
          </a:bodyPr>
          <a:lstStyle/>
          <a:p>
            <a:pPr>
              <a:lnSpc>
                <a:spcPts val="2025"/>
              </a:lnSpc>
            </a:pPr>
            <a:r>
              <a:rPr lang="en-US" sz="2800" dirty="0">
                <a:solidFill>
                  <a:schemeClr val="bg1"/>
                </a:solidFill>
                <a:latin typeface="Inter"/>
              </a:rPr>
              <a:t>Reads data streams directly from the Kafka topic (</a:t>
            </a:r>
            <a:r>
              <a:rPr lang="en-US" sz="2800" dirty="0" err="1">
                <a:solidFill>
                  <a:schemeClr val="bg1"/>
                </a:solidFill>
                <a:latin typeface="Inter"/>
              </a:rPr>
              <a:t>uber_stream_dec</a:t>
            </a:r>
            <a:r>
              <a:rPr lang="en-US" sz="2800" dirty="0">
                <a:solidFill>
                  <a:schemeClr val="bg1"/>
                </a:solidFill>
                <a:latin typeface="Inter"/>
              </a:rPr>
              <a:t>) in real time using micro-batches.</a:t>
            </a:r>
            <a:endParaRPr sz="2800" b="0" i="0" u="none" dirty="0">
              <a:solidFill>
                <a:schemeClr val="bg1"/>
              </a:solidFill>
              <a:latin typeface="Inter"/>
            </a:endParaRPr>
          </a:p>
        </p:txBody>
      </p:sp>
      <p:sp>
        <p:nvSpPr>
          <p:cNvPr id="28" name="TextBox 27">
            <a:extLst>
              <a:ext uri="{FF2B5EF4-FFF2-40B4-BE49-F238E27FC236}">
                <a16:creationId xmlns:a16="http://schemas.microsoft.com/office/drawing/2014/main" id="{D80B1911-008F-EE65-89E1-8446882B3128}"/>
              </a:ext>
            </a:extLst>
          </p:cNvPr>
          <p:cNvSpPr txBox="1"/>
          <p:nvPr/>
        </p:nvSpPr>
        <p:spPr>
          <a:xfrm>
            <a:off x="584322" y="5690088"/>
            <a:ext cx="9727019" cy="557204"/>
          </a:xfrm>
          <a:prstGeom prst="rect">
            <a:avLst/>
          </a:prstGeom>
          <a:noFill/>
        </p:spPr>
        <p:txBody>
          <a:bodyPr wrap="square" lIns="0" tIns="0" rIns="0" bIns="0" anchor="t">
            <a:spAutoFit/>
          </a:bodyPr>
          <a:lstStyle/>
          <a:p>
            <a:pPr algn="l">
              <a:lnSpc>
                <a:spcPts val="2025"/>
              </a:lnSpc>
            </a:pPr>
            <a:r>
              <a:rPr sz="2800" b="0" i="0" u="none" dirty="0">
                <a:solidFill>
                  <a:schemeClr val="bg1"/>
                </a:solidFill>
                <a:latin typeface="Inter"/>
              </a:rPr>
              <a:t>Applies on-the-fly cleaning, timestamp parsing, and </a:t>
            </a:r>
            <a:r>
              <a:rPr sz="2800" b="0" i="0" u="none" dirty="0" err="1">
                <a:solidFill>
                  <a:schemeClr val="bg1"/>
                </a:solidFill>
                <a:latin typeface="Inter"/>
              </a:rPr>
              <a:t>GeoHash</a:t>
            </a:r>
            <a:r>
              <a:rPr sz="2800" b="0" i="0" u="none" dirty="0">
                <a:solidFill>
                  <a:schemeClr val="bg1"/>
                </a:solidFill>
                <a:latin typeface="Inter"/>
              </a:rPr>
              <a:t> generation.</a:t>
            </a:r>
          </a:p>
        </p:txBody>
      </p:sp>
      <p:sp>
        <p:nvSpPr>
          <p:cNvPr id="32" name="TextBox 31">
            <a:extLst>
              <a:ext uri="{FF2B5EF4-FFF2-40B4-BE49-F238E27FC236}">
                <a16:creationId xmlns:a16="http://schemas.microsoft.com/office/drawing/2014/main" id="{AF09CDE1-7B93-0238-92FC-A30EC1F9DAB4}"/>
              </a:ext>
            </a:extLst>
          </p:cNvPr>
          <p:cNvSpPr txBox="1"/>
          <p:nvPr/>
        </p:nvSpPr>
        <p:spPr>
          <a:xfrm>
            <a:off x="609600" y="6667189"/>
            <a:ext cx="9625542" cy="287130"/>
          </a:xfrm>
          <a:prstGeom prst="rect">
            <a:avLst/>
          </a:prstGeom>
          <a:noFill/>
        </p:spPr>
        <p:txBody>
          <a:bodyPr wrap="square" lIns="0" tIns="0" rIns="0" bIns="0" anchor="t">
            <a:spAutoFit/>
          </a:bodyPr>
          <a:lstStyle/>
          <a:p>
            <a:pPr algn="l">
              <a:lnSpc>
                <a:spcPts val="2025"/>
              </a:lnSpc>
            </a:pPr>
            <a:r>
              <a:rPr sz="2800" b="0" i="0" u="none" dirty="0">
                <a:solidFill>
                  <a:schemeClr val="bg1"/>
                </a:solidFill>
                <a:latin typeface="Inter"/>
              </a:rPr>
              <a:t>Executes stateful deduplication before writing to the Silver layer.</a:t>
            </a:r>
          </a:p>
        </p:txBody>
      </p:sp>
      <p:sp>
        <p:nvSpPr>
          <p:cNvPr id="41" name="TextBox 40">
            <a:extLst>
              <a:ext uri="{FF2B5EF4-FFF2-40B4-BE49-F238E27FC236}">
                <a16:creationId xmlns:a16="http://schemas.microsoft.com/office/drawing/2014/main" id="{D7366C99-0084-196D-E8AB-1E18FD40F146}"/>
              </a:ext>
            </a:extLst>
          </p:cNvPr>
          <p:cNvSpPr txBox="1"/>
          <p:nvPr/>
        </p:nvSpPr>
        <p:spPr>
          <a:xfrm>
            <a:off x="609600" y="2628900"/>
            <a:ext cx="11581447" cy="615553"/>
          </a:xfrm>
          <a:prstGeom prst="rect">
            <a:avLst/>
          </a:prstGeom>
          <a:noFill/>
        </p:spPr>
        <p:txBody>
          <a:bodyPr wrap="square" lIns="0" tIns="0" rIns="0" bIns="0" anchor="t">
            <a:spAutoFit/>
          </a:bodyPr>
          <a:lstStyle/>
          <a:p>
            <a:pPr algn="l"/>
            <a:r>
              <a:rPr sz="4000" b="1" i="0" u="none" dirty="0">
                <a:solidFill>
                  <a:srgbClr val="FFFFFF"/>
                </a:solidFill>
                <a:latin typeface="Inter"/>
              </a:rPr>
              <a:t>Real-Time Processing with Spark Structured Streaming</a:t>
            </a:r>
          </a:p>
        </p:txBody>
      </p:sp>
      <p:sp>
        <p:nvSpPr>
          <p:cNvPr id="43" name="Rectangle 42">
            <a:extLst>
              <a:ext uri="{FF2B5EF4-FFF2-40B4-BE49-F238E27FC236}">
                <a16:creationId xmlns:a16="http://schemas.microsoft.com/office/drawing/2014/main" id="{952591D1-0D5A-ED1C-6424-5CE1E282CDFF}"/>
              </a:ext>
            </a:extLst>
          </p:cNvPr>
          <p:cNvSpPr/>
          <p:nvPr/>
        </p:nvSpPr>
        <p:spPr>
          <a:xfrm>
            <a:off x="609600" y="3209925"/>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3820522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01138763-E540-74DF-3217-4EC19AC9FD8B}"/>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4998DA44-CC61-6915-D383-CD316693E4EF}"/>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3" name="Picture 2" descr="image.png">
            <a:extLst>
              <a:ext uri="{FF2B5EF4-FFF2-40B4-BE49-F238E27FC236}">
                <a16:creationId xmlns:a16="http://schemas.microsoft.com/office/drawing/2014/main" id="{5A738D54-EE4E-54F0-8F82-3E6E78902935}"/>
              </a:ext>
            </a:extLst>
          </p:cNvPr>
          <p:cNvPicPr>
            <a:picLocks noChangeAspect="1"/>
          </p:cNvPicPr>
          <p:nvPr/>
        </p:nvPicPr>
        <p:blipFill>
          <a:blip r:embed="rId2"/>
          <a:stretch>
            <a:fillRect/>
          </a:stretch>
        </p:blipFill>
        <p:spPr>
          <a:xfrm>
            <a:off x="1102733" y="3349288"/>
            <a:ext cx="14947464" cy="1794212"/>
          </a:xfrm>
          <a:prstGeom prst="rect">
            <a:avLst/>
          </a:prstGeom>
        </p:spPr>
      </p:pic>
      <p:pic>
        <p:nvPicPr>
          <p:cNvPr id="6" name="Picture 5" descr="image.png">
            <a:extLst>
              <a:ext uri="{FF2B5EF4-FFF2-40B4-BE49-F238E27FC236}">
                <a16:creationId xmlns:a16="http://schemas.microsoft.com/office/drawing/2014/main" id="{DCB97B03-8DB7-2D72-CC39-AC591A264B38}"/>
              </a:ext>
            </a:extLst>
          </p:cNvPr>
          <p:cNvPicPr>
            <a:picLocks noChangeAspect="1"/>
          </p:cNvPicPr>
          <p:nvPr/>
        </p:nvPicPr>
        <p:blipFill>
          <a:blip r:embed="rId3"/>
          <a:stretch>
            <a:fillRect/>
          </a:stretch>
        </p:blipFill>
        <p:spPr>
          <a:xfrm>
            <a:off x="1134165" y="5772149"/>
            <a:ext cx="14916032" cy="2241269"/>
          </a:xfrm>
          <a:prstGeom prst="rect">
            <a:avLst/>
          </a:prstGeom>
        </p:spPr>
      </p:pic>
      <p:sp>
        <p:nvSpPr>
          <p:cNvPr id="9" name="TextBox 8">
            <a:extLst>
              <a:ext uri="{FF2B5EF4-FFF2-40B4-BE49-F238E27FC236}">
                <a16:creationId xmlns:a16="http://schemas.microsoft.com/office/drawing/2014/main" id="{05C2781D-3DCE-5F0E-FBF4-6F56A1410C70}"/>
              </a:ext>
            </a:extLst>
          </p:cNvPr>
          <p:cNvSpPr txBox="1"/>
          <p:nvPr/>
        </p:nvSpPr>
        <p:spPr>
          <a:xfrm>
            <a:off x="1381815" y="3486150"/>
            <a:ext cx="11061382" cy="369332"/>
          </a:xfrm>
          <a:prstGeom prst="rect">
            <a:avLst/>
          </a:prstGeom>
          <a:noFill/>
        </p:spPr>
        <p:txBody>
          <a:bodyPr wrap="square" lIns="180975" tIns="0" rIns="0" bIns="0" anchor="t">
            <a:spAutoFit/>
          </a:bodyPr>
          <a:lstStyle/>
          <a:p>
            <a:pPr algn="l"/>
            <a:r>
              <a:rPr sz="2400" b="1" i="0" u="none" dirty="0">
                <a:solidFill>
                  <a:srgbClr val="F59E0B"/>
                </a:solidFill>
                <a:latin typeface="Inter"/>
              </a:rPr>
              <a:t>The Looping Source Challenge</a:t>
            </a:r>
          </a:p>
        </p:txBody>
      </p:sp>
      <p:sp>
        <p:nvSpPr>
          <p:cNvPr id="11" name="TextBox 10">
            <a:extLst>
              <a:ext uri="{FF2B5EF4-FFF2-40B4-BE49-F238E27FC236}">
                <a16:creationId xmlns:a16="http://schemas.microsoft.com/office/drawing/2014/main" id="{DBFE26BA-D423-21B1-2CDF-70F64CA7DA9F}"/>
              </a:ext>
            </a:extLst>
          </p:cNvPr>
          <p:cNvSpPr txBox="1"/>
          <p:nvPr/>
        </p:nvSpPr>
        <p:spPr>
          <a:xfrm>
            <a:off x="1381815" y="4106210"/>
            <a:ext cx="10534650" cy="786562"/>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Because the Kafka producer loops the source CSV file indefinitely (approx. every 8 hours), standard time-based watermarks are insufficient for removing duplicate trip IDs across long periods.</a:t>
            </a:r>
          </a:p>
        </p:txBody>
      </p:sp>
      <p:sp>
        <p:nvSpPr>
          <p:cNvPr id="14" name="TextBox 13">
            <a:extLst>
              <a:ext uri="{FF2B5EF4-FFF2-40B4-BE49-F238E27FC236}">
                <a16:creationId xmlns:a16="http://schemas.microsoft.com/office/drawing/2014/main" id="{C798D045-AAA8-FC76-61CC-FC03BF922A7F}"/>
              </a:ext>
            </a:extLst>
          </p:cNvPr>
          <p:cNvSpPr txBox="1"/>
          <p:nvPr/>
        </p:nvSpPr>
        <p:spPr>
          <a:xfrm>
            <a:off x="1410390" y="6010275"/>
            <a:ext cx="11041380" cy="369332"/>
          </a:xfrm>
          <a:prstGeom prst="rect">
            <a:avLst/>
          </a:prstGeom>
          <a:noFill/>
        </p:spPr>
        <p:txBody>
          <a:bodyPr wrap="square" lIns="0" tIns="0" rIns="0" bIns="0" anchor="t">
            <a:spAutoFit/>
          </a:bodyPr>
          <a:lstStyle/>
          <a:p>
            <a:pPr algn="l"/>
            <a:r>
              <a:rPr sz="2400" b="1" i="0" u="none" dirty="0">
                <a:solidFill>
                  <a:srgbClr val="10B981"/>
                </a:solidFill>
                <a:latin typeface="Inter"/>
              </a:rPr>
              <a:t>Persistent Seen Trip IDs on HDFS</a:t>
            </a:r>
          </a:p>
        </p:txBody>
      </p:sp>
      <p:sp>
        <p:nvSpPr>
          <p:cNvPr id="17" name="TextBox 16">
            <a:extLst>
              <a:ext uri="{FF2B5EF4-FFF2-40B4-BE49-F238E27FC236}">
                <a16:creationId xmlns:a16="http://schemas.microsoft.com/office/drawing/2014/main" id="{210BBEC6-F3E5-7890-8C55-865ED6AD7553}"/>
              </a:ext>
            </a:extLst>
          </p:cNvPr>
          <p:cNvSpPr txBox="1"/>
          <p:nvPr/>
        </p:nvSpPr>
        <p:spPr>
          <a:xfrm>
            <a:off x="1410390" y="6600825"/>
            <a:ext cx="10515600" cy="530082"/>
          </a:xfrm>
          <a:prstGeom prst="rect">
            <a:avLst/>
          </a:prstGeom>
          <a:noFill/>
        </p:spPr>
        <p:txBody>
          <a:bodyPr wrap="square" lIns="0" tIns="0" rIns="0" bIns="0" anchor="t">
            <a:spAutoFit/>
          </a:bodyPr>
          <a:lstStyle/>
          <a:p>
            <a:pPr algn="l">
              <a:lnSpc>
                <a:spcPts val="2025"/>
              </a:lnSpc>
            </a:pPr>
            <a:r>
              <a:rPr sz="2400" b="0" i="0" u="none" dirty="0">
                <a:solidFill>
                  <a:srgbClr val="94A3B8"/>
                </a:solidFill>
                <a:latin typeface="Inter"/>
              </a:rPr>
              <a:t>Deduplication is implemented using a persistent tracker file of previously seen trip IDs stored on HDFS, evaluated within Spark's </a:t>
            </a:r>
            <a:r>
              <a:rPr sz="2400" b="0" i="0" u="none" dirty="0" err="1">
                <a:solidFill>
                  <a:srgbClr val="94A3B8"/>
                </a:solidFill>
                <a:latin typeface="Inter"/>
              </a:rPr>
              <a:t>foreachBatch</a:t>
            </a:r>
            <a:r>
              <a:rPr sz="2400" b="0" i="0" u="none" dirty="0">
                <a:solidFill>
                  <a:srgbClr val="94A3B8"/>
                </a:solidFill>
                <a:latin typeface="Inter"/>
              </a:rPr>
              <a:t> mechanism.</a:t>
            </a:r>
          </a:p>
        </p:txBody>
      </p:sp>
      <p:sp>
        <p:nvSpPr>
          <p:cNvPr id="19" name="TextBox 18">
            <a:extLst>
              <a:ext uri="{FF2B5EF4-FFF2-40B4-BE49-F238E27FC236}">
                <a16:creationId xmlns:a16="http://schemas.microsoft.com/office/drawing/2014/main" id="{143E1944-36B8-CE91-2D57-87A8F8F465F9}"/>
              </a:ext>
            </a:extLst>
          </p:cNvPr>
          <p:cNvSpPr txBox="1"/>
          <p:nvPr/>
        </p:nvSpPr>
        <p:spPr>
          <a:xfrm>
            <a:off x="1436307" y="7321113"/>
            <a:ext cx="10515600" cy="256480"/>
          </a:xfrm>
          <a:prstGeom prst="rect">
            <a:avLst/>
          </a:prstGeom>
          <a:noFill/>
        </p:spPr>
        <p:txBody>
          <a:bodyPr wrap="square" lIns="0" tIns="0" rIns="0" bIns="0" anchor="t">
            <a:spAutoFit/>
          </a:bodyPr>
          <a:lstStyle/>
          <a:p>
            <a:pPr algn="l">
              <a:lnSpc>
                <a:spcPts val="2025"/>
              </a:lnSpc>
            </a:pPr>
            <a:r>
              <a:rPr b="0" i="0" u="none" dirty="0">
                <a:solidFill>
                  <a:srgbClr val="38BDF8"/>
                </a:solidFill>
                <a:latin typeface="Inter SemiBold"/>
              </a:rPr>
              <a:t>Result: Idempotent + Persistent + Duplicate-Free Silver Output</a:t>
            </a:r>
          </a:p>
        </p:txBody>
      </p:sp>
      <p:pic>
        <p:nvPicPr>
          <p:cNvPr id="22" name="Picture 21" descr="image.png">
            <a:extLst>
              <a:ext uri="{FF2B5EF4-FFF2-40B4-BE49-F238E27FC236}">
                <a16:creationId xmlns:a16="http://schemas.microsoft.com/office/drawing/2014/main" id="{2226F773-4818-B243-A087-C615F4249BA0}"/>
              </a:ext>
            </a:extLst>
          </p:cNvPr>
          <p:cNvPicPr>
            <a:picLocks noChangeAspect="1"/>
          </p:cNvPicPr>
          <p:nvPr/>
        </p:nvPicPr>
        <p:blipFill>
          <a:blip r:embed="rId4"/>
          <a:stretch>
            <a:fillRect/>
          </a:stretch>
        </p:blipFill>
        <p:spPr>
          <a:xfrm>
            <a:off x="1381815" y="3505200"/>
            <a:ext cx="180975" cy="178296"/>
          </a:xfrm>
          <a:prstGeom prst="rect">
            <a:avLst/>
          </a:prstGeom>
        </p:spPr>
      </p:pic>
      <p:sp>
        <p:nvSpPr>
          <p:cNvPr id="25" name="TextBox 24">
            <a:extLst>
              <a:ext uri="{FF2B5EF4-FFF2-40B4-BE49-F238E27FC236}">
                <a16:creationId xmlns:a16="http://schemas.microsoft.com/office/drawing/2014/main" id="{F52879FB-06D8-7450-BEE3-6E410CAF98D0}"/>
              </a:ext>
            </a:extLst>
          </p:cNvPr>
          <p:cNvSpPr txBox="1"/>
          <p:nvPr/>
        </p:nvSpPr>
        <p:spPr>
          <a:xfrm>
            <a:off x="1134165" y="2266950"/>
            <a:ext cx="11581447" cy="553998"/>
          </a:xfrm>
          <a:prstGeom prst="rect">
            <a:avLst/>
          </a:prstGeom>
          <a:noFill/>
        </p:spPr>
        <p:txBody>
          <a:bodyPr wrap="square" lIns="0" tIns="0" rIns="0" bIns="0" anchor="t">
            <a:spAutoFit/>
          </a:bodyPr>
          <a:lstStyle/>
          <a:p>
            <a:pPr algn="l"/>
            <a:r>
              <a:rPr sz="3600" b="1" i="0" u="none" dirty="0">
                <a:solidFill>
                  <a:srgbClr val="FFFFFF"/>
                </a:solidFill>
                <a:latin typeface="Inter"/>
              </a:rPr>
              <a:t>Reliable Deduplication Strategy</a:t>
            </a:r>
          </a:p>
        </p:txBody>
      </p:sp>
      <p:sp>
        <p:nvSpPr>
          <p:cNvPr id="27" name="Rectangle 26">
            <a:extLst>
              <a:ext uri="{FF2B5EF4-FFF2-40B4-BE49-F238E27FC236}">
                <a16:creationId xmlns:a16="http://schemas.microsoft.com/office/drawing/2014/main" id="{76533B5B-0154-E446-7CF9-ACB7E51B4DBC}"/>
              </a:ext>
            </a:extLst>
          </p:cNvPr>
          <p:cNvSpPr/>
          <p:nvPr/>
        </p:nvSpPr>
        <p:spPr>
          <a:xfrm>
            <a:off x="1134165" y="2847975"/>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Tree>
    <p:extLst>
      <p:ext uri="{BB962C8B-B14F-4D97-AF65-F5344CB8AC3E}">
        <p14:creationId xmlns:p14="http://schemas.microsoft.com/office/powerpoint/2010/main" val="4122868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B2280664-3619-9FBF-8905-2207044AF7D4}"/>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0EC2B37F-B1FA-7C16-70C7-338775D2C00F}"/>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4" name="Picture 3" descr="image.png">
            <a:extLst>
              <a:ext uri="{FF2B5EF4-FFF2-40B4-BE49-F238E27FC236}">
                <a16:creationId xmlns:a16="http://schemas.microsoft.com/office/drawing/2014/main" id="{2BF72428-5E26-B0F4-C09C-20A774986311}"/>
              </a:ext>
            </a:extLst>
          </p:cNvPr>
          <p:cNvPicPr>
            <a:picLocks noChangeAspect="1"/>
          </p:cNvPicPr>
          <p:nvPr/>
        </p:nvPicPr>
        <p:blipFill>
          <a:blip r:embed="rId2"/>
          <a:stretch>
            <a:fillRect/>
          </a:stretch>
        </p:blipFill>
        <p:spPr>
          <a:xfrm>
            <a:off x="9610725" y="4814887"/>
            <a:ext cx="5324475" cy="1876425"/>
          </a:xfrm>
          <a:prstGeom prst="rect">
            <a:avLst/>
          </a:prstGeom>
        </p:spPr>
      </p:pic>
      <p:pic>
        <p:nvPicPr>
          <p:cNvPr id="7" name="Picture 6" descr="image.png">
            <a:extLst>
              <a:ext uri="{FF2B5EF4-FFF2-40B4-BE49-F238E27FC236}">
                <a16:creationId xmlns:a16="http://schemas.microsoft.com/office/drawing/2014/main" id="{FC0C0984-2F13-EF28-E081-F2B7B27E0BEA}"/>
              </a:ext>
            </a:extLst>
          </p:cNvPr>
          <p:cNvPicPr>
            <a:picLocks noChangeAspect="1"/>
          </p:cNvPicPr>
          <p:nvPr/>
        </p:nvPicPr>
        <p:blipFill>
          <a:blip r:embed="rId3"/>
          <a:stretch>
            <a:fillRect/>
          </a:stretch>
        </p:blipFill>
        <p:spPr>
          <a:xfrm>
            <a:off x="1448753" y="4457700"/>
            <a:ext cx="6476047" cy="1057275"/>
          </a:xfrm>
          <a:prstGeom prst="rect">
            <a:avLst/>
          </a:prstGeom>
        </p:spPr>
      </p:pic>
      <p:pic>
        <p:nvPicPr>
          <p:cNvPr id="10" name="Picture 9" descr="image.png">
            <a:extLst>
              <a:ext uri="{FF2B5EF4-FFF2-40B4-BE49-F238E27FC236}">
                <a16:creationId xmlns:a16="http://schemas.microsoft.com/office/drawing/2014/main" id="{A240665C-25DC-BAD0-B440-59E5604AF2AD}"/>
              </a:ext>
            </a:extLst>
          </p:cNvPr>
          <p:cNvPicPr>
            <a:picLocks noChangeAspect="1"/>
          </p:cNvPicPr>
          <p:nvPr/>
        </p:nvPicPr>
        <p:blipFill>
          <a:blip r:embed="rId4"/>
          <a:stretch>
            <a:fillRect/>
          </a:stretch>
        </p:blipFill>
        <p:spPr>
          <a:xfrm>
            <a:off x="1448753" y="5991225"/>
            <a:ext cx="6485572" cy="1057275"/>
          </a:xfrm>
          <a:prstGeom prst="rect">
            <a:avLst/>
          </a:prstGeom>
        </p:spPr>
      </p:pic>
      <p:sp>
        <p:nvSpPr>
          <p:cNvPr id="13" name="TextBox 12">
            <a:extLst>
              <a:ext uri="{FF2B5EF4-FFF2-40B4-BE49-F238E27FC236}">
                <a16:creationId xmlns:a16="http://schemas.microsoft.com/office/drawing/2014/main" id="{EF2ABA1B-AF07-AD11-708D-988B638AB1FB}"/>
              </a:ext>
            </a:extLst>
          </p:cNvPr>
          <p:cNvSpPr txBox="1"/>
          <p:nvPr/>
        </p:nvSpPr>
        <p:spPr>
          <a:xfrm>
            <a:off x="9737645" y="5062537"/>
            <a:ext cx="5070633" cy="276999"/>
          </a:xfrm>
          <a:prstGeom prst="rect">
            <a:avLst/>
          </a:prstGeom>
          <a:noFill/>
        </p:spPr>
        <p:txBody>
          <a:bodyPr wrap="square" lIns="0" tIns="0" rIns="0" bIns="0" anchor="t">
            <a:spAutoFit/>
          </a:bodyPr>
          <a:lstStyle/>
          <a:p>
            <a:pPr algn="ctr"/>
            <a:r>
              <a:rPr b="1" i="0" u="none">
                <a:solidFill>
                  <a:srgbClr val="F59E0B"/>
                </a:solidFill>
                <a:latin typeface="Inter"/>
              </a:rPr>
              <a:t>UNION OPERATION</a:t>
            </a:r>
          </a:p>
        </p:txBody>
      </p:sp>
      <p:sp>
        <p:nvSpPr>
          <p:cNvPr id="16" name="TextBox 15">
            <a:extLst>
              <a:ext uri="{FF2B5EF4-FFF2-40B4-BE49-F238E27FC236}">
                <a16:creationId xmlns:a16="http://schemas.microsoft.com/office/drawing/2014/main" id="{5621486D-F706-1B71-283E-0B2DBEE8497B}"/>
              </a:ext>
            </a:extLst>
          </p:cNvPr>
          <p:cNvSpPr txBox="1"/>
          <p:nvPr/>
        </p:nvSpPr>
        <p:spPr>
          <a:xfrm>
            <a:off x="9858375" y="5529262"/>
            <a:ext cx="4829175" cy="514350"/>
          </a:xfrm>
          <a:prstGeom prst="rect">
            <a:avLst/>
          </a:prstGeom>
          <a:noFill/>
        </p:spPr>
        <p:txBody>
          <a:bodyPr wrap="square" lIns="0" tIns="0" rIns="0" bIns="0" anchor="t">
            <a:spAutoFit/>
          </a:bodyPr>
          <a:lstStyle/>
          <a:p>
            <a:pPr algn="ctr">
              <a:lnSpc>
                <a:spcPts val="2025"/>
              </a:lnSpc>
            </a:pPr>
            <a:r>
              <a:rPr b="0" i="0" u="none">
                <a:solidFill>
                  <a:srgbClr val="94A3B8"/>
                </a:solidFill>
                <a:latin typeface="Inter"/>
              </a:rPr>
              <a:t>Identical schemas, business logic, and data types allow a direct SQL UNION.</a:t>
            </a:r>
          </a:p>
        </p:txBody>
      </p:sp>
      <p:sp>
        <p:nvSpPr>
          <p:cNvPr id="20" name="TextBox 19">
            <a:extLst>
              <a:ext uri="{FF2B5EF4-FFF2-40B4-BE49-F238E27FC236}">
                <a16:creationId xmlns:a16="http://schemas.microsoft.com/office/drawing/2014/main" id="{91FCDD8D-8953-7754-67B6-B3A42A6DE53A}"/>
              </a:ext>
            </a:extLst>
          </p:cNvPr>
          <p:cNvSpPr txBox="1"/>
          <p:nvPr/>
        </p:nvSpPr>
        <p:spPr>
          <a:xfrm>
            <a:off x="9858375" y="6186487"/>
            <a:ext cx="4829175" cy="257175"/>
          </a:xfrm>
          <a:prstGeom prst="rect">
            <a:avLst/>
          </a:prstGeom>
          <a:noFill/>
        </p:spPr>
        <p:txBody>
          <a:bodyPr wrap="square" lIns="0" tIns="0" rIns="0" bIns="0" anchor="t">
            <a:spAutoFit/>
          </a:bodyPr>
          <a:lstStyle/>
          <a:p>
            <a:pPr algn="ctr">
              <a:lnSpc>
                <a:spcPts val="2025"/>
              </a:lnSpc>
            </a:pPr>
            <a:r>
              <a:rPr b="0" i="0" u="none">
                <a:solidFill>
                  <a:srgbClr val="FFFFFF"/>
                </a:solidFill>
                <a:latin typeface="Inter SemiBold"/>
              </a:rPr>
              <a:t>→ Unified Silver Layer (Single Source of Truth)</a:t>
            </a:r>
          </a:p>
        </p:txBody>
      </p:sp>
      <p:sp>
        <p:nvSpPr>
          <p:cNvPr id="23" name="TextBox 22">
            <a:extLst>
              <a:ext uri="{FF2B5EF4-FFF2-40B4-BE49-F238E27FC236}">
                <a16:creationId xmlns:a16="http://schemas.microsoft.com/office/drawing/2014/main" id="{042B47F4-CBF5-64DB-BD71-0AEA517AA914}"/>
              </a:ext>
            </a:extLst>
          </p:cNvPr>
          <p:cNvSpPr txBox="1"/>
          <p:nvPr/>
        </p:nvSpPr>
        <p:spPr>
          <a:xfrm>
            <a:off x="1696403" y="4705350"/>
            <a:ext cx="4829175" cy="307777"/>
          </a:xfrm>
          <a:prstGeom prst="rect">
            <a:avLst/>
          </a:prstGeom>
          <a:noFill/>
        </p:spPr>
        <p:txBody>
          <a:bodyPr wrap="square" lIns="0" tIns="0" rIns="0" bIns="0" anchor="t">
            <a:spAutoFit/>
          </a:bodyPr>
          <a:lstStyle/>
          <a:p>
            <a:pPr algn="l"/>
            <a:r>
              <a:rPr sz="2000" b="0" i="0" u="none" dirty="0">
                <a:solidFill>
                  <a:srgbClr val="38BDF8"/>
                </a:solidFill>
                <a:latin typeface="Inter SemiBold"/>
              </a:rPr>
              <a:t>Batch Pipeline Output</a:t>
            </a:r>
          </a:p>
        </p:txBody>
      </p:sp>
      <p:sp>
        <p:nvSpPr>
          <p:cNvPr id="26" name="TextBox 25">
            <a:extLst>
              <a:ext uri="{FF2B5EF4-FFF2-40B4-BE49-F238E27FC236}">
                <a16:creationId xmlns:a16="http://schemas.microsoft.com/office/drawing/2014/main" id="{9906822C-E258-ABC6-BB7C-0B5D3B6E819C}"/>
              </a:ext>
            </a:extLst>
          </p:cNvPr>
          <p:cNvSpPr txBox="1"/>
          <p:nvPr/>
        </p:nvSpPr>
        <p:spPr>
          <a:xfrm>
            <a:off x="1696403" y="5038725"/>
            <a:ext cx="4829175" cy="240835"/>
          </a:xfrm>
          <a:prstGeom prst="rect">
            <a:avLst/>
          </a:prstGeom>
          <a:noFill/>
        </p:spPr>
        <p:txBody>
          <a:bodyPr wrap="square" lIns="0" tIns="0" rIns="0" bIns="0" anchor="t">
            <a:spAutoFit/>
          </a:bodyPr>
          <a:lstStyle/>
          <a:p>
            <a:pPr algn="l">
              <a:lnSpc>
                <a:spcPts val="1800"/>
              </a:lnSpc>
            </a:pPr>
            <a:r>
              <a:rPr sz="2000" b="0" i="0" u="none" dirty="0">
                <a:solidFill>
                  <a:schemeClr val="bg1"/>
                </a:solidFill>
                <a:latin typeface="Inter"/>
              </a:rPr>
              <a:t>Jan–Nov historical cleaned records</a:t>
            </a:r>
          </a:p>
        </p:txBody>
      </p:sp>
      <p:pic>
        <p:nvPicPr>
          <p:cNvPr id="29" name="Picture 28" descr="image.png">
            <a:extLst>
              <a:ext uri="{FF2B5EF4-FFF2-40B4-BE49-F238E27FC236}">
                <a16:creationId xmlns:a16="http://schemas.microsoft.com/office/drawing/2014/main" id="{508282BE-B555-998A-543D-37D453D8BAC5}"/>
              </a:ext>
            </a:extLst>
          </p:cNvPr>
          <p:cNvPicPr>
            <a:picLocks noChangeAspect="1"/>
          </p:cNvPicPr>
          <p:nvPr/>
        </p:nvPicPr>
        <p:blipFill>
          <a:blip r:embed="rId5"/>
          <a:stretch>
            <a:fillRect/>
          </a:stretch>
        </p:blipFill>
        <p:spPr>
          <a:xfrm>
            <a:off x="4039553" y="5676900"/>
            <a:ext cx="142875" cy="152400"/>
          </a:xfrm>
          <a:prstGeom prst="rect">
            <a:avLst/>
          </a:prstGeom>
        </p:spPr>
      </p:pic>
      <p:sp>
        <p:nvSpPr>
          <p:cNvPr id="31" name="TextBox 30">
            <a:extLst>
              <a:ext uri="{FF2B5EF4-FFF2-40B4-BE49-F238E27FC236}">
                <a16:creationId xmlns:a16="http://schemas.microsoft.com/office/drawing/2014/main" id="{C6506EE5-BD3A-01E9-8643-9EBA5D8E712C}"/>
              </a:ext>
            </a:extLst>
          </p:cNvPr>
          <p:cNvSpPr txBox="1"/>
          <p:nvPr/>
        </p:nvSpPr>
        <p:spPr>
          <a:xfrm>
            <a:off x="1696403" y="6238875"/>
            <a:ext cx="4829175" cy="307777"/>
          </a:xfrm>
          <a:prstGeom prst="rect">
            <a:avLst/>
          </a:prstGeom>
          <a:noFill/>
        </p:spPr>
        <p:txBody>
          <a:bodyPr wrap="square" lIns="0" tIns="0" rIns="0" bIns="0" anchor="t">
            <a:spAutoFit/>
          </a:bodyPr>
          <a:lstStyle/>
          <a:p>
            <a:pPr algn="l"/>
            <a:r>
              <a:rPr sz="2000" b="0" i="0" u="none" dirty="0">
                <a:solidFill>
                  <a:srgbClr val="10B981"/>
                </a:solidFill>
                <a:latin typeface="Inter SemiBold"/>
              </a:rPr>
              <a:t>Streaming Pipeline Output</a:t>
            </a:r>
          </a:p>
        </p:txBody>
      </p:sp>
      <p:sp>
        <p:nvSpPr>
          <p:cNvPr id="33" name="TextBox 32">
            <a:extLst>
              <a:ext uri="{FF2B5EF4-FFF2-40B4-BE49-F238E27FC236}">
                <a16:creationId xmlns:a16="http://schemas.microsoft.com/office/drawing/2014/main" id="{C5626320-566E-D3E4-F03E-4CCDE28E2B89}"/>
              </a:ext>
            </a:extLst>
          </p:cNvPr>
          <p:cNvSpPr txBox="1"/>
          <p:nvPr/>
        </p:nvSpPr>
        <p:spPr>
          <a:xfrm>
            <a:off x="1696403" y="6572250"/>
            <a:ext cx="4829175" cy="240835"/>
          </a:xfrm>
          <a:prstGeom prst="rect">
            <a:avLst/>
          </a:prstGeom>
          <a:noFill/>
        </p:spPr>
        <p:txBody>
          <a:bodyPr wrap="square" lIns="0" tIns="0" rIns="0" bIns="0" anchor="t">
            <a:spAutoFit/>
          </a:bodyPr>
          <a:lstStyle/>
          <a:p>
            <a:pPr algn="l">
              <a:lnSpc>
                <a:spcPts val="1800"/>
              </a:lnSpc>
            </a:pPr>
            <a:r>
              <a:rPr sz="2000" b="0" i="0" u="none" dirty="0">
                <a:solidFill>
                  <a:schemeClr val="bg1"/>
                </a:solidFill>
                <a:latin typeface="Inter"/>
              </a:rPr>
              <a:t>December cleaned &amp; deduped records</a:t>
            </a:r>
          </a:p>
        </p:txBody>
      </p:sp>
      <p:sp>
        <p:nvSpPr>
          <p:cNvPr id="35" name="TextBox 34">
            <a:extLst>
              <a:ext uri="{FF2B5EF4-FFF2-40B4-BE49-F238E27FC236}">
                <a16:creationId xmlns:a16="http://schemas.microsoft.com/office/drawing/2014/main" id="{F71A599F-89B7-C79E-0492-3AF97C5E326C}"/>
              </a:ext>
            </a:extLst>
          </p:cNvPr>
          <p:cNvSpPr txBox="1"/>
          <p:nvPr/>
        </p:nvSpPr>
        <p:spPr>
          <a:xfrm>
            <a:off x="1448753" y="2790825"/>
            <a:ext cx="11581447" cy="553998"/>
          </a:xfrm>
          <a:prstGeom prst="rect">
            <a:avLst/>
          </a:prstGeom>
          <a:noFill/>
        </p:spPr>
        <p:txBody>
          <a:bodyPr wrap="square" lIns="0" tIns="0" rIns="0" bIns="0" anchor="t">
            <a:spAutoFit/>
          </a:bodyPr>
          <a:lstStyle/>
          <a:p>
            <a:pPr algn="l"/>
            <a:r>
              <a:rPr sz="3600" b="1" i="0" u="none" dirty="0">
                <a:solidFill>
                  <a:srgbClr val="FFFFFF"/>
                </a:solidFill>
                <a:latin typeface="Inter"/>
              </a:rPr>
              <a:t>Unifying Batch and Streaming Data</a:t>
            </a:r>
          </a:p>
        </p:txBody>
      </p:sp>
      <p:sp>
        <p:nvSpPr>
          <p:cNvPr id="37" name="Rectangle 36">
            <a:extLst>
              <a:ext uri="{FF2B5EF4-FFF2-40B4-BE49-F238E27FC236}">
                <a16:creationId xmlns:a16="http://schemas.microsoft.com/office/drawing/2014/main" id="{DBCCDF6A-4171-CB97-4209-87B471A65F30}"/>
              </a:ext>
            </a:extLst>
          </p:cNvPr>
          <p:cNvSpPr/>
          <p:nvPr/>
        </p:nvSpPr>
        <p:spPr>
          <a:xfrm>
            <a:off x="1448753" y="3371850"/>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698787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7DB355D9-1D85-FB5E-6A9D-F7865E53134B}"/>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24270E25-AF4B-37B9-075F-BA0A829CA549}"/>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3" name="Picture 2" descr="image.png">
            <a:extLst>
              <a:ext uri="{FF2B5EF4-FFF2-40B4-BE49-F238E27FC236}">
                <a16:creationId xmlns:a16="http://schemas.microsoft.com/office/drawing/2014/main" id="{8794397C-E980-C055-FD90-87E1918B2AE0}"/>
              </a:ext>
            </a:extLst>
          </p:cNvPr>
          <p:cNvPicPr>
            <a:picLocks noChangeAspect="1"/>
          </p:cNvPicPr>
          <p:nvPr/>
        </p:nvPicPr>
        <p:blipFill>
          <a:blip r:embed="rId2"/>
          <a:stretch>
            <a:fillRect/>
          </a:stretch>
        </p:blipFill>
        <p:spPr>
          <a:xfrm>
            <a:off x="2971800" y="7391401"/>
            <a:ext cx="11029950" cy="476250"/>
          </a:xfrm>
          <a:prstGeom prst="rect">
            <a:avLst/>
          </a:prstGeom>
        </p:spPr>
      </p:pic>
      <p:pic>
        <p:nvPicPr>
          <p:cNvPr id="6" name="Picture 5" descr="image.png">
            <a:extLst>
              <a:ext uri="{FF2B5EF4-FFF2-40B4-BE49-F238E27FC236}">
                <a16:creationId xmlns:a16="http://schemas.microsoft.com/office/drawing/2014/main" id="{87DEA533-9414-E644-6714-9BF8CBFA75D9}"/>
              </a:ext>
            </a:extLst>
          </p:cNvPr>
          <p:cNvPicPr>
            <a:picLocks noChangeAspect="1"/>
          </p:cNvPicPr>
          <p:nvPr/>
        </p:nvPicPr>
        <p:blipFill>
          <a:blip r:embed="rId3"/>
          <a:stretch>
            <a:fillRect/>
          </a:stretch>
        </p:blipFill>
        <p:spPr>
          <a:xfrm>
            <a:off x="2914651" y="4552950"/>
            <a:ext cx="3517850" cy="2038350"/>
          </a:xfrm>
          <a:prstGeom prst="rect">
            <a:avLst/>
          </a:prstGeom>
        </p:spPr>
      </p:pic>
      <p:pic>
        <p:nvPicPr>
          <p:cNvPr id="9" name="Picture 8" descr="image.png">
            <a:extLst>
              <a:ext uri="{FF2B5EF4-FFF2-40B4-BE49-F238E27FC236}">
                <a16:creationId xmlns:a16="http://schemas.microsoft.com/office/drawing/2014/main" id="{87D9713B-597D-D532-D789-83DEAF55BB6E}"/>
              </a:ext>
            </a:extLst>
          </p:cNvPr>
          <p:cNvPicPr>
            <a:picLocks noChangeAspect="1"/>
          </p:cNvPicPr>
          <p:nvPr/>
        </p:nvPicPr>
        <p:blipFill>
          <a:blip r:embed="rId4"/>
          <a:stretch>
            <a:fillRect/>
          </a:stretch>
        </p:blipFill>
        <p:spPr>
          <a:xfrm>
            <a:off x="6670626" y="4552950"/>
            <a:ext cx="3517850" cy="2038350"/>
          </a:xfrm>
          <a:prstGeom prst="rect">
            <a:avLst/>
          </a:prstGeom>
        </p:spPr>
      </p:pic>
      <p:pic>
        <p:nvPicPr>
          <p:cNvPr id="12" name="Picture 11" descr="image.png">
            <a:extLst>
              <a:ext uri="{FF2B5EF4-FFF2-40B4-BE49-F238E27FC236}">
                <a16:creationId xmlns:a16="http://schemas.microsoft.com/office/drawing/2014/main" id="{F65ACEC1-B71F-1105-2F68-ED5C7C937C80}"/>
              </a:ext>
            </a:extLst>
          </p:cNvPr>
          <p:cNvPicPr>
            <a:picLocks noChangeAspect="1"/>
          </p:cNvPicPr>
          <p:nvPr/>
        </p:nvPicPr>
        <p:blipFill>
          <a:blip r:embed="rId5"/>
          <a:stretch>
            <a:fillRect/>
          </a:stretch>
        </p:blipFill>
        <p:spPr>
          <a:xfrm>
            <a:off x="10426601" y="4552950"/>
            <a:ext cx="3517999" cy="2038350"/>
          </a:xfrm>
          <a:prstGeom prst="rect">
            <a:avLst/>
          </a:prstGeom>
        </p:spPr>
      </p:pic>
      <p:pic>
        <p:nvPicPr>
          <p:cNvPr id="15" name="Picture 14" descr="image.png">
            <a:extLst>
              <a:ext uri="{FF2B5EF4-FFF2-40B4-BE49-F238E27FC236}">
                <a16:creationId xmlns:a16="http://schemas.microsoft.com/office/drawing/2014/main" id="{A016899F-9CAF-1601-315E-2E20389B0908}"/>
              </a:ext>
            </a:extLst>
          </p:cNvPr>
          <p:cNvPicPr>
            <a:picLocks noChangeAspect="1"/>
          </p:cNvPicPr>
          <p:nvPr/>
        </p:nvPicPr>
        <p:blipFill>
          <a:blip r:embed="rId6"/>
          <a:stretch>
            <a:fillRect/>
          </a:stretch>
        </p:blipFill>
        <p:spPr>
          <a:xfrm>
            <a:off x="3162301" y="4800600"/>
            <a:ext cx="762000" cy="238125"/>
          </a:xfrm>
          <a:prstGeom prst="rect">
            <a:avLst/>
          </a:prstGeom>
        </p:spPr>
      </p:pic>
      <p:pic>
        <p:nvPicPr>
          <p:cNvPr id="18" name="Picture 17" descr="image.png">
            <a:extLst>
              <a:ext uri="{FF2B5EF4-FFF2-40B4-BE49-F238E27FC236}">
                <a16:creationId xmlns:a16="http://schemas.microsoft.com/office/drawing/2014/main" id="{9BA77708-7C3F-863D-F7AB-48ED5041BA7D}"/>
              </a:ext>
            </a:extLst>
          </p:cNvPr>
          <p:cNvPicPr>
            <a:picLocks noChangeAspect="1"/>
          </p:cNvPicPr>
          <p:nvPr/>
        </p:nvPicPr>
        <p:blipFill>
          <a:blip r:embed="rId7"/>
          <a:stretch>
            <a:fillRect/>
          </a:stretch>
        </p:blipFill>
        <p:spPr>
          <a:xfrm>
            <a:off x="6918276" y="4800600"/>
            <a:ext cx="809625" cy="238125"/>
          </a:xfrm>
          <a:prstGeom prst="rect">
            <a:avLst/>
          </a:prstGeom>
        </p:spPr>
      </p:pic>
      <p:pic>
        <p:nvPicPr>
          <p:cNvPr id="21" name="Picture 20" descr="image.png">
            <a:extLst>
              <a:ext uri="{FF2B5EF4-FFF2-40B4-BE49-F238E27FC236}">
                <a16:creationId xmlns:a16="http://schemas.microsoft.com/office/drawing/2014/main" id="{92F4D887-CAB7-6B97-4327-380A42139944}"/>
              </a:ext>
            </a:extLst>
          </p:cNvPr>
          <p:cNvPicPr>
            <a:picLocks noChangeAspect="1"/>
          </p:cNvPicPr>
          <p:nvPr/>
        </p:nvPicPr>
        <p:blipFill>
          <a:blip r:embed="rId8"/>
          <a:stretch>
            <a:fillRect/>
          </a:stretch>
        </p:blipFill>
        <p:spPr>
          <a:xfrm>
            <a:off x="10674251" y="4800600"/>
            <a:ext cx="695325" cy="238125"/>
          </a:xfrm>
          <a:prstGeom prst="rect">
            <a:avLst/>
          </a:prstGeom>
        </p:spPr>
      </p:pic>
      <p:sp>
        <p:nvSpPr>
          <p:cNvPr id="24" name="TextBox 23">
            <a:extLst>
              <a:ext uri="{FF2B5EF4-FFF2-40B4-BE49-F238E27FC236}">
                <a16:creationId xmlns:a16="http://schemas.microsoft.com/office/drawing/2014/main" id="{F6D692DA-E723-0F60-C475-09F69AA8673B}"/>
              </a:ext>
            </a:extLst>
          </p:cNvPr>
          <p:cNvSpPr txBox="1"/>
          <p:nvPr/>
        </p:nvSpPr>
        <p:spPr>
          <a:xfrm>
            <a:off x="3162301" y="5181600"/>
            <a:ext cx="3173677" cy="247650"/>
          </a:xfrm>
          <a:prstGeom prst="rect">
            <a:avLst/>
          </a:prstGeom>
          <a:noFill/>
        </p:spPr>
        <p:txBody>
          <a:bodyPr wrap="square" lIns="0" tIns="0" rIns="0" bIns="0" anchor="t">
            <a:spAutoFit/>
          </a:bodyPr>
          <a:lstStyle/>
          <a:p>
            <a:pPr algn="l"/>
            <a:r>
              <a:rPr sz="1650" b="1" i="0" u="none">
                <a:solidFill>
                  <a:srgbClr val="38BDF8"/>
                </a:solidFill>
                <a:latin typeface="Inter"/>
              </a:rPr>
              <a:t>Standardized Data</a:t>
            </a:r>
          </a:p>
        </p:txBody>
      </p:sp>
      <p:sp>
        <p:nvSpPr>
          <p:cNvPr id="27" name="TextBox 26">
            <a:extLst>
              <a:ext uri="{FF2B5EF4-FFF2-40B4-BE49-F238E27FC236}">
                <a16:creationId xmlns:a16="http://schemas.microsoft.com/office/drawing/2014/main" id="{8166AE50-E3B9-E215-500F-217EBE94968D}"/>
              </a:ext>
            </a:extLst>
          </p:cNvPr>
          <p:cNvSpPr txBox="1"/>
          <p:nvPr/>
        </p:nvSpPr>
        <p:spPr>
          <a:xfrm>
            <a:off x="3162301" y="5572125"/>
            <a:ext cx="3022550" cy="771525"/>
          </a:xfrm>
          <a:prstGeom prst="rect">
            <a:avLst/>
          </a:prstGeom>
          <a:noFill/>
        </p:spPr>
        <p:txBody>
          <a:bodyPr wrap="square" lIns="0" tIns="0" rIns="0" bIns="0" anchor="t">
            <a:spAutoFit/>
          </a:bodyPr>
          <a:lstStyle/>
          <a:p>
            <a:pPr algn="l">
              <a:lnSpc>
                <a:spcPts val="2025"/>
              </a:lnSpc>
            </a:pPr>
            <a:r>
              <a:rPr sz="1350" b="0" i="0" u="none" dirty="0">
                <a:solidFill>
                  <a:schemeClr val="bg1"/>
                </a:solidFill>
                <a:latin typeface="Inter"/>
              </a:rPr>
              <a:t>Nulls handled, timestamps parsed, coordinates validated, and invalid records filtered out.</a:t>
            </a:r>
          </a:p>
        </p:txBody>
      </p:sp>
      <p:sp>
        <p:nvSpPr>
          <p:cNvPr id="30" name="TextBox 29">
            <a:extLst>
              <a:ext uri="{FF2B5EF4-FFF2-40B4-BE49-F238E27FC236}">
                <a16:creationId xmlns:a16="http://schemas.microsoft.com/office/drawing/2014/main" id="{D2ABF3BB-0971-F145-1F34-F6D2CF2DBF48}"/>
              </a:ext>
            </a:extLst>
          </p:cNvPr>
          <p:cNvSpPr txBox="1"/>
          <p:nvPr/>
        </p:nvSpPr>
        <p:spPr>
          <a:xfrm>
            <a:off x="6918276" y="5181600"/>
            <a:ext cx="3173677" cy="247650"/>
          </a:xfrm>
          <a:prstGeom prst="rect">
            <a:avLst/>
          </a:prstGeom>
          <a:noFill/>
        </p:spPr>
        <p:txBody>
          <a:bodyPr wrap="square" lIns="0" tIns="0" rIns="0" bIns="0" anchor="t">
            <a:spAutoFit/>
          </a:bodyPr>
          <a:lstStyle/>
          <a:p>
            <a:pPr algn="l"/>
            <a:r>
              <a:rPr sz="1650" b="1" i="0" u="none">
                <a:solidFill>
                  <a:srgbClr val="38BDF8"/>
                </a:solidFill>
                <a:latin typeface="Inter"/>
              </a:rPr>
              <a:t>GeoHash &amp; Duration</a:t>
            </a:r>
          </a:p>
        </p:txBody>
      </p:sp>
      <p:sp>
        <p:nvSpPr>
          <p:cNvPr id="34" name="TextBox 33">
            <a:extLst>
              <a:ext uri="{FF2B5EF4-FFF2-40B4-BE49-F238E27FC236}">
                <a16:creationId xmlns:a16="http://schemas.microsoft.com/office/drawing/2014/main" id="{5CB7704B-6653-C915-F44C-111B0C2D3B4D}"/>
              </a:ext>
            </a:extLst>
          </p:cNvPr>
          <p:cNvSpPr txBox="1"/>
          <p:nvPr/>
        </p:nvSpPr>
        <p:spPr>
          <a:xfrm>
            <a:off x="6918276" y="5572125"/>
            <a:ext cx="3022550" cy="771525"/>
          </a:xfrm>
          <a:prstGeom prst="rect">
            <a:avLst/>
          </a:prstGeom>
          <a:noFill/>
        </p:spPr>
        <p:txBody>
          <a:bodyPr wrap="square" lIns="0" tIns="0" rIns="0" bIns="0" anchor="t">
            <a:spAutoFit/>
          </a:bodyPr>
          <a:lstStyle/>
          <a:p>
            <a:pPr algn="l">
              <a:lnSpc>
                <a:spcPts val="2025"/>
              </a:lnSpc>
            </a:pPr>
            <a:r>
              <a:rPr sz="1350" b="0" i="0" u="none" dirty="0">
                <a:solidFill>
                  <a:schemeClr val="bg1"/>
                </a:solidFill>
                <a:latin typeface="Inter"/>
              </a:rPr>
              <a:t>Spatial hashing applied for regional aggregation, alongside trip duration calculations.</a:t>
            </a:r>
          </a:p>
        </p:txBody>
      </p:sp>
      <p:sp>
        <p:nvSpPr>
          <p:cNvPr id="38" name="TextBox 37">
            <a:extLst>
              <a:ext uri="{FF2B5EF4-FFF2-40B4-BE49-F238E27FC236}">
                <a16:creationId xmlns:a16="http://schemas.microsoft.com/office/drawing/2014/main" id="{70B23C1E-BA0A-7961-67A6-FF7F2D7BA829}"/>
              </a:ext>
            </a:extLst>
          </p:cNvPr>
          <p:cNvSpPr txBox="1"/>
          <p:nvPr/>
        </p:nvSpPr>
        <p:spPr>
          <a:xfrm>
            <a:off x="10674251" y="5181600"/>
            <a:ext cx="3173834" cy="247650"/>
          </a:xfrm>
          <a:prstGeom prst="rect">
            <a:avLst/>
          </a:prstGeom>
          <a:noFill/>
        </p:spPr>
        <p:txBody>
          <a:bodyPr wrap="square" lIns="0" tIns="0" rIns="0" bIns="0" anchor="t">
            <a:spAutoFit/>
          </a:bodyPr>
          <a:lstStyle/>
          <a:p>
            <a:pPr algn="l"/>
            <a:r>
              <a:rPr sz="1650" b="1" i="0" u="none">
                <a:solidFill>
                  <a:srgbClr val="38BDF8"/>
                </a:solidFill>
                <a:latin typeface="Inter"/>
              </a:rPr>
              <a:t>Batch + Stream Merge</a:t>
            </a:r>
          </a:p>
        </p:txBody>
      </p:sp>
      <p:sp>
        <p:nvSpPr>
          <p:cNvPr id="41" name="TextBox 40">
            <a:extLst>
              <a:ext uri="{FF2B5EF4-FFF2-40B4-BE49-F238E27FC236}">
                <a16:creationId xmlns:a16="http://schemas.microsoft.com/office/drawing/2014/main" id="{FEE0C235-6178-BE4F-B817-D1AAAAC91B83}"/>
              </a:ext>
            </a:extLst>
          </p:cNvPr>
          <p:cNvSpPr txBox="1"/>
          <p:nvPr/>
        </p:nvSpPr>
        <p:spPr>
          <a:xfrm>
            <a:off x="10674251" y="5572125"/>
            <a:ext cx="3022699" cy="771525"/>
          </a:xfrm>
          <a:prstGeom prst="rect">
            <a:avLst/>
          </a:prstGeom>
          <a:noFill/>
        </p:spPr>
        <p:txBody>
          <a:bodyPr wrap="square" lIns="0" tIns="0" rIns="0" bIns="0" anchor="t">
            <a:spAutoFit/>
          </a:bodyPr>
          <a:lstStyle/>
          <a:p>
            <a:pPr algn="l">
              <a:lnSpc>
                <a:spcPts val="2025"/>
              </a:lnSpc>
            </a:pPr>
            <a:r>
              <a:rPr sz="1350" b="0" i="0" u="none" dirty="0">
                <a:solidFill>
                  <a:schemeClr val="bg1"/>
                </a:solidFill>
                <a:latin typeface="Inter"/>
              </a:rPr>
              <a:t>Combines historical months and live stream records into one reliable dataset on HDFS.</a:t>
            </a:r>
          </a:p>
        </p:txBody>
      </p:sp>
      <p:sp>
        <p:nvSpPr>
          <p:cNvPr id="43" name="TextBox 42">
            <a:extLst>
              <a:ext uri="{FF2B5EF4-FFF2-40B4-BE49-F238E27FC236}">
                <a16:creationId xmlns:a16="http://schemas.microsoft.com/office/drawing/2014/main" id="{D560FD00-E67F-0DAE-DF48-6F5D6D5CEDA6}"/>
              </a:ext>
            </a:extLst>
          </p:cNvPr>
          <p:cNvSpPr txBox="1"/>
          <p:nvPr/>
        </p:nvSpPr>
        <p:spPr>
          <a:xfrm>
            <a:off x="1677353" y="2876550"/>
            <a:ext cx="11581447" cy="553998"/>
          </a:xfrm>
          <a:prstGeom prst="rect">
            <a:avLst/>
          </a:prstGeom>
          <a:noFill/>
        </p:spPr>
        <p:txBody>
          <a:bodyPr wrap="square" lIns="0" tIns="0" rIns="0" bIns="0" anchor="t">
            <a:spAutoFit/>
          </a:bodyPr>
          <a:lstStyle/>
          <a:p>
            <a:pPr algn="l"/>
            <a:r>
              <a:rPr sz="3600" b="1" i="0" u="none" dirty="0">
                <a:solidFill>
                  <a:srgbClr val="FFFFFF"/>
                </a:solidFill>
                <a:latin typeface="Inter"/>
              </a:rPr>
              <a:t>Silver Layer — Unified &amp; Clean Data</a:t>
            </a:r>
          </a:p>
        </p:txBody>
      </p:sp>
      <p:sp>
        <p:nvSpPr>
          <p:cNvPr id="45" name="Rectangle 44">
            <a:extLst>
              <a:ext uri="{FF2B5EF4-FFF2-40B4-BE49-F238E27FC236}">
                <a16:creationId xmlns:a16="http://schemas.microsoft.com/office/drawing/2014/main" id="{BCB114ED-03B4-899A-7BA4-7539EC42BBE0}"/>
              </a:ext>
            </a:extLst>
          </p:cNvPr>
          <p:cNvSpPr/>
          <p:nvPr/>
        </p:nvSpPr>
        <p:spPr>
          <a:xfrm>
            <a:off x="1677353" y="3457575"/>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135719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146E2FC0-4117-BB10-08BE-0D39138DF3DC}"/>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9BF30AD4-9D6B-E821-64DA-A07C1F130526}"/>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4" name="Picture 3" descr="image.png">
            <a:extLst>
              <a:ext uri="{FF2B5EF4-FFF2-40B4-BE49-F238E27FC236}">
                <a16:creationId xmlns:a16="http://schemas.microsoft.com/office/drawing/2014/main" id="{798C7220-14FE-7B5A-D4F3-1DBFCCC861A6}"/>
              </a:ext>
            </a:extLst>
          </p:cNvPr>
          <p:cNvPicPr>
            <a:picLocks noChangeAspect="1"/>
          </p:cNvPicPr>
          <p:nvPr/>
        </p:nvPicPr>
        <p:blipFill>
          <a:blip r:embed="rId2"/>
          <a:stretch>
            <a:fillRect/>
          </a:stretch>
        </p:blipFill>
        <p:spPr>
          <a:xfrm>
            <a:off x="9610725" y="4457700"/>
            <a:ext cx="5324475" cy="1657350"/>
          </a:xfrm>
          <a:prstGeom prst="rect">
            <a:avLst/>
          </a:prstGeom>
        </p:spPr>
      </p:pic>
      <p:sp>
        <p:nvSpPr>
          <p:cNvPr id="7" name="TextBox 6">
            <a:extLst>
              <a:ext uri="{FF2B5EF4-FFF2-40B4-BE49-F238E27FC236}">
                <a16:creationId xmlns:a16="http://schemas.microsoft.com/office/drawing/2014/main" id="{05DBFAB1-A2D7-E9C9-06E6-DADC995E2340}"/>
              </a:ext>
            </a:extLst>
          </p:cNvPr>
          <p:cNvSpPr txBox="1"/>
          <p:nvPr/>
        </p:nvSpPr>
        <p:spPr>
          <a:xfrm>
            <a:off x="1296353" y="4104501"/>
            <a:ext cx="5590698" cy="492443"/>
          </a:xfrm>
          <a:prstGeom prst="rect">
            <a:avLst/>
          </a:prstGeom>
          <a:noFill/>
        </p:spPr>
        <p:txBody>
          <a:bodyPr wrap="square" lIns="0" tIns="0" rIns="0" bIns="0" anchor="t">
            <a:spAutoFit/>
          </a:bodyPr>
          <a:lstStyle/>
          <a:p>
            <a:pPr algn="l"/>
            <a:r>
              <a:rPr sz="3200" b="1" i="0" u="none" dirty="0">
                <a:solidFill>
                  <a:schemeClr val="bg1"/>
                </a:solidFill>
                <a:latin typeface="Inter"/>
              </a:rPr>
              <a:t>Star Schema Architecture</a:t>
            </a:r>
          </a:p>
        </p:txBody>
      </p:sp>
      <p:sp>
        <p:nvSpPr>
          <p:cNvPr id="10" name="TextBox 9">
            <a:extLst>
              <a:ext uri="{FF2B5EF4-FFF2-40B4-BE49-F238E27FC236}">
                <a16:creationId xmlns:a16="http://schemas.microsoft.com/office/drawing/2014/main" id="{4996D47A-5534-BAD8-E761-514AD98AE217}"/>
              </a:ext>
            </a:extLst>
          </p:cNvPr>
          <p:cNvSpPr txBox="1"/>
          <p:nvPr/>
        </p:nvSpPr>
        <p:spPr>
          <a:xfrm>
            <a:off x="1296353" y="4743450"/>
            <a:ext cx="7923847" cy="786562"/>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The Gold layer organizes the unified Silver data into an optimized dimensional star schema for high-performance analytical queries.</a:t>
            </a:r>
          </a:p>
        </p:txBody>
      </p:sp>
      <p:sp>
        <p:nvSpPr>
          <p:cNvPr id="13" name="TextBox 12">
            <a:extLst>
              <a:ext uri="{FF2B5EF4-FFF2-40B4-BE49-F238E27FC236}">
                <a16:creationId xmlns:a16="http://schemas.microsoft.com/office/drawing/2014/main" id="{C663E363-2367-CE07-FF0E-E0F9F8F5C265}"/>
              </a:ext>
            </a:extLst>
          </p:cNvPr>
          <p:cNvSpPr txBox="1"/>
          <p:nvPr/>
        </p:nvSpPr>
        <p:spPr>
          <a:xfrm>
            <a:off x="9858375" y="4705350"/>
            <a:ext cx="5070633" cy="247650"/>
          </a:xfrm>
          <a:prstGeom prst="rect">
            <a:avLst/>
          </a:prstGeom>
          <a:noFill/>
        </p:spPr>
        <p:txBody>
          <a:bodyPr wrap="square" lIns="0" tIns="0" rIns="0" bIns="0" anchor="t">
            <a:spAutoFit/>
          </a:bodyPr>
          <a:lstStyle/>
          <a:p>
            <a:pPr algn="l"/>
            <a:r>
              <a:rPr sz="1650" b="1" i="0" u="none">
                <a:solidFill>
                  <a:srgbClr val="10B981"/>
                </a:solidFill>
                <a:latin typeface="Inter"/>
              </a:rPr>
              <a:t>Incremental Gold ETL</a:t>
            </a:r>
          </a:p>
        </p:txBody>
      </p:sp>
      <p:sp>
        <p:nvSpPr>
          <p:cNvPr id="16" name="TextBox 15">
            <a:extLst>
              <a:ext uri="{FF2B5EF4-FFF2-40B4-BE49-F238E27FC236}">
                <a16:creationId xmlns:a16="http://schemas.microsoft.com/office/drawing/2014/main" id="{7883F68D-2067-FBC3-A1C2-732D64092F62}"/>
              </a:ext>
            </a:extLst>
          </p:cNvPr>
          <p:cNvSpPr txBox="1"/>
          <p:nvPr/>
        </p:nvSpPr>
        <p:spPr>
          <a:xfrm>
            <a:off x="9858375" y="5095875"/>
            <a:ext cx="4829175" cy="771525"/>
          </a:xfrm>
          <a:prstGeom prst="rect">
            <a:avLst/>
          </a:prstGeom>
          <a:noFill/>
        </p:spPr>
        <p:txBody>
          <a:bodyPr wrap="square" lIns="0" tIns="0" rIns="0" bIns="0" anchor="t">
            <a:spAutoFit/>
          </a:bodyPr>
          <a:lstStyle/>
          <a:p>
            <a:pPr algn="l">
              <a:lnSpc>
                <a:spcPts val="2025"/>
              </a:lnSpc>
            </a:pPr>
            <a:r>
              <a:rPr sz="1350" b="0" i="0" u="none">
                <a:solidFill>
                  <a:srgbClr val="94A3B8"/>
                </a:solidFill>
                <a:latin typeface="Inter"/>
              </a:rPr>
              <a:t>Built via `gold_etl.py` using the same seen-identifier tracking pattern, allowing incremental updates without duplication.</a:t>
            </a:r>
          </a:p>
        </p:txBody>
      </p:sp>
      <p:sp>
        <p:nvSpPr>
          <p:cNvPr id="19" name="TextBox 18">
            <a:extLst>
              <a:ext uri="{FF2B5EF4-FFF2-40B4-BE49-F238E27FC236}">
                <a16:creationId xmlns:a16="http://schemas.microsoft.com/office/drawing/2014/main" id="{9B5EE91E-7E09-2C8F-5330-2E252FA09C6C}"/>
              </a:ext>
            </a:extLst>
          </p:cNvPr>
          <p:cNvSpPr txBox="1"/>
          <p:nvPr/>
        </p:nvSpPr>
        <p:spPr>
          <a:xfrm>
            <a:off x="1582103" y="5860499"/>
            <a:ext cx="5038725" cy="273601"/>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Central Fact Table: </a:t>
            </a:r>
            <a:r>
              <a:rPr sz="2400" b="1" i="0" u="none" dirty="0">
                <a:solidFill>
                  <a:schemeClr val="bg1"/>
                </a:solidFill>
                <a:latin typeface="Inter"/>
              </a:rPr>
              <a:t>FACT_TRIP</a:t>
            </a:r>
          </a:p>
        </p:txBody>
      </p:sp>
      <p:sp>
        <p:nvSpPr>
          <p:cNvPr id="22" name="TextBox 21">
            <a:extLst>
              <a:ext uri="{FF2B5EF4-FFF2-40B4-BE49-F238E27FC236}">
                <a16:creationId xmlns:a16="http://schemas.microsoft.com/office/drawing/2014/main" id="{86E2144A-A73C-18A3-ED62-D74AA65A5502}"/>
              </a:ext>
            </a:extLst>
          </p:cNvPr>
          <p:cNvSpPr txBox="1"/>
          <p:nvPr/>
        </p:nvSpPr>
        <p:spPr>
          <a:xfrm>
            <a:off x="1582103" y="6470099"/>
            <a:ext cx="7409497" cy="273601"/>
          </a:xfrm>
          <a:prstGeom prst="rect">
            <a:avLst/>
          </a:prstGeom>
          <a:noFill/>
        </p:spPr>
        <p:txBody>
          <a:bodyPr wrap="square" lIns="0" tIns="0" rIns="0" bIns="0" anchor="t">
            <a:spAutoFit/>
          </a:bodyPr>
          <a:lstStyle/>
          <a:p>
            <a:pPr algn="l">
              <a:lnSpc>
                <a:spcPts val="2025"/>
              </a:lnSpc>
            </a:pPr>
            <a:r>
              <a:rPr sz="2400" b="0" i="0" u="none" dirty="0">
                <a:solidFill>
                  <a:schemeClr val="bg1"/>
                </a:solidFill>
                <a:latin typeface="Inter"/>
              </a:rPr>
              <a:t>Dimension Tables for Date, Time, Geography, and Duration.</a:t>
            </a:r>
          </a:p>
        </p:txBody>
      </p:sp>
      <p:pic>
        <p:nvPicPr>
          <p:cNvPr id="25" name="Picture 24" descr="image.png">
            <a:extLst>
              <a:ext uri="{FF2B5EF4-FFF2-40B4-BE49-F238E27FC236}">
                <a16:creationId xmlns:a16="http://schemas.microsoft.com/office/drawing/2014/main" id="{0AD5A975-9551-E687-B534-EAEB48400DA5}"/>
              </a:ext>
            </a:extLst>
          </p:cNvPr>
          <p:cNvPicPr>
            <a:picLocks noChangeAspect="1"/>
          </p:cNvPicPr>
          <p:nvPr/>
        </p:nvPicPr>
        <p:blipFill>
          <a:blip r:embed="rId3"/>
          <a:stretch>
            <a:fillRect/>
          </a:stretch>
        </p:blipFill>
        <p:spPr>
          <a:xfrm>
            <a:off x="1296353" y="5893836"/>
            <a:ext cx="190500" cy="180975"/>
          </a:xfrm>
          <a:prstGeom prst="rect">
            <a:avLst/>
          </a:prstGeom>
        </p:spPr>
      </p:pic>
      <p:pic>
        <p:nvPicPr>
          <p:cNvPr id="28" name="Picture 27" descr="image.png">
            <a:extLst>
              <a:ext uri="{FF2B5EF4-FFF2-40B4-BE49-F238E27FC236}">
                <a16:creationId xmlns:a16="http://schemas.microsoft.com/office/drawing/2014/main" id="{6E8F8E40-AED8-70A0-DAC8-2905D3908929}"/>
              </a:ext>
            </a:extLst>
          </p:cNvPr>
          <p:cNvPicPr>
            <a:picLocks noChangeAspect="1"/>
          </p:cNvPicPr>
          <p:nvPr/>
        </p:nvPicPr>
        <p:blipFill>
          <a:blip r:embed="rId4"/>
          <a:stretch>
            <a:fillRect/>
          </a:stretch>
        </p:blipFill>
        <p:spPr>
          <a:xfrm>
            <a:off x="1296353" y="6503436"/>
            <a:ext cx="171450" cy="180975"/>
          </a:xfrm>
          <a:prstGeom prst="rect">
            <a:avLst/>
          </a:prstGeom>
        </p:spPr>
      </p:pic>
      <p:sp>
        <p:nvSpPr>
          <p:cNvPr id="31" name="TextBox 30">
            <a:extLst>
              <a:ext uri="{FF2B5EF4-FFF2-40B4-BE49-F238E27FC236}">
                <a16:creationId xmlns:a16="http://schemas.microsoft.com/office/drawing/2014/main" id="{C0846A85-9A05-C3F2-F783-397A3D577072}"/>
              </a:ext>
            </a:extLst>
          </p:cNvPr>
          <p:cNvSpPr txBox="1"/>
          <p:nvPr/>
        </p:nvSpPr>
        <p:spPr>
          <a:xfrm>
            <a:off x="1296353" y="2457450"/>
            <a:ext cx="11581447" cy="553998"/>
          </a:xfrm>
          <a:prstGeom prst="rect">
            <a:avLst/>
          </a:prstGeom>
          <a:noFill/>
        </p:spPr>
        <p:txBody>
          <a:bodyPr wrap="square" lIns="0" tIns="0" rIns="0" bIns="0" anchor="t">
            <a:spAutoFit/>
          </a:bodyPr>
          <a:lstStyle/>
          <a:p>
            <a:pPr algn="l"/>
            <a:r>
              <a:rPr sz="3600" b="1" i="0" u="none" dirty="0">
                <a:solidFill>
                  <a:srgbClr val="FFFFFF"/>
                </a:solidFill>
                <a:latin typeface="Inter"/>
              </a:rPr>
              <a:t>Gold Layer — Dimensional Data Warehouse</a:t>
            </a:r>
          </a:p>
        </p:txBody>
      </p:sp>
      <p:sp>
        <p:nvSpPr>
          <p:cNvPr id="33" name="Rectangle 32">
            <a:extLst>
              <a:ext uri="{FF2B5EF4-FFF2-40B4-BE49-F238E27FC236}">
                <a16:creationId xmlns:a16="http://schemas.microsoft.com/office/drawing/2014/main" id="{4CF030B3-D594-0D12-4CA3-C988F6CE8E4A}"/>
              </a:ext>
            </a:extLst>
          </p:cNvPr>
          <p:cNvSpPr/>
          <p:nvPr/>
        </p:nvSpPr>
        <p:spPr>
          <a:xfrm>
            <a:off x="1296353" y="3038475"/>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391833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11ED703E-F60F-1F96-0DF7-8B57B9ACF3F5}"/>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C8AB8F3C-0766-90E4-F4CF-836532E67B58}"/>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7048243-344B-DCED-FCA6-10D887754F1A}"/>
              </a:ext>
            </a:extLst>
          </p:cNvPr>
          <p:cNvSpPr txBox="1"/>
          <p:nvPr/>
        </p:nvSpPr>
        <p:spPr>
          <a:xfrm>
            <a:off x="609600" y="2148840"/>
            <a:ext cx="6766560" cy="7315200"/>
          </a:xfrm>
          <a:prstGeom prst="rect">
            <a:avLst/>
          </a:prstGeom>
          <a:noFill/>
        </p:spPr>
        <p:txBody>
          <a:bodyPr wrap="square" rtlCol="0">
            <a:spAutoFit/>
          </a:bodyPr>
          <a:lstStyle/>
          <a:p>
            <a:pPr marL="571500" indent="-571500">
              <a:buFont typeface="Arial" panose="020B0604020202020204" pitchFamily="34" charset="0"/>
              <a:buChar char="•"/>
            </a:pPr>
            <a:r>
              <a:rPr lang="en-US" sz="1700" b="1" dirty="0">
                <a:solidFill>
                  <a:schemeClr val="bg1"/>
                </a:solidFill>
                <a:latin typeface="Arial" panose="020B0604020202020204" pitchFamily="34" charset="0"/>
                <a:cs typeface="Arial" panose="020B0604020202020204" pitchFamily="34" charset="0"/>
              </a:rPr>
              <a:t>Data Warehouse Design</a:t>
            </a:r>
          </a:p>
          <a:p>
            <a:pPr marL="742950" lvl="1" indent="-285750">
              <a:buFont typeface="Arial" panose="020B0604020202020204" pitchFamily="34" charset="0"/>
              <a:buChar char="•"/>
            </a:pPr>
            <a:r>
              <a:rPr lang="en-US" sz="1700" dirty="0">
                <a:solidFill>
                  <a:schemeClr val="bg1"/>
                </a:solidFill>
                <a:latin typeface="Arial" panose="020B0604020202020204" pitchFamily="34" charset="0"/>
                <a:cs typeface="Arial" panose="020B0604020202020204" pitchFamily="34" charset="0"/>
              </a:rPr>
              <a:t>Fact_Trip: trip_id, date_key, time_key, start/end_geo_key, duration_bucket_key, trip_duration_sec, is_same_cell</a:t>
            </a:r>
          </a:p>
          <a:p>
            <a:pPr marL="742950" lvl="1" indent="-285750">
              <a:buFont typeface="Arial" panose="020B0604020202020204" pitchFamily="34" charset="0"/>
              <a:buChar char="•"/>
            </a:pPr>
            <a:r>
              <a:rPr lang="en-US" sz="1700" dirty="0">
                <a:solidFill>
                  <a:schemeClr val="bg1"/>
                </a:solidFill>
                <a:latin typeface="Arial" panose="020B0604020202020204" pitchFamily="34" charset="0"/>
                <a:cs typeface="Arial" panose="020B0604020202020204" pitchFamily="34" charset="0"/>
              </a:rPr>
              <a:t>Dim_Date, Dim_Time, Dim_Geography (Start/End), Dim_Duration_Bucket -- built incrementally via gold_etl.py with checkpoint files</a:t>
            </a:r>
          </a:p>
        </p:txBody>
      </p:sp>
      <p:pic>
        <p:nvPicPr>
          <p:cNvPr id="40" name="Picture 39" descr="star_schema.png"/>
          <p:cNvPicPr>
            <a:picLocks noChangeAspect="1"/>
          </p:cNvPicPr>
          <p:nvPr/>
        </p:nvPicPr>
        <p:blipFill>
          <a:blip r:embed="rId3"/>
          <a:stretch>
            <a:fillRect/>
          </a:stretch>
        </p:blipFill>
        <p:spPr>
          <a:xfrm>
            <a:off x="7955279" y="2377440"/>
            <a:ext cx="9692640" cy="5449824"/>
          </a:xfrm>
          <a:prstGeom prst="rect">
            <a:avLst/>
          </a:prstGeom>
        </p:spPr>
      </p:pic>
      <p:sp>
        <p:nvSpPr>
          <p:cNvPr id="41" name="TextBox 40"/>
          <p:cNvSpPr txBox="1"/>
          <p:nvPr/>
        </p:nvSpPr>
        <p:spPr>
          <a:xfrm>
            <a:off x="612648" y="4343400"/>
            <a:ext cx="6766560" cy="365760"/>
          </a:xfrm>
          <a:prstGeom prst="rect">
            <a:avLst/>
          </a:prstGeom>
          <a:noFill/>
        </p:spPr>
        <p:txBody>
          <a:bodyPr wrap="none" lIns="0" tIns="0">
            <a:spAutoFit/>
          </a:bodyPr>
          <a:lstStyle/>
          <a:p>
            <a:r>
              <a:rPr sz="1400" b="1">
                <a:solidFill>
                  <a:srgbClr val="C7D2EE"/>
                </a:solidFill>
                <a:latin typeface="Arial"/>
              </a:rPr>
              <a:t>Actual Power BI Data Model View</a:t>
            </a:r>
          </a:p>
        </p:txBody>
      </p:sp>
      <p:pic>
        <p:nvPicPr>
          <p:cNvPr id="42" name="Picture 41" descr="WhatsApp Image 2026-09-04 at 20.42.04.jpeg"/>
          <p:cNvPicPr>
            <a:picLocks noChangeAspect="1"/>
          </p:cNvPicPr>
          <p:nvPr/>
        </p:nvPicPr>
        <p:blipFill>
          <a:blip r:embed="rId4"/>
          <a:stretch>
            <a:fillRect/>
          </a:stretch>
        </p:blipFill>
        <p:spPr>
          <a:xfrm>
            <a:off x="612648" y="4800600"/>
            <a:ext cx="6035040" cy="4639098"/>
          </a:xfrm>
          <a:prstGeom prst="rect">
            <a:avLst/>
          </a:prstGeom>
        </p:spPr>
      </p:pic>
    </p:spTree>
    <p:extLst>
      <p:ext uri="{BB962C8B-B14F-4D97-AF65-F5344CB8AC3E}">
        <p14:creationId xmlns:p14="http://schemas.microsoft.com/office/powerpoint/2010/main" val="1079137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C7C4DEE3-CCA4-A902-1E1B-C5AE94428219}"/>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DDC46DB8-BB73-602E-CDB6-3EFC2A40EFE7}"/>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3" name="Picture 2" descr="image.png">
            <a:extLst>
              <a:ext uri="{FF2B5EF4-FFF2-40B4-BE49-F238E27FC236}">
                <a16:creationId xmlns:a16="http://schemas.microsoft.com/office/drawing/2014/main" id="{121B2BA6-1D3B-F00A-659C-CC2FEC99362B}"/>
              </a:ext>
            </a:extLst>
          </p:cNvPr>
          <p:cNvPicPr>
            <a:picLocks noChangeAspect="1"/>
          </p:cNvPicPr>
          <p:nvPr/>
        </p:nvPicPr>
        <p:blipFill>
          <a:blip r:embed="rId2"/>
          <a:stretch>
            <a:fillRect/>
          </a:stretch>
        </p:blipFill>
        <p:spPr>
          <a:xfrm>
            <a:off x="685800" y="3986212"/>
            <a:ext cx="11029950" cy="1276350"/>
          </a:xfrm>
          <a:prstGeom prst="rect">
            <a:avLst/>
          </a:prstGeom>
        </p:spPr>
      </p:pic>
      <p:pic>
        <p:nvPicPr>
          <p:cNvPr id="6" name="Picture 5" descr="image.png">
            <a:extLst>
              <a:ext uri="{FF2B5EF4-FFF2-40B4-BE49-F238E27FC236}">
                <a16:creationId xmlns:a16="http://schemas.microsoft.com/office/drawing/2014/main" id="{70991AA1-DBD7-BEAE-4D2D-617996A9B0BD}"/>
              </a:ext>
            </a:extLst>
          </p:cNvPr>
          <p:cNvPicPr>
            <a:picLocks noChangeAspect="1"/>
          </p:cNvPicPr>
          <p:nvPr/>
        </p:nvPicPr>
        <p:blipFill>
          <a:blip r:embed="rId3"/>
          <a:stretch>
            <a:fillRect/>
          </a:stretch>
        </p:blipFill>
        <p:spPr>
          <a:xfrm>
            <a:off x="1076325" y="4281487"/>
            <a:ext cx="2276475" cy="685800"/>
          </a:xfrm>
          <a:prstGeom prst="rect">
            <a:avLst/>
          </a:prstGeom>
        </p:spPr>
      </p:pic>
      <p:pic>
        <p:nvPicPr>
          <p:cNvPr id="9" name="Picture 8" descr="image.png">
            <a:extLst>
              <a:ext uri="{FF2B5EF4-FFF2-40B4-BE49-F238E27FC236}">
                <a16:creationId xmlns:a16="http://schemas.microsoft.com/office/drawing/2014/main" id="{9C490C0B-5563-35AC-EC5A-717B05973809}"/>
              </a:ext>
            </a:extLst>
          </p:cNvPr>
          <p:cNvPicPr>
            <a:picLocks noChangeAspect="1"/>
          </p:cNvPicPr>
          <p:nvPr/>
        </p:nvPicPr>
        <p:blipFill>
          <a:blip r:embed="rId4"/>
          <a:stretch>
            <a:fillRect/>
          </a:stretch>
        </p:blipFill>
        <p:spPr>
          <a:xfrm>
            <a:off x="3733800" y="4376737"/>
            <a:ext cx="2276475" cy="495300"/>
          </a:xfrm>
          <a:prstGeom prst="rect">
            <a:avLst/>
          </a:prstGeom>
        </p:spPr>
      </p:pic>
      <p:pic>
        <p:nvPicPr>
          <p:cNvPr id="12" name="Picture 11" descr="image.png">
            <a:extLst>
              <a:ext uri="{FF2B5EF4-FFF2-40B4-BE49-F238E27FC236}">
                <a16:creationId xmlns:a16="http://schemas.microsoft.com/office/drawing/2014/main" id="{6DCD6ED9-5C8A-3693-3021-BE27E19CCD4E}"/>
              </a:ext>
            </a:extLst>
          </p:cNvPr>
          <p:cNvPicPr>
            <a:picLocks noChangeAspect="1"/>
          </p:cNvPicPr>
          <p:nvPr/>
        </p:nvPicPr>
        <p:blipFill>
          <a:blip r:embed="rId5"/>
          <a:stretch>
            <a:fillRect/>
          </a:stretch>
        </p:blipFill>
        <p:spPr>
          <a:xfrm>
            <a:off x="6391275" y="4376737"/>
            <a:ext cx="2276475" cy="495300"/>
          </a:xfrm>
          <a:prstGeom prst="rect">
            <a:avLst/>
          </a:prstGeom>
        </p:spPr>
      </p:pic>
      <p:pic>
        <p:nvPicPr>
          <p:cNvPr id="15" name="Picture 14" descr="image.png">
            <a:extLst>
              <a:ext uri="{FF2B5EF4-FFF2-40B4-BE49-F238E27FC236}">
                <a16:creationId xmlns:a16="http://schemas.microsoft.com/office/drawing/2014/main" id="{9CCB1AB4-073E-2ACF-2937-83AC744B8C06}"/>
              </a:ext>
            </a:extLst>
          </p:cNvPr>
          <p:cNvPicPr>
            <a:picLocks noChangeAspect="1"/>
          </p:cNvPicPr>
          <p:nvPr/>
        </p:nvPicPr>
        <p:blipFill>
          <a:blip r:embed="rId6"/>
          <a:stretch>
            <a:fillRect/>
          </a:stretch>
        </p:blipFill>
        <p:spPr>
          <a:xfrm>
            <a:off x="9048750" y="4376737"/>
            <a:ext cx="2276475" cy="495300"/>
          </a:xfrm>
          <a:prstGeom prst="rect">
            <a:avLst/>
          </a:prstGeom>
        </p:spPr>
      </p:pic>
      <p:pic>
        <p:nvPicPr>
          <p:cNvPr id="18" name="Picture 17" descr="image.png">
            <a:extLst>
              <a:ext uri="{FF2B5EF4-FFF2-40B4-BE49-F238E27FC236}">
                <a16:creationId xmlns:a16="http://schemas.microsoft.com/office/drawing/2014/main" id="{2C89ADAF-0C65-13ED-FB8D-131F86488212}"/>
              </a:ext>
            </a:extLst>
          </p:cNvPr>
          <p:cNvPicPr>
            <a:picLocks noChangeAspect="1"/>
          </p:cNvPicPr>
          <p:nvPr/>
        </p:nvPicPr>
        <p:blipFill>
          <a:blip r:embed="rId7"/>
          <a:stretch>
            <a:fillRect/>
          </a:stretch>
        </p:blipFill>
        <p:spPr>
          <a:xfrm>
            <a:off x="685800" y="5643562"/>
            <a:ext cx="5324475" cy="1400175"/>
          </a:xfrm>
          <a:prstGeom prst="rect">
            <a:avLst/>
          </a:prstGeom>
        </p:spPr>
      </p:pic>
      <p:pic>
        <p:nvPicPr>
          <p:cNvPr id="21" name="Picture 20" descr="image.png">
            <a:extLst>
              <a:ext uri="{FF2B5EF4-FFF2-40B4-BE49-F238E27FC236}">
                <a16:creationId xmlns:a16="http://schemas.microsoft.com/office/drawing/2014/main" id="{F74CAF50-F892-D232-A671-F238DD8534B6}"/>
              </a:ext>
            </a:extLst>
          </p:cNvPr>
          <p:cNvPicPr>
            <a:picLocks noChangeAspect="1"/>
          </p:cNvPicPr>
          <p:nvPr/>
        </p:nvPicPr>
        <p:blipFill>
          <a:blip r:embed="rId8"/>
          <a:stretch>
            <a:fillRect/>
          </a:stretch>
        </p:blipFill>
        <p:spPr>
          <a:xfrm>
            <a:off x="6391275" y="5643562"/>
            <a:ext cx="5324475" cy="1400175"/>
          </a:xfrm>
          <a:prstGeom prst="rect">
            <a:avLst/>
          </a:prstGeom>
        </p:spPr>
      </p:pic>
      <p:sp>
        <p:nvSpPr>
          <p:cNvPr id="24" name="TextBox 23">
            <a:extLst>
              <a:ext uri="{FF2B5EF4-FFF2-40B4-BE49-F238E27FC236}">
                <a16:creationId xmlns:a16="http://schemas.microsoft.com/office/drawing/2014/main" id="{9BD402BA-976C-BCF1-11F1-5D1B9799AE00}"/>
              </a:ext>
            </a:extLst>
          </p:cNvPr>
          <p:cNvSpPr txBox="1"/>
          <p:nvPr/>
        </p:nvSpPr>
        <p:spPr>
          <a:xfrm>
            <a:off x="3448050" y="4510087"/>
            <a:ext cx="190500" cy="228600"/>
          </a:xfrm>
          <a:prstGeom prst="rect">
            <a:avLst/>
          </a:prstGeom>
          <a:noFill/>
        </p:spPr>
        <p:txBody>
          <a:bodyPr wrap="square" lIns="0" tIns="0" rIns="0" bIns="0" anchor="t">
            <a:spAutoFit/>
          </a:bodyPr>
          <a:lstStyle/>
          <a:p>
            <a:pPr algn="l"/>
            <a:r>
              <a:rPr sz="1500" b="0" i="0" u="none">
                <a:solidFill>
                  <a:srgbClr val="64748B"/>
                </a:solidFill>
                <a:latin typeface="Inter"/>
              </a:rPr>
              <a:t>→</a:t>
            </a:r>
          </a:p>
        </p:txBody>
      </p:sp>
      <p:sp>
        <p:nvSpPr>
          <p:cNvPr id="27" name="TextBox 26">
            <a:extLst>
              <a:ext uri="{FF2B5EF4-FFF2-40B4-BE49-F238E27FC236}">
                <a16:creationId xmlns:a16="http://schemas.microsoft.com/office/drawing/2014/main" id="{114AEED1-568A-2E95-13B5-664FD22525AE}"/>
              </a:ext>
            </a:extLst>
          </p:cNvPr>
          <p:cNvSpPr txBox="1"/>
          <p:nvPr/>
        </p:nvSpPr>
        <p:spPr>
          <a:xfrm>
            <a:off x="6105525" y="4510087"/>
            <a:ext cx="190500" cy="228600"/>
          </a:xfrm>
          <a:prstGeom prst="rect">
            <a:avLst/>
          </a:prstGeom>
          <a:noFill/>
        </p:spPr>
        <p:txBody>
          <a:bodyPr wrap="square" lIns="0" tIns="0" rIns="0" bIns="0" anchor="t">
            <a:spAutoFit/>
          </a:bodyPr>
          <a:lstStyle/>
          <a:p>
            <a:pPr algn="l"/>
            <a:r>
              <a:rPr sz="1500" b="0" i="0" u="none">
                <a:solidFill>
                  <a:srgbClr val="64748B"/>
                </a:solidFill>
                <a:latin typeface="Inter"/>
              </a:rPr>
              <a:t>→</a:t>
            </a:r>
          </a:p>
        </p:txBody>
      </p:sp>
      <p:sp>
        <p:nvSpPr>
          <p:cNvPr id="30" name="TextBox 29">
            <a:extLst>
              <a:ext uri="{FF2B5EF4-FFF2-40B4-BE49-F238E27FC236}">
                <a16:creationId xmlns:a16="http://schemas.microsoft.com/office/drawing/2014/main" id="{B027E4F2-EA57-6C64-2AB6-CDB4DF6ABF75}"/>
              </a:ext>
            </a:extLst>
          </p:cNvPr>
          <p:cNvSpPr txBox="1"/>
          <p:nvPr/>
        </p:nvSpPr>
        <p:spPr>
          <a:xfrm>
            <a:off x="8763000" y="4510087"/>
            <a:ext cx="190500" cy="228600"/>
          </a:xfrm>
          <a:prstGeom prst="rect">
            <a:avLst/>
          </a:prstGeom>
          <a:noFill/>
        </p:spPr>
        <p:txBody>
          <a:bodyPr wrap="square" lIns="0" tIns="0" rIns="0" bIns="0" anchor="t">
            <a:spAutoFit/>
          </a:bodyPr>
          <a:lstStyle/>
          <a:p>
            <a:pPr algn="l"/>
            <a:r>
              <a:rPr sz="1500" b="0" i="0" u="none">
                <a:solidFill>
                  <a:srgbClr val="64748B"/>
                </a:solidFill>
                <a:latin typeface="Inter"/>
              </a:rPr>
              <a:t>→</a:t>
            </a:r>
          </a:p>
        </p:txBody>
      </p:sp>
      <p:sp>
        <p:nvSpPr>
          <p:cNvPr id="34" name="TextBox 33">
            <a:extLst>
              <a:ext uri="{FF2B5EF4-FFF2-40B4-BE49-F238E27FC236}">
                <a16:creationId xmlns:a16="http://schemas.microsoft.com/office/drawing/2014/main" id="{5B21E452-246B-EC52-B7FE-D1A477092F59}"/>
              </a:ext>
            </a:extLst>
          </p:cNvPr>
          <p:cNvSpPr txBox="1"/>
          <p:nvPr/>
        </p:nvSpPr>
        <p:spPr>
          <a:xfrm>
            <a:off x="933450" y="5891212"/>
            <a:ext cx="5070633" cy="247650"/>
          </a:xfrm>
          <a:prstGeom prst="rect">
            <a:avLst/>
          </a:prstGeom>
          <a:noFill/>
        </p:spPr>
        <p:txBody>
          <a:bodyPr wrap="square" lIns="0" tIns="0" rIns="0" bIns="0" anchor="t">
            <a:spAutoFit/>
          </a:bodyPr>
          <a:lstStyle/>
          <a:p>
            <a:pPr algn="l"/>
            <a:r>
              <a:rPr sz="1650" b="1" i="0" u="none">
                <a:solidFill>
                  <a:srgbClr val="38BDF8"/>
                </a:solidFill>
                <a:latin typeface="Inter"/>
              </a:rPr>
              <a:t>Why Hive?</a:t>
            </a:r>
          </a:p>
        </p:txBody>
      </p:sp>
      <p:sp>
        <p:nvSpPr>
          <p:cNvPr id="36" name="TextBox 35">
            <a:extLst>
              <a:ext uri="{FF2B5EF4-FFF2-40B4-BE49-F238E27FC236}">
                <a16:creationId xmlns:a16="http://schemas.microsoft.com/office/drawing/2014/main" id="{DF714764-E7B3-1639-4A85-559D6AF55E58}"/>
              </a:ext>
            </a:extLst>
          </p:cNvPr>
          <p:cNvSpPr txBox="1"/>
          <p:nvPr/>
        </p:nvSpPr>
        <p:spPr>
          <a:xfrm>
            <a:off x="933450" y="6281737"/>
            <a:ext cx="4829175" cy="514350"/>
          </a:xfrm>
          <a:prstGeom prst="rect">
            <a:avLst/>
          </a:prstGeom>
          <a:noFill/>
        </p:spPr>
        <p:txBody>
          <a:bodyPr wrap="square" lIns="0" tIns="0" rIns="0" bIns="0" anchor="t">
            <a:spAutoFit/>
          </a:bodyPr>
          <a:lstStyle/>
          <a:p>
            <a:pPr algn="l">
              <a:lnSpc>
                <a:spcPts val="2025"/>
              </a:lnSpc>
            </a:pPr>
            <a:r>
              <a:rPr sz="1350" b="0" i="0" u="none">
                <a:solidFill>
                  <a:srgbClr val="94A3B8"/>
                </a:solidFill>
                <a:latin typeface="Inter"/>
              </a:rPr>
              <a:t>Provides a standard SQL interface over distributed HDFS files without requiring data relocation.</a:t>
            </a:r>
          </a:p>
        </p:txBody>
      </p:sp>
      <p:sp>
        <p:nvSpPr>
          <p:cNvPr id="38" name="TextBox 37">
            <a:extLst>
              <a:ext uri="{FF2B5EF4-FFF2-40B4-BE49-F238E27FC236}">
                <a16:creationId xmlns:a16="http://schemas.microsoft.com/office/drawing/2014/main" id="{4AFCA90E-D98E-E58E-B3F6-0937A04BF7E5}"/>
              </a:ext>
            </a:extLst>
          </p:cNvPr>
          <p:cNvSpPr txBox="1"/>
          <p:nvPr/>
        </p:nvSpPr>
        <p:spPr>
          <a:xfrm>
            <a:off x="6638925" y="5891212"/>
            <a:ext cx="5070633" cy="247650"/>
          </a:xfrm>
          <a:prstGeom prst="rect">
            <a:avLst/>
          </a:prstGeom>
          <a:noFill/>
        </p:spPr>
        <p:txBody>
          <a:bodyPr wrap="square" lIns="0" tIns="0" rIns="0" bIns="0" anchor="t">
            <a:spAutoFit/>
          </a:bodyPr>
          <a:lstStyle/>
          <a:p>
            <a:pPr algn="l"/>
            <a:r>
              <a:rPr sz="1650" b="1" i="0" u="none">
                <a:solidFill>
                  <a:srgbClr val="10B981"/>
                </a:solidFill>
                <a:latin typeface="Inter"/>
              </a:rPr>
              <a:t>External Tables</a:t>
            </a:r>
          </a:p>
        </p:txBody>
      </p:sp>
      <p:sp>
        <p:nvSpPr>
          <p:cNvPr id="41" name="TextBox 40">
            <a:extLst>
              <a:ext uri="{FF2B5EF4-FFF2-40B4-BE49-F238E27FC236}">
                <a16:creationId xmlns:a16="http://schemas.microsoft.com/office/drawing/2014/main" id="{83F1DC75-8405-0C45-B22B-980730F4E736}"/>
              </a:ext>
            </a:extLst>
          </p:cNvPr>
          <p:cNvSpPr txBox="1"/>
          <p:nvPr/>
        </p:nvSpPr>
        <p:spPr>
          <a:xfrm>
            <a:off x="6638925" y="6281737"/>
            <a:ext cx="4829175" cy="514350"/>
          </a:xfrm>
          <a:prstGeom prst="rect">
            <a:avLst/>
          </a:prstGeom>
          <a:noFill/>
        </p:spPr>
        <p:txBody>
          <a:bodyPr wrap="square" lIns="0" tIns="0" rIns="0" bIns="0" anchor="t">
            <a:spAutoFit/>
          </a:bodyPr>
          <a:lstStyle/>
          <a:p>
            <a:pPr algn="l">
              <a:lnSpc>
                <a:spcPts val="2025"/>
              </a:lnSpc>
            </a:pPr>
            <a:r>
              <a:rPr sz="1350" b="0" i="0" u="none">
                <a:solidFill>
                  <a:srgbClr val="94A3B8"/>
                </a:solidFill>
                <a:latin typeface="Inter"/>
              </a:rPr>
              <a:t>Metadata abstraction allows querying warehouse layers securely while keeping underlying storage intact.</a:t>
            </a:r>
          </a:p>
        </p:txBody>
      </p:sp>
      <p:sp>
        <p:nvSpPr>
          <p:cNvPr id="43" name="TextBox 42">
            <a:extLst>
              <a:ext uri="{FF2B5EF4-FFF2-40B4-BE49-F238E27FC236}">
                <a16:creationId xmlns:a16="http://schemas.microsoft.com/office/drawing/2014/main" id="{8299B572-3A12-DB87-E108-51D87CA3B8D7}"/>
              </a:ext>
            </a:extLst>
          </p:cNvPr>
          <p:cNvSpPr txBox="1"/>
          <p:nvPr/>
        </p:nvSpPr>
        <p:spPr>
          <a:xfrm>
            <a:off x="695801" y="2505555"/>
            <a:ext cx="11581447" cy="553998"/>
          </a:xfrm>
          <a:prstGeom prst="rect">
            <a:avLst/>
          </a:prstGeom>
          <a:noFill/>
        </p:spPr>
        <p:txBody>
          <a:bodyPr wrap="square" lIns="0" tIns="0" rIns="0" bIns="0" anchor="t">
            <a:spAutoFit/>
          </a:bodyPr>
          <a:lstStyle/>
          <a:p>
            <a:pPr algn="l"/>
            <a:r>
              <a:rPr sz="3600" b="1" i="0" u="none" dirty="0">
                <a:solidFill>
                  <a:srgbClr val="FFFFFF"/>
                </a:solidFill>
                <a:latin typeface="Inter"/>
              </a:rPr>
              <a:t>Hive — SQL Access to the Data Warehouse</a:t>
            </a:r>
          </a:p>
        </p:txBody>
      </p:sp>
      <p:sp>
        <p:nvSpPr>
          <p:cNvPr id="45" name="Rectangle 44">
            <a:extLst>
              <a:ext uri="{FF2B5EF4-FFF2-40B4-BE49-F238E27FC236}">
                <a16:creationId xmlns:a16="http://schemas.microsoft.com/office/drawing/2014/main" id="{0FD881BE-4143-3FBB-E179-2DD837F4AB56}"/>
              </a:ext>
            </a:extLst>
          </p:cNvPr>
          <p:cNvSpPr/>
          <p:nvPr/>
        </p:nvSpPr>
        <p:spPr>
          <a:xfrm>
            <a:off x="685800" y="3038475"/>
            <a:ext cx="1102995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a:extLst>
              <a:ext uri="{FF2B5EF4-FFF2-40B4-BE49-F238E27FC236}">
                <a16:creationId xmlns:a16="http://schemas.microsoft.com/office/drawing/2014/main" id="{E76FD1A9-C78C-403A-9849-58968617917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804808" y="1384131"/>
            <a:ext cx="6362700" cy="6953250"/>
          </a:xfrm>
          <a:prstGeom prst="rect">
            <a:avLst/>
          </a:prstGeom>
        </p:spPr>
      </p:pic>
    </p:spTree>
    <p:extLst>
      <p:ext uri="{BB962C8B-B14F-4D97-AF65-F5344CB8AC3E}">
        <p14:creationId xmlns:p14="http://schemas.microsoft.com/office/powerpoint/2010/main" val="4152734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25E8E546-DD88-2A71-2BCB-ADAC426FF9E0}"/>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2612707F-14B3-ABFC-48F1-68891E51968B}"/>
              </a:ext>
            </a:extLst>
          </p:cNvPr>
          <p:cNvSpPr/>
          <p:nvPr/>
        </p:nvSpPr>
        <p:spPr>
          <a:xfrm>
            <a:off x="2209800" y="8763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Methodology</a:t>
            </a:r>
            <a:endParaRPr lang="en-US" sz="27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0D54438-62A5-8A92-D036-B549C21903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4400" y="-55744"/>
            <a:ext cx="9753600" cy="10342744"/>
          </a:xfrm>
          <a:prstGeom prst="rect">
            <a:avLst/>
          </a:prstGeom>
        </p:spPr>
      </p:pic>
      <p:sp>
        <p:nvSpPr>
          <p:cNvPr id="11" name="TextBox 10">
            <a:extLst>
              <a:ext uri="{FF2B5EF4-FFF2-40B4-BE49-F238E27FC236}">
                <a16:creationId xmlns:a16="http://schemas.microsoft.com/office/drawing/2014/main" id="{BE590ABC-D3C7-3703-9EAC-346403BC0F85}"/>
              </a:ext>
            </a:extLst>
          </p:cNvPr>
          <p:cNvSpPr txBox="1"/>
          <p:nvPr/>
        </p:nvSpPr>
        <p:spPr>
          <a:xfrm>
            <a:off x="304800" y="1891963"/>
            <a:ext cx="8229600" cy="5909310"/>
          </a:xfrm>
          <a:prstGeom prst="rect">
            <a:avLst/>
          </a:prstGeom>
          <a:noFill/>
        </p:spPr>
        <p:txBody>
          <a:bodyPr wrap="square">
            <a:spAutoFit/>
          </a:bodyPr>
          <a:lstStyle/>
          <a:p>
            <a:pPr rtl="0">
              <a:buNone/>
            </a:pPr>
            <a:r>
              <a:rPr lang="en-US" dirty="0">
                <a:solidFill>
                  <a:schemeClr val="bg1"/>
                </a:solidFill>
              </a:rPr>
              <a:t>This screenshot shows the operational interface used to run and monitor the Uber pipeline. At the top, a single </a:t>
            </a:r>
            <a:r>
              <a:rPr lang="en-US" b="1" dirty="0">
                <a:solidFill>
                  <a:schemeClr val="bg1"/>
                </a:solidFill>
              </a:rPr>
              <a:t>"Run Full Pipeline"</a:t>
            </a:r>
            <a:r>
              <a:rPr lang="en-US" dirty="0">
                <a:solidFill>
                  <a:schemeClr val="bg1"/>
                </a:solidFill>
              </a:rPr>
              <a:t> button starts the entire process end-to-end — running Batch and Streaming together, then Silver Union, then Gold ETL, then Export — and stops immediately if any step fails, so no partial or inconsistent data reaches the later stages.</a:t>
            </a:r>
          </a:p>
          <a:p>
            <a:pPr rtl="0">
              <a:buNone/>
            </a:pPr>
            <a:r>
              <a:rPr lang="en-US" dirty="0">
                <a:solidFill>
                  <a:schemeClr val="bg1"/>
                </a:solidFill>
              </a:rPr>
              <a:t>Below that, each stage of the pipeline is also exposed individually, giving finer control for testing and debugging:</a:t>
            </a:r>
          </a:p>
          <a:p>
            <a:pPr marL="342900" lvl="0" indent="-342900" rtl="0">
              <a:buFont typeface="Arial" panose="020B0604020202020204" pitchFamily="34" charset="0"/>
              <a:buChar char="•"/>
            </a:pPr>
            <a:r>
              <a:rPr lang="en-US" b="1" dirty="0">
                <a:solidFill>
                  <a:schemeClr val="bg1"/>
                </a:solidFill>
              </a:rPr>
              <a:t>Streaming</a:t>
            </a:r>
            <a:r>
              <a:rPr lang="en-US" dirty="0">
                <a:solidFill>
                  <a:schemeClr val="bg1"/>
                </a:solidFill>
              </a:rPr>
              <a:t> — Start/Stop buttons to control the Kafka-based live ingestion path independently.</a:t>
            </a:r>
          </a:p>
          <a:p>
            <a:pPr marL="342900" lvl="0" indent="-342900" rtl="0">
              <a:buFont typeface="Arial" panose="020B0604020202020204" pitchFamily="34" charset="0"/>
              <a:buChar char="•"/>
            </a:pPr>
            <a:r>
              <a:rPr lang="en-US" b="1" dirty="0">
                <a:solidFill>
                  <a:schemeClr val="bg1"/>
                </a:solidFill>
              </a:rPr>
              <a:t>Batch</a:t>
            </a:r>
            <a:r>
              <a:rPr lang="en-US" dirty="0">
                <a:solidFill>
                  <a:schemeClr val="bg1"/>
                </a:solidFill>
              </a:rPr>
              <a:t> — Start/Stop buttons to control the historical </a:t>
            </a:r>
            <a:r>
              <a:rPr lang="en-US" dirty="0" err="1">
                <a:solidFill>
                  <a:schemeClr val="bg1"/>
                </a:solidFill>
              </a:rPr>
              <a:t>NiFi</a:t>
            </a:r>
            <a:r>
              <a:rPr lang="en-US" dirty="0">
                <a:solidFill>
                  <a:schemeClr val="bg1"/>
                </a:solidFill>
              </a:rPr>
              <a:t>/HDFS ingestion path independently.</a:t>
            </a:r>
          </a:p>
          <a:p>
            <a:pPr marL="342900" lvl="0" indent="-342900" rtl="0">
              <a:buFont typeface="Arial" panose="020B0604020202020204" pitchFamily="34" charset="0"/>
              <a:buChar char="•"/>
            </a:pPr>
            <a:r>
              <a:rPr lang="en-US" b="1" dirty="0">
                <a:solidFill>
                  <a:schemeClr val="bg1"/>
                </a:solidFill>
              </a:rPr>
              <a:t>Silver Union</a:t>
            </a:r>
            <a:r>
              <a:rPr lang="en-US" dirty="0">
                <a:solidFill>
                  <a:schemeClr val="bg1"/>
                </a:solidFill>
              </a:rPr>
              <a:t> — a single trigger to merge the batch-origin and stream-origin data into the unified Silver layer.</a:t>
            </a:r>
          </a:p>
          <a:p>
            <a:pPr marL="342900" lvl="0" indent="-342900" rtl="0">
              <a:buFont typeface="Arial" panose="020B0604020202020204" pitchFamily="34" charset="0"/>
              <a:buChar char="•"/>
            </a:pPr>
            <a:r>
              <a:rPr lang="en-US" b="1" dirty="0">
                <a:solidFill>
                  <a:schemeClr val="bg1"/>
                </a:solidFill>
              </a:rPr>
              <a:t>Gold Layer</a:t>
            </a:r>
            <a:r>
              <a:rPr lang="en-US" dirty="0">
                <a:solidFill>
                  <a:schemeClr val="bg1"/>
                </a:solidFill>
              </a:rPr>
              <a:t> — a single trigger to run the Gold ETL script that builds the dimensional star schema (</a:t>
            </a:r>
            <a:r>
              <a:rPr lang="en-US" dirty="0" err="1">
                <a:solidFill>
                  <a:schemeClr val="bg1"/>
                </a:solidFill>
              </a:rPr>
              <a:t>Fact_Trip</a:t>
            </a:r>
            <a:r>
              <a:rPr lang="en-US" dirty="0">
                <a:solidFill>
                  <a:schemeClr val="bg1"/>
                </a:solidFill>
              </a:rPr>
              <a:t> + dimensions).</a:t>
            </a:r>
          </a:p>
          <a:p>
            <a:pPr marL="342900" lvl="0" indent="-342900" rtl="0">
              <a:buFont typeface="Arial" panose="020B0604020202020204" pitchFamily="34" charset="0"/>
              <a:buChar char="•"/>
            </a:pPr>
            <a:r>
              <a:rPr lang="en-US" b="1" dirty="0">
                <a:solidFill>
                  <a:schemeClr val="bg1"/>
                </a:solidFill>
              </a:rPr>
              <a:t>Export</a:t>
            </a:r>
            <a:r>
              <a:rPr lang="en-US" dirty="0">
                <a:solidFill>
                  <a:schemeClr val="bg1"/>
                </a:solidFill>
              </a:rPr>
              <a:t> — a single trigger to export the final Gold-layer tables as coalesced CSV files for sharing.</a:t>
            </a:r>
          </a:p>
          <a:p>
            <a:pPr rtl="0">
              <a:buNone/>
            </a:pPr>
            <a:r>
              <a:rPr lang="en-US" dirty="0">
                <a:solidFill>
                  <a:schemeClr val="bg1"/>
                </a:solidFill>
              </a:rPr>
              <a:t>At the bottom, a </a:t>
            </a:r>
            <a:r>
              <a:rPr lang="en-US" b="1" dirty="0">
                <a:solidFill>
                  <a:schemeClr val="bg1"/>
                </a:solidFill>
              </a:rPr>
              <a:t>Hive Query</a:t>
            </a:r>
            <a:r>
              <a:rPr lang="en-US" dirty="0">
                <a:solidFill>
                  <a:schemeClr val="bg1"/>
                </a:solidFill>
              </a:rPr>
              <a:t> box lets the user write and execute HiveQL statements directly (multiple statements separated by semicolons), which is useful for quickly inspecting table schemas, row counts, or testing queries without leaving the control panel.</a:t>
            </a:r>
          </a:p>
        </p:txBody>
      </p:sp>
    </p:spTree>
    <p:extLst>
      <p:ext uri="{BB962C8B-B14F-4D97-AF65-F5344CB8AC3E}">
        <p14:creationId xmlns:p14="http://schemas.microsoft.com/office/powerpoint/2010/main" val="7373523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02920"/>
            <a:ext cx="17007840" cy="731520"/>
          </a:xfrm>
          <a:prstGeom prst="rect">
            <a:avLst/>
          </a:prstGeom>
          <a:noFill/>
        </p:spPr>
        <p:txBody>
          <a:bodyPr wrap="none">
            <a:spAutoFit/>
          </a:bodyPr>
          <a:lstStyle/>
          <a:p>
            <a:r>
              <a:rPr sz="3200" b="1">
                <a:solidFill>
                  <a:srgbClr val="FFFFFF"/>
                </a:solidFill>
                <a:latin typeface="Arial"/>
              </a:rPr>
              <a:t>Technology Stack</a:t>
            </a:r>
          </a:p>
        </p:txBody>
      </p:sp>
      <p:sp>
        <p:nvSpPr>
          <p:cNvPr id="4" name="TextBox 3"/>
          <p:cNvSpPr txBox="1"/>
          <p:nvPr/>
        </p:nvSpPr>
        <p:spPr>
          <a:xfrm>
            <a:off x="640080" y="1737360"/>
            <a:ext cx="5394960" cy="548640"/>
          </a:xfrm>
          <a:prstGeom prst="rect">
            <a:avLst/>
          </a:prstGeom>
          <a:noFill/>
        </p:spPr>
        <p:txBody>
          <a:bodyPr wrap="none">
            <a:spAutoFit/>
          </a:bodyPr>
          <a:lstStyle/>
          <a:p>
            <a:r>
              <a:rPr sz="1900" b="1">
                <a:solidFill>
                  <a:srgbClr val="FFC06A"/>
                </a:solidFill>
                <a:latin typeface="Arial"/>
              </a:rPr>
              <a:t>Ingestion</a:t>
            </a:r>
          </a:p>
        </p:txBody>
      </p:sp>
      <p:sp>
        <p:nvSpPr>
          <p:cNvPr id="5" name="Rounded Rectangle 4"/>
          <p:cNvSpPr/>
          <p:nvPr/>
        </p:nvSpPr>
        <p:spPr>
          <a:xfrm>
            <a:off x="640080" y="2468880"/>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6" name="Picture 5" descr="Apache-nifi-logo.png"/>
          <p:cNvPicPr>
            <a:picLocks noChangeAspect="1"/>
          </p:cNvPicPr>
          <p:nvPr/>
        </p:nvPicPr>
        <p:blipFill>
          <a:blip r:embed="rId2"/>
          <a:stretch>
            <a:fillRect/>
          </a:stretch>
        </p:blipFill>
        <p:spPr>
          <a:xfrm>
            <a:off x="777240" y="2893295"/>
            <a:ext cx="914400" cy="385609"/>
          </a:xfrm>
          <a:prstGeom prst="rect">
            <a:avLst/>
          </a:prstGeom>
        </p:spPr>
      </p:pic>
      <p:sp>
        <p:nvSpPr>
          <p:cNvPr id="7" name="TextBox 6"/>
          <p:cNvSpPr txBox="1"/>
          <p:nvPr/>
        </p:nvSpPr>
        <p:spPr>
          <a:xfrm>
            <a:off x="1783080" y="2468880"/>
            <a:ext cx="4251960" cy="1234440"/>
          </a:xfrm>
          <a:prstGeom prst="rect">
            <a:avLst/>
          </a:prstGeom>
          <a:noFill/>
        </p:spPr>
        <p:txBody>
          <a:bodyPr wrap="square" anchor="ctr">
            <a:spAutoFit/>
          </a:bodyPr>
          <a:lstStyle/>
          <a:p>
            <a:r>
              <a:rPr sz="1450" b="1">
                <a:solidFill>
                  <a:srgbClr val="193EB0"/>
                </a:solidFill>
                <a:latin typeface="Arial"/>
              </a:rPr>
              <a:t>Apache NiFi</a:t>
            </a:r>
          </a:p>
        </p:txBody>
      </p:sp>
      <p:sp>
        <p:nvSpPr>
          <p:cNvPr id="8" name="Rounded Rectangle 7"/>
          <p:cNvSpPr/>
          <p:nvPr/>
        </p:nvSpPr>
        <p:spPr>
          <a:xfrm>
            <a:off x="640080" y="3886200"/>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6309360" y="1737360"/>
            <a:ext cx="5394960" cy="548640"/>
          </a:xfrm>
          <a:prstGeom prst="rect">
            <a:avLst/>
          </a:prstGeom>
          <a:noFill/>
        </p:spPr>
        <p:txBody>
          <a:bodyPr wrap="none">
            <a:spAutoFit/>
          </a:bodyPr>
          <a:lstStyle/>
          <a:p>
            <a:r>
              <a:rPr sz="1900" b="1">
                <a:solidFill>
                  <a:srgbClr val="FFC06A"/>
                </a:solidFill>
                <a:latin typeface="Arial"/>
              </a:rPr>
              <a:t>Processing</a:t>
            </a:r>
          </a:p>
        </p:txBody>
      </p:sp>
      <p:sp>
        <p:nvSpPr>
          <p:cNvPr id="10" name="Rounded Rectangle 9"/>
          <p:cNvSpPr/>
          <p:nvPr/>
        </p:nvSpPr>
        <p:spPr>
          <a:xfrm>
            <a:off x="6309360" y="2468880"/>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1" name="Picture 10" descr="Apache_Spark_logo.png"/>
          <p:cNvPicPr>
            <a:picLocks noChangeAspect="1"/>
          </p:cNvPicPr>
          <p:nvPr/>
        </p:nvPicPr>
        <p:blipFill>
          <a:blip r:embed="rId3"/>
          <a:stretch>
            <a:fillRect/>
          </a:stretch>
        </p:blipFill>
        <p:spPr>
          <a:xfrm>
            <a:off x="6446520" y="2848836"/>
            <a:ext cx="914400" cy="474526"/>
          </a:xfrm>
          <a:prstGeom prst="rect">
            <a:avLst/>
          </a:prstGeom>
        </p:spPr>
      </p:pic>
      <p:sp>
        <p:nvSpPr>
          <p:cNvPr id="12" name="TextBox 11"/>
          <p:cNvSpPr txBox="1"/>
          <p:nvPr/>
        </p:nvSpPr>
        <p:spPr>
          <a:xfrm>
            <a:off x="7452360" y="2468880"/>
            <a:ext cx="4251960" cy="1234440"/>
          </a:xfrm>
          <a:prstGeom prst="rect">
            <a:avLst/>
          </a:prstGeom>
          <a:noFill/>
        </p:spPr>
        <p:txBody>
          <a:bodyPr wrap="square" anchor="ctr">
            <a:spAutoFit/>
          </a:bodyPr>
          <a:lstStyle/>
          <a:p>
            <a:r>
              <a:rPr sz="1450" b="1">
                <a:solidFill>
                  <a:srgbClr val="193EB0"/>
                </a:solidFill>
                <a:latin typeface="Arial"/>
              </a:rPr>
              <a:t>Apache Spark</a:t>
            </a:r>
          </a:p>
        </p:txBody>
      </p:sp>
      <p:sp>
        <p:nvSpPr>
          <p:cNvPr id="13" name="Rounded Rectangle 12"/>
          <p:cNvSpPr/>
          <p:nvPr/>
        </p:nvSpPr>
        <p:spPr>
          <a:xfrm>
            <a:off x="6309360" y="3886200"/>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11978640" y="1737360"/>
            <a:ext cx="5394960" cy="548640"/>
          </a:xfrm>
          <a:prstGeom prst="rect">
            <a:avLst/>
          </a:prstGeom>
          <a:noFill/>
        </p:spPr>
        <p:txBody>
          <a:bodyPr wrap="none">
            <a:spAutoFit/>
          </a:bodyPr>
          <a:lstStyle/>
          <a:p>
            <a:r>
              <a:rPr sz="1900" b="1">
                <a:solidFill>
                  <a:srgbClr val="FFC06A"/>
                </a:solidFill>
                <a:latin typeface="Arial"/>
              </a:rPr>
              <a:t>Storage &amp; Warehouse</a:t>
            </a:r>
          </a:p>
        </p:txBody>
      </p:sp>
      <p:sp>
        <p:nvSpPr>
          <p:cNvPr id="15" name="Rounded Rectangle 14"/>
          <p:cNvSpPr/>
          <p:nvPr/>
        </p:nvSpPr>
        <p:spPr>
          <a:xfrm>
            <a:off x="11978640" y="2468880"/>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ounded Rectangle 15"/>
          <p:cNvSpPr/>
          <p:nvPr/>
        </p:nvSpPr>
        <p:spPr>
          <a:xfrm>
            <a:off x="11978640" y="3886200"/>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7" name="Picture 16" descr="Apache_Hive_logo.png"/>
          <p:cNvPicPr>
            <a:picLocks noChangeAspect="1"/>
          </p:cNvPicPr>
          <p:nvPr/>
        </p:nvPicPr>
        <p:blipFill>
          <a:blip r:embed="rId4"/>
          <a:stretch>
            <a:fillRect/>
          </a:stretch>
        </p:blipFill>
        <p:spPr>
          <a:xfrm>
            <a:off x="12115800" y="4092013"/>
            <a:ext cx="914400" cy="822813"/>
          </a:xfrm>
          <a:prstGeom prst="rect">
            <a:avLst/>
          </a:prstGeom>
        </p:spPr>
      </p:pic>
      <p:sp>
        <p:nvSpPr>
          <p:cNvPr id="18" name="TextBox 17"/>
          <p:cNvSpPr txBox="1"/>
          <p:nvPr/>
        </p:nvSpPr>
        <p:spPr>
          <a:xfrm>
            <a:off x="13121640" y="3886200"/>
            <a:ext cx="4251960" cy="1234440"/>
          </a:xfrm>
          <a:prstGeom prst="rect">
            <a:avLst/>
          </a:prstGeom>
          <a:noFill/>
        </p:spPr>
        <p:txBody>
          <a:bodyPr wrap="square" anchor="ctr">
            <a:spAutoFit/>
          </a:bodyPr>
          <a:lstStyle/>
          <a:p>
            <a:r>
              <a:rPr sz="1450" b="1">
                <a:solidFill>
                  <a:srgbClr val="193EB0"/>
                </a:solidFill>
                <a:latin typeface="Arial"/>
              </a:rPr>
              <a:t>Apache Hive</a:t>
            </a:r>
          </a:p>
        </p:txBody>
      </p:sp>
      <p:sp>
        <p:nvSpPr>
          <p:cNvPr id="19" name="Rounded Rectangle 18"/>
          <p:cNvSpPr/>
          <p:nvPr/>
        </p:nvSpPr>
        <p:spPr>
          <a:xfrm>
            <a:off x="11978640" y="5303520"/>
            <a:ext cx="5394960" cy="12344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20" name="Picture 19" descr="PowerBI_logo.png"/>
          <p:cNvPicPr>
            <a:picLocks noChangeAspect="1"/>
          </p:cNvPicPr>
          <p:nvPr/>
        </p:nvPicPr>
        <p:blipFill>
          <a:blip r:embed="rId5"/>
          <a:stretch>
            <a:fillRect/>
          </a:stretch>
        </p:blipFill>
        <p:spPr>
          <a:xfrm>
            <a:off x="12115800" y="5463540"/>
            <a:ext cx="914400" cy="914400"/>
          </a:xfrm>
          <a:prstGeom prst="rect">
            <a:avLst/>
          </a:prstGeom>
        </p:spPr>
      </p:pic>
      <p:sp>
        <p:nvSpPr>
          <p:cNvPr id="21" name="TextBox 20"/>
          <p:cNvSpPr txBox="1"/>
          <p:nvPr/>
        </p:nvSpPr>
        <p:spPr>
          <a:xfrm>
            <a:off x="13121640" y="5303520"/>
            <a:ext cx="4251960" cy="1234440"/>
          </a:xfrm>
          <a:prstGeom prst="rect">
            <a:avLst/>
          </a:prstGeom>
          <a:noFill/>
        </p:spPr>
        <p:txBody>
          <a:bodyPr wrap="square" anchor="ctr">
            <a:spAutoFit/>
          </a:bodyPr>
          <a:lstStyle/>
          <a:p>
            <a:r>
              <a:rPr sz="1450" b="1">
                <a:solidFill>
                  <a:srgbClr val="193EB0"/>
                </a:solidFill>
                <a:latin typeface="Arial"/>
              </a:rPr>
              <a:t>Power BI</a:t>
            </a:r>
          </a:p>
        </p:txBody>
      </p:sp>
      <p:sp>
        <p:nvSpPr>
          <p:cNvPr id="22" name="TextBox 21"/>
          <p:cNvSpPr txBox="1"/>
          <p:nvPr/>
        </p:nvSpPr>
        <p:spPr>
          <a:xfrm>
            <a:off x="365760" y="9784080"/>
            <a:ext cx="5486400" cy="365760"/>
          </a:xfrm>
          <a:prstGeom prst="rect">
            <a:avLst/>
          </a:prstGeom>
          <a:noFill/>
        </p:spPr>
        <p:txBody>
          <a:bodyPr wrap="none" lIns="0" tIns="0" bIns="0">
            <a:spAutoFit/>
          </a:bodyPr>
          <a:lstStyle/>
          <a:p>
            <a:r>
              <a:rPr sz="1000">
                <a:solidFill>
                  <a:srgbClr val="C7D2EE"/>
                </a:solidFill>
                <a:latin typeface="Arial"/>
              </a:rPr>
              <a:t>Samsung Innovation Campus</a:t>
            </a:r>
          </a:p>
        </p:txBody>
      </p:sp>
      <p:pic>
        <p:nvPicPr>
          <p:cNvPr id="23" name="Picture 22" descr="kafka_logo_trim.png"/>
          <p:cNvPicPr>
            <a:picLocks noChangeAspect="1"/>
          </p:cNvPicPr>
          <p:nvPr/>
        </p:nvPicPr>
        <p:blipFill>
          <a:blip r:embed="rId6"/>
          <a:stretch>
            <a:fillRect/>
          </a:stretch>
        </p:blipFill>
        <p:spPr>
          <a:xfrm>
            <a:off x="777240" y="4069080"/>
            <a:ext cx="534924" cy="868680"/>
          </a:xfrm>
          <a:prstGeom prst="rect">
            <a:avLst/>
          </a:prstGeom>
        </p:spPr>
      </p:pic>
      <p:sp>
        <p:nvSpPr>
          <p:cNvPr id="26" name="TextBox 6"/>
          <p:cNvSpPr txBox="1"/>
          <p:nvPr/>
        </p:nvSpPr>
        <p:spPr>
          <a:xfrm>
            <a:off x="1783080" y="3886200"/>
            <a:ext cx="4251960" cy="1234440"/>
          </a:xfrm>
          <a:prstGeom prst="rect">
            <a:avLst/>
          </a:prstGeom>
          <a:noFill/>
        </p:spPr>
        <p:txBody>
          <a:bodyPr wrap="square" anchor="ctr">
            <a:spAutoFit/>
          </a:bodyPr>
          <a:lstStyle/>
          <a:p>
            <a:r>
              <a:rPr sz="1450" b="1">
                <a:solidFill>
                  <a:srgbClr val="193EB0"/>
                </a:solidFill>
                <a:latin typeface="Arial"/>
              </a:rPr>
              <a:t>Apache Kafka</a:t>
            </a:r>
          </a:p>
        </p:txBody>
      </p:sp>
      <p:pic>
        <p:nvPicPr>
          <p:cNvPr id="24" name="Picture 23" descr="pyspark_logo_trim.png"/>
          <p:cNvPicPr>
            <a:picLocks noChangeAspect="1"/>
          </p:cNvPicPr>
          <p:nvPr/>
        </p:nvPicPr>
        <p:blipFill>
          <a:blip r:embed="rId7"/>
          <a:stretch>
            <a:fillRect/>
          </a:stretch>
        </p:blipFill>
        <p:spPr>
          <a:xfrm>
            <a:off x="6446520" y="4315968"/>
            <a:ext cx="914400" cy="374904"/>
          </a:xfrm>
          <a:prstGeom prst="rect">
            <a:avLst/>
          </a:prstGeom>
        </p:spPr>
      </p:pic>
      <p:sp>
        <p:nvSpPr>
          <p:cNvPr id="27" name="TextBox 6"/>
          <p:cNvSpPr txBox="1"/>
          <p:nvPr/>
        </p:nvSpPr>
        <p:spPr>
          <a:xfrm>
            <a:off x="7452360" y="3886200"/>
            <a:ext cx="4251960" cy="1234440"/>
          </a:xfrm>
          <a:prstGeom prst="rect">
            <a:avLst/>
          </a:prstGeom>
          <a:noFill/>
        </p:spPr>
        <p:txBody>
          <a:bodyPr wrap="square" anchor="ctr">
            <a:spAutoFit/>
          </a:bodyPr>
          <a:lstStyle/>
          <a:p>
            <a:r>
              <a:rPr sz="1450" b="1">
                <a:solidFill>
                  <a:srgbClr val="193EB0"/>
                </a:solidFill>
                <a:latin typeface="Arial"/>
              </a:rPr>
              <a:t>PySpark / Structured Streaming</a:t>
            </a:r>
          </a:p>
        </p:txBody>
      </p:sp>
      <p:pic>
        <p:nvPicPr>
          <p:cNvPr id="25" name="Picture 24" descr="hdfs_logo_trim.png"/>
          <p:cNvPicPr>
            <a:picLocks noChangeAspect="1"/>
          </p:cNvPicPr>
          <p:nvPr/>
        </p:nvPicPr>
        <p:blipFill>
          <a:blip r:embed="rId8"/>
          <a:stretch>
            <a:fillRect/>
          </a:stretch>
        </p:blipFill>
        <p:spPr>
          <a:xfrm>
            <a:off x="12115800" y="2862072"/>
            <a:ext cx="914400" cy="448056"/>
          </a:xfrm>
          <a:prstGeom prst="rect">
            <a:avLst/>
          </a:prstGeom>
        </p:spPr>
      </p:pic>
      <p:sp>
        <p:nvSpPr>
          <p:cNvPr id="28" name="TextBox 6"/>
          <p:cNvSpPr txBox="1"/>
          <p:nvPr/>
        </p:nvSpPr>
        <p:spPr>
          <a:xfrm>
            <a:off x="13121640" y="2468880"/>
            <a:ext cx="4251960" cy="1234440"/>
          </a:xfrm>
          <a:prstGeom prst="rect">
            <a:avLst/>
          </a:prstGeom>
          <a:noFill/>
        </p:spPr>
        <p:txBody>
          <a:bodyPr wrap="square" anchor="ctr">
            <a:spAutoFit/>
          </a:bodyPr>
          <a:lstStyle/>
          <a:p>
            <a:r>
              <a:rPr sz="1450" b="1">
                <a:solidFill>
                  <a:srgbClr val="193EB0"/>
                </a:solidFill>
                <a:latin typeface="Arial"/>
              </a:rPr>
              <a:t>HDFS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latin typeface="Arial" panose="020B0604020202020204" pitchFamily="34" charset="0"/>
                <a:cs typeface="Arial" panose="020B0604020202020204" pitchFamily="34" charset="0"/>
              </a:rPr>
              <a:t>Agenda</a:t>
            </a:r>
            <a:endParaRPr sz="5000" b="1" dirty="0">
              <a:solidFill>
                <a:schemeClr val="lt1"/>
              </a:solidFill>
              <a:latin typeface="Arial" panose="020B0604020202020204" pitchFamily="34" charset="0"/>
              <a:cs typeface="Arial" panose="020B0604020202020204" pitchFamily="34" charset="0"/>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5" name="Google Shape;59;p3">
            <a:extLst>
              <a:ext uri="{FF2B5EF4-FFF2-40B4-BE49-F238E27FC236}">
                <a16:creationId xmlns:a16="http://schemas.microsoft.com/office/drawing/2014/main" id="{3C8824F9-5ABC-4EFF-668A-50A202A3809F}"/>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110235D1-3508-1C69-D303-3222F55949D0}"/>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7" name="Google Shape;61;p3">
              <a:extLst>
                <a:ext uri="{FF2B5EF4-FFF2-40B4-BE49-F238E27FC236}">
                  <a16:creationId xmlns:a16="http://schemas.microsoft.com/office/drawing/2014/main" id="{E6458DC3-59A4-0EBF-A289-048FA7A60A7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8" name="Google Shape;59;p3">
            <a:extLst>
              <a:ext uri="{FF2B5EF4-FFF2-40B4-BE49-F238E27FC236}">
                <a16:creationId xmlns:a16="http://schemas.microsoft.com/office/drawing/2014/main" id="{0E83B93D-FB8E-813F-FBA1-1E0AA2590DF9}"/>
              </a:ext>
            </a:extLst>
          </p:cNvPr>
          <p:cNvGrpSpPr/>
          <p:nvPr/>
        </p:nvGrpSpPr>
        <p:grpSpPr>
          <a:xfrm>
            <a:off x="2838827" y="6691517"/>
            <a:ext cx="8553420" cy="417186"/>
            <a:chOff x="571500" y="5165783"/>
            <a:chExt cx="5702280" cy="278124"/>
          </a:xfrm>
        </p:grpSpPr>
        <p:sp>
          <p:nvSpPr>
            <p:cNvPr id="9" name="Google Shape;60;p3">
              <a:extLst>
                <a:ext uri="{FF2B5EF4-FFF2-40B4-BE49-F238E27FC236}">
                  <a16:creationId xmlns:a16="http://schemas.microsoft.com/office/drawing/2014/main" id="{FDE556D7-EC6D-1D09-60BA-1733684DF161}"/>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Results and Insights</a:t>
              </a:r>
            </a:p>
          </p:txBody>
        </p:sp>
        <p:sp>
          <p:nvSpPr>
            <p:cNvPr id="10" name="Google Shape;61;p3">
              <a:extLst>
                <a:ext uri="{FF2B5EF4-FFF2-40B4-BE49-F238E27FC236}">
                  <a16:creationId xmlns:a16="http://schemas.microsoft.com/office/drawing/2014/main" id="{6277DDF3-91B1-AA00-1386-A1A6AE3E879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1" name="Google Shape;59;p3">
            <a:extLst>
              <a:ext uri="{FF2B5EF4-FFF2-40B4-BE49-F238E27FC236}">
                <a16:creationId xmlns:a16="http://schemas.microsoft.com/office/drawing/2014/main" id="{3CA8EB46-EC47-6EAB-45AB-35AABA7AD741}"/>
              </a:ext>
            </a:extLst>
          </p:cNvPr>
          <p:cNvGrpSpPr/>
          <p:nvPr/>
        </p:nvGrpSpPr>
        <p:grpSpPr>
          <a:xfrm>
            <a:off x="2838827" y="7283645"/>
            <a:ext cx="8553420" cy="417183"/>
            <a:chOff x="571500" y="5165783"/>
            <a:chExt cx="5702280" cy="278122"/>
          </a:xfrm>
        </p:grpSpPr>
        <p:sp>
          <p:nvSpPr>
            <p:cNvPr id="12" name="Google Shape;60;p3">
              <a:extLst>
                <a:ext uri="{FF2B5EF4-FFF2-40B4-BE49-F238E27FC236}">
                  <a16:creationId xmlns:a16="http://schemas.microsoft.com/office/drawing/2014/main" id="{2231DFCB-7FA7-1BBF-5F08-CDF456B44596}"/>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Google Shape;61;p3">
              <a:extLst>
                <a:ext uri="{FF2B5EF4-FFF2-40B4-BE49-F238E27FC236}">
                  <a16:creationId xmlns:a16="http://schemas.microsoft.com/office/drawing/2014/main" id="{5EF8DC89-3F49-24B6-3A27-FDD5D5F053D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4" name="Google Shape;59;p3">
            <a:extLst>
              <a:ext uri="{FF2B5EF4-FFF2-40B4-BE49-F238E27FC236}">
                <a16:creationId xmlns:a16="http://schemas.microsoft.com/office/drawing/2014/main" id="{A19A8D05-497D-B04B-F2FA-1D1B5594F206}"/>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AD80F6BE-9137-46A3-7D4B-B3F6D935D845}"/>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latin typeface="Arial" panose="020B0604020202020204" pitchFamily="34" charset="0"/>
                <a:cs typeface="Arial" panose="020B0604020202020204" pitchFamily="34" charset="0"/>
              </a:endParaRPr>
            </a:p>
          </p:txBody>
        </p:sp>
        <p:sp>
          <p:nvSpPr>
            <p:cNvPr id="16" name="Google Shape;61;p3">
              <a:extLst>
                <a:ext uri="{FF2B5EF4-FFF2-40B4-BE49-F238E27FC236}">
                  <a16:creationId xmlns:a16="http://schemas.microsoft.com/office/drawing/2014/main" id="{349DEBB7-FAA1-C511-4D90-C55FABEDE3E8}"/>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0" name="Google Shape;56;p3">
            <a:extLst>
              <a:ext uri="{FF2B5EF4-FFF2-40B4-BE49-F238E27FC236}">
                <a16:creationId xmlns:a16="http://schemas.microsoft.com/office/drawing/2014/main" id="{F008D7E0-5724-D67D-06AA-9C1725D5BFDC}"/>
              </a:ext>
            </a:extLst>
          </p:cNvPr>
          <p:cNvGrpSpPr/>
          <p:nvPr/>
        </p:nvGrpSpPr>
        <p:grpSpPr>
          <a:xfrm>
            <a:off x="2819400" y="6057900"/>
            <a:ext cx="8553420" cy="417186"/>
            <a:chOff x="571500" y="5165783"/>
            <a:chExt cx="5702280" cy="278124"/>
          </a:xfrm>
        </p:grpSpPr>
        <p:sp>
          <p:nvSpPr>
            <p:cNvPr id="21" name="Google Shape;57;p3">
              <a:extLst>
                <a:ext uri="{FF2B5EF4-FFF2-40B4-BE49-F238E27FC236}">
                  <a16:creationId xmlns:a16="http://schemas.microsoft.com/office/drawing/2014/main" id="{91F47DB6-1F13-BCA9-1F4A-C0BE191FBDAC}"/>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Key Tasks</a:t>
              </a:r>
            </a:p>
          </p:txBody>
        </p:sp>
        <p:sp>
          <p:nvSpPr>
            <p:cNvPr id="22" name="Google Shape;58;p3">
              <a:extLst>
                <a:ext uri="{FF2B5EF4-FFF2-40B4-BE49-F238E27FC236}">
                  <a16:creationId xmlns:a16="http://schemas.microsoft.com/office/drawing/2014/main" id="{6A8D02FD-47C3-273C-A1A4-117CD8F6C287}"/>
                </a:ext>
              </a:extLst>
            </p:cNvPr>
            <p:cNvSpPr/>
            <p:nvPr/>
          </p:nvSpPr>
          <p:spPr>
            <a:xfrm>
              <a:off x="571500" y="5165783"/>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latin typeface="Arial" panose="020B0604020202020204" pitchFamily="34" charset="0"/>
                <a:cs typeface="Arial" panose="020B0604020202020204" pitchFamily="34" charset="0"/>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Tree>
    <p:extLst>
      <p:ext uri="{BB962C8B-B14F-4D97-AF65-F5344CB8AC3E}">
        <p14:creationId xmlns:p14="http://schemas.microsoft.com/office/powerpoint/2010/main" val="295266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par>
                                <p:cTn id="22" presetID="53" presetClass="entr" presetSubtype="16"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80C0DA8B-01B5-9A9F-52D5-CEF2B88BFC81}"/>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683A3478-CD11-3DCD-F1E5-B6B902A750FD}"/>
              </a:ext>
            </a:extLst>
          </p:cNvPr>
          <p:cNvSpPr/>
          <p:nvPr/>
        </p:nvSpPr>
        <p:spPr>
          <a:xfrm>
            <a:off x="2514600" y="806201"/>
            <a:ext cx="10512900" cy="1015663"/>
          </a:xfrm>
          <a:prstGeom prst="rect">
            <a:avLst/>
          </a:prstGeom>
          <a:noFill/>
          <a:ln>
            <a:noFill/>
          </a:ln>
        </p:spPr>
        <p:txBody>
          <a:bodyPr spcFirstLastPara="1" wrap="square" lIns="0" tIns="0" rIns="0" bIns="0" anchor="t" anchorCtr="0">
            <a:spAutoFit/>
          </a:bodyPr>
          <a:lstStyle/>
          <a:p>
            <a:pPr algn="ctr"/>
            <a:r>
              <a:rPr lang="en-US" sz="6600" dirty="0">
                <a:solidFill>
                  <a:schemeClr val="lt1"/>
                </a:solidFill>
                <a:latin typeface="Arial" panose="020B0604020202020204" pitchFamily="34" charset="0"/>
                <a:cs typeface="Arial" panose="020B0604020202020204" pitchFamily="34" charset="0"/>
              </a:rPr>
              <a:t>Key Tasks</a:t>
            </a:r>
          </a:p>
        </p:txBody>
      </p:sp>
      <p:sp>
        <p:nvSpPr>
          <p:cNvPr id="2" name="TextBox 1">
            <a:extLst>
              <a:ext uri="{FF2B5EF4-FFF2-40B4-BE49-F238E27FC236}">
                <a16:creationId xmlns:a16="http://schemas.microsoft.com/office/drawing/2014/main" id="{AEEFE4FE-C494-C97A-3340-46340C08BE77}"/>
              </a:ext>
            </a:extLst>
          </p:cNvPr>
          <p:cNvSpPr txBox="1"/>
          <p:nvPr/>
        </p:nvSpPr>
        <p:spPr>
          <a:xfrm>
            <a:off x="822960" y="2606040"/>
            <a:ext cx="8138160" cy="2800767"/>
          </a:xfrm>
          <a:prstGeom prst="rect">
            <a:avLst/>
          </a:prstGeom>
          <a:noFill/>
        </p:spPr>
        <p:txBody>
          <a:bodyPr wrap="square" rtlCol="0">
            <a:spAutoFit/>
          </a:bodyPr>
          <a:lstStyle/>
          <a:p>
            <a:pPr marL="514350" indent="-514350">
              <a:buNone/>
            </a:pPr>
            <a:r>
              <a:rPr lang="en-US" sz="3200" b="1" dirty="0">
                <a:solidFill>
                  <a:schemeClr val="bg1"/>
                </a:solidFill>
                <a:latin typeface="Arial" panose="020B0604020202020204" pitchFamily="34" charset="0"/>
                <a:cs typeface="Arial" panose="020B0604020202020204" pitchFamily="34" charset="0"/>
              </a:rPr>
              <a:t>1. Ingestion Engineering</a:t>
            </a:r>
          </a:p>
          <a:p>
            <a:pPr algn="ctr">
              <a:buNone/>
            </a:pPr>
            <a:endParaRPr lang="en-US" sz="3200" b="1" dirty="0">
              <a:solidFill>
                <a:schemeClr val="bg1"/>
              </a:solidFill>
              <a:latin typeface="Arial" panose="020B0604020202020204" pitchFamily="34" charset="0"/>
              <a:cs typeface="Arial" panose="020B0604020202020204" pitchFamily="34" charset="0"/>
            </a:endParaRPr>
          </a:p>
          <a:p>
            <a:pPr>
              <a:buNone/>
            </a:pPr>
            <a:r>
              <a:rPr lang="en-US" sz="2800" dirty="0">
                <a:solidFill>
                  <a:schemeClr val="bg1"/>
                </a:solidFill>
                <a:latin typeface="Arial" panose="020B0604020202020204" pitchFamily="34" charset="0"/>
                <a:cs typeface="Arial" panose="020B0604020202020204" pitchFamily="34" charset="0"/>
              </a:rPr>
              <a:t>Designed the NiFi batch flow into HDFS Bronze, and built the Kafka producer/consumer pair simulating live ride events.</a:t>
            </a:r>
          </a:p>
          <a:p>
            <a:pPr>
              <a:buNone/>
            </a:pPr>
            <a:endParaRPr lang="en-US" sz="2800" dirty="0">
              <a:solidFill>
                <a:schemeClr val="bg1"/>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AA5A62B-C929-0963-B8FC-8F5A20A87792}"/>
              </a:ext>
            </a:extLst>
          </p:cNvPr>
          <p:cNvSpPr txBox="1"/>
          <p:nvPr/>
        </p:nvSpPr>
        <p:spPr>
          <a:xfrm>
            <a:off x="9235440" y="2606040"/>
            <a:ext cx="8138160" cy="2800767"/>
          </a:xfrm>
          <a:prstGeom prst="rect">
            <a:avLst/>
          </a:prstGeom>
          <a:noFill/>
        </p:spPr>
        <p:txBody>
          <a:bodyPr wrap="square" rtlCol="0">
            <a:spAutoFit/>
          </a:bodyPr>
          <a:lstStyle/>
          <a:p>
            <a:pPr>
              <a:buNone/>
            </a:pPr>
            <a:r>
              <a:rPr lang="en-US" sz="3200" b="1" dirty="0">
                <a:solidFill>
                  <a:schemeClr val="bg1"/>
                </a:solidFill>
                <a:latin typeface="Arial" panose="020B0604020202020204" pitchFamily="34" charset="0"/>
                <a:cs typeface="Arial" panose="020B0604020202020204" pitchFamily="34" charset="0"/>
              </a:rPr>
              <a:t>2. Cleaning, Geo-Hashing &amp; Dedup</a:t>
            </a:r>
          </a:p>
          <a:p>
            <a:pPr algn="ctr">
              <a:buNone/>
            </a:pPr>
            <a:endParaRPr lang="en-US" sz="3200" b="1" dirty="0">
              <a:solidFill>
                <a:schemeClr val="bg1"/>
              </a:solidFill>
              <a:latin typeface="Arial" panose="020B0604020202020204" pitchFamily="34" charset="0"/>
              <a:cs typeface="Arial" panose="020B0604020202020204" pitchFamily="34" charset="0"/>
            </a:endParaRPr>
          </a:p>
          <a:p>
            <a:pPr>
              <a:buNone/>
            </a:pPr>
            <a:r>
              <a:rPr lang="en-US" sz="2800" dirty="0">
                <a:solidFill>
                  <a:schemeClr val="bg1"/>
                </a:solidFill>
                <a:latin typeface="Arial" panose="020B0604020202020204" pitchFamily="34" charset="0"/>
                <a:cs typeface="Arial" panose="020B0604020202020204" pitchFamily="34" charset="0"/>
              </a:rPr>
              <a:t>Developed batch and streaming </a:t>
            </a:r>
            <a:r>
              <a:rPr lang="en-US" sz="2800" dirty="0" err="1">
                <a:solidFill>
                  <a:schemeClr val="bg1"/>
                </a:solidFill>
                <a:latin typeface="Arial" panose="020B0604020202020204" pitchFamily="34" charset="0"/>
                <a:cs typeface="Arial" panose="020B0604020202020204" pitchFamily="34" charset="0"/>
              </a:rPr>
              <a:t>PySpark</a:t>
            </a:r>
            <a:r>
              <a:rPr lang="en-US" sz="2800" dirty="0">
                <a:solidFill>
                  <a:schemeClr val="bg1"/>
                </a:solidFill>
                <a:latin typeface="Arial" panose="020B0604020202020204" pitchFamily="34" charset="0"/>
                <a:cs typeface="Arial" panose="020B0604020202020204" pitchFamily="34" charset="0"/>
              </a:rPr>
              <a:t> ETL for geo-hashing and validation, plus the persistent-ID deduplication mechanism for the streaming path.</a:t>
            </a:r>
          </a:p>
          <a:p>
            <a:pPr>
              <a:buNone/>
            </a:pPr>
            <a:endParaRPr lang="en-US" sz="2800" dirty="0">
              <a:solidFill>
                <a:schemeClr val="bg1"/>
              </a:solidFill>
              <a:latin typeface="Arial" panose="020B0604020202020204" pitchFamily="34" charset="0"/>
              <a:cs typeface="Arial" panose="020B0604020202020204" pitchFamily="34" charset="0"/>
            </a:endParaRPr>
          </a:p>
        </p:txBody>
      </p:sp>
      <p:sp>
        <p:nvSpPr>
          <p:cNvPr id="4" name="TextBox 1">
            <a:extLst>
              <a:ext uri="{FF2B5EF4-FFF2-40B4-BE49-F238E27FC236}">
                <a16:creationId xmlns:a16="http://schemas.microsoft.com/office/drawing/2014/main" id="{AEEFE4FE-C494-C97A-3340-46340C08BE77}"/>
              </a:ext>
            </a:extLst>
          </p:cNvPr>
          <p:cNvSpPr txBox="1"/>
          <p:nvPr/>
        </p:nvSpPr>
        <p:spPr>
          <a:xfrm>
            <a:off x="822960" y="6172200"/>
            <a:ext cx="8138160" cy="2800767"/>
          </a:xfrm>
          <a:prstGeom prst="rect">
            <a:avLst/>
          </a:prstGeom>
          <a:noFill/>
        </p:spPr>
        <p:txBody>
          <a:bodyPr wrap="square" rtlCol="0">
            <a:spAutoFit/>
          </a:bodyPr>
          <a:lstStyle/>
          <a:p>
            <a:pPr marL="514350" indent="-514350">
              <a:buNone/>
            </a:pPr>
            <a:r>
              <a:rPr lang="en-US" sz="3200" b="1" dirty="0">
                <a:solidFill>
                  <a:schemeClr val="bg1"/>
                </a:solidFill>
                <a:latin typeface="Arial" panose="020B0604020202020204" pitchFamily="34" charset="0"/>
                <a:cs typeface="Arial" panose="020B0604020202020204" pitchFamily="34" charset="0"/>
              </a:rPr>
              <a:t>3. Data Warehouse Design</a:t>
            </a:r>
          </a:p>
          <a:p>
            <a:pPr algn="ctr">
              <a:buNone/>
            </a:pPr>
            <a:endParaRPr lang="en-US" sz="3200" b="1" dirty="0">
              <a:solidFill>
                <a:schemeClr val="bg1"/>
              </a:solidFill>
              <a:latin typeface="Arial" panose="020B0604020202020204" pitchFamily="34" charset="0"/>
              <a:cs typeface="Arial" panose="020B0604020202020204" pitchFamily="34" charset="0"/>
            </a:endParaRPr>
          </a:p>
          <a:p>
            <a:pPr>
              <a:buNone/>
            </a:pPr>
            <a:r>
              <a:rPr lang="en-US" sz="2800" dirty="0">
                <a:solidFill>
                  <a:schemeClr val="bg1"/>
                </a:solidFill>
                <a:latin typeface="Arial" panose="020B0604020202020204" pitchFamily="34" charset="0"/>
                <a:cs typeface="Arial" panose="020B0604020202020204" pitchFamily="34" charset="0"/>
              </a:rPr>
              <a:t>Designed the star-schema Gold layer (Fact_Trip + 4 dimensions) and built the incremental Gold ETL script with checkpoint-based loading.</a:t>
            </a:r>
          </a:p>
          <a:p>
            <a:pPr>
              <a:buNone/>
            </a:pPr>
            <a:endParaRPr lang="en-US" sz="2800" dirty="0">
              <a:solidFill>
                <a:schemeClr val="bg1"/>
              </a:solidFill>
              <a:latin typeface="Arial" panose="020B0604020202020204" pitchFamily="34" charset="0"/>
              <a:cs typeface="Arial" panose="020B0604020202020204" pitchFamily="34" charset="0"/>
            </a:endParaRPr>
          </a:p>
        </p:txBody>
      </p:sp>
      <p:sp>
        <p:nvSpPr>
          <p:cNvPr id="5" name="TextBox 1">
            <a:extLst>
              <a:ext uri="{FF2B5EF4-FFF2-40B4-BE49-F238E27FC236}">
                <a16:creationId xmlns:a16="http://schemas.microsoft.com/office/drawing/2014/main" id="{AEEFE4FE-C494-C97A-3340-46340C08BE77}"/>
              </a:ext>
            </a:extLst>
          </p:cNvPr>
          <p:cNvSpPr txBox="1"/>
          <p:nvPr/>
        </p:nvSpPr>
        <p:spPr>
          <a:xfrm>
            <a:off x="9235440" y="6172200"/>
            <a:ext cx="8138160" cy="2800767"/>
          </a:xfrm>
          <a:prstGeom prst="rect">
            <a:avLst/>
          </a:prstGeom>
          <a:noFill/>
        </p:spPr>
        <p:txBody>
          <a:bodyPr wrap="square" rtlCol="0">
            <a:spAutoFit/>
          </a:bodyPr>
          <a:lstStyle/>
          <a:p>
            <a:pPr marL="514350" indent="-514350">
              <a:buNone/>
            </a:pPr>
            <a:r>
              <a:rPr lang="en-US" sz="3200" b="1" dirty="0">
                <a:solidFill>
                  <a:schemeClr val="bg1"/>
                </a:solidFill>
                <a:latin typeface="Arial" panose="020B0604020202020204" pitchFamily="34" charset="0"/>
                <a:cs typeface="Arial" panose="020B0604020202020204" pitchFamily="34" charset="0"/>
              </a:rPr>
              <a:t>4. Orchestration &amp; Delivery</a:t>
            </a:r>
          </a:p>
          <a:p>
            <a:pPr algn="ctr">
              <a:buNone/>
            </a:pPr>
            <a:endParaRPr lang="en-US" sz="3200" b="1" dirty="0">
              <a:solidFill>
                <a:schemeClr val="bg1"/>
              </a:solidFill>
              <a:latin typeface="Arial" panose="020B0604020202020204" pitchFamily="34" charset="0"/>
              <a:cs typeface="Arial" panose="020B0604020202020204" pitchFamily="34" charset="0"/>
            </a:endParaRPr>
          </a:p>
          <a:p>
            <a:pPr>
              <a:buNone/>
            </a:pPr>
            <a:r>
              <a:rPr lang="en-US" sz="2800" dirty="0">
                <a:solidFill>
                  <a:schemeClr val="bg1"/>
                </a:solidFill>
                <a:latin typeface="Arial" panose="020B0604020202020204" pitchFamily="34" charset="0"/>
                <a:cs typeface="Arial" panose="020B0604020202020204" pitchFamily="34" charset="0"/>
              </a:rPr>
              <a:t>Built the pipeline control panel, the HiveQL query interface, and the Overview / Time &amp; Geography / Duration Analysis dashboards.</a:t>
            </a:r>
          </a:p>
          <a:p>
            <a:pPr>
              <a:buNone/>
            </a:pPr>
            <a:endParaRPr lang="en-US" sz="2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1081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ACD9FFE1-3AF3-871C-FC4E-0D3C53A6889A}"/>
            </a:ext>
          </a:extLst>
        </p:cNvPr>
        <p:cNvGrpSpPr/>
        <p:nvPr/>
      </p:nvGrpSpPr>
      <p:grpSpPr>
        <a:xfrm>
          <a:off x="0" y="0"/>
          <a:ext cx="0" cy="0"/>
          <a:chOff x="0" y="0"/>
          <a:chExt cx="0" cy="0"/>
        </a:xfrm>
      </p:grpSpPr>
      <p:sp>
        <p:nvSpPr>
          <p:cNvPr id="48" name="Google Shape;48;p3">
            <a:extLst>
              <a:ext uri="{FF2B5EF4-FFF2-40B4-BE49-F238E27FC236}">
                <a16:creationId xmlns:a16="http://schemas.microsoft.com/office/drawing/2014/main" id="{F7B6E2AA-C06E-CE4B-22F0-4695C3AF1F04}"/>
              </a:ext>
            </a:extLst>
          </p:cNvPr>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latin typeface="Arial" panose="020B0604020202020204" pitchFamily="34" charset="0"/>
                <a:cs typeface="Arial" panose="020B0604020202020204" pitchFamily="34" charset="0"/>
              </a:rPr>
              <a:t>Agenda</a:t>
            </a:r>
            <a:endParaRPr sz="5000" b="1" dirty="0">
              <a:solidFill>
                <a:schemeClr val="lt1"/>
              </a:solidFill>
              <a:latin typeface="Arial" panose="020B0604020202020204" pitchFamily="34" charset="0"/>
              <a:cs typeface="Arial" panose="020B0604020202020204" pitchFamily="34" charset="0"/>
            </a:endParaRPr>
          </a:p>
        </p:txBody>
      </p:sp>
      <p:grpSp>
        <p:nvGrpSpPr>
          <p:cNvPr id="2" name="Google Shape;50;p3">
            <a:extLst>
              <a:ext uri="{FF2B5EF4-FFF2-40B4-BE49-F238E27FC236}">
                <a16:creationId xmlns:a16="http://schemas.microsoft.com/office/drawing/2014/main" id="{7DFCA4B4-31C7-BE0C-DF30-77C48E45689B}"/>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F8F1174E-AF3C-E5F2-1D13-C9A23A1B2F66}"/>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01008662-6B0E-BFB3-A7D3-5014D740404D}"/>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5" name="Google Shape;59;p3">
            <a:extLst>
              <a:ext uri="{FF2B5EF4-FFF2-40B4-BE49-F238E27FC236}">
                <a16:creationId xmlns:a16="http://schemas.microsoft.com/office/drawing/2014/main" id="{F7BCC263-F998-5A01-ECB9-1E32B3C7A76C}"/>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2B335381-1690-8358-B5F6-8F00B48025F8}"/>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7" name="Google Shape;61;p3">
              <a:extLst>
                <a:ext uri="{FF2B5EF4-FFF2-40B4-BE49-F238E27FC236}">
                  <a16:creationId xmlns:a16="http://schemas.microsoft.com/office/drawing/2014/main" id="{09896DB8-6CE5-CCE6-F0A5-72AE7022F4C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
        <p:nvSpPr>
          <p:cNvPr id="9" name="Google Shape;60;p3">
            <a:extLst>
              <a:ext uri="{FF2B5EF4-FFF2-40B4-BE49-F238E27FC236}">
                <a16:creationId xmlns:a16="http://schemas.microsoft.com/office/drawing/2014/main" id="{783EFBA6-DFF8-4679-1C47-CA967C3AAEAC}"/>
              </a:ext>
            </a:extLst>
          </p:cNvPr>
          <p:cNvSpPr/>
          <p:nvPr/>
        </p:nvSpPr>
        <p:spPr>
          <a:xfrm>
            <a:off x="3113147" y="6693206"/>
            <a:ext cx="8279100" cy="415497"/>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Results and Insights</a:t>
            </a:r>
          </a:p>
        </p:txBody>
      </p:sp>
      <p:grpSp>
        <p:nvGrpSpPr>
          <p:cNvPr id="11" name="Google Shape;59;p3">
            <a:extLst>
              <a:ext uri="{FF2B5EF4-FFF2-40B4-BE49-F238E27FC236}">
                <a16:creationId xmlns:a16="http://schemas.microsoft.com/office/drawing/2014/main" id="{B0BD8B7D-E5B8-4CE3-40D6-3C80A94CD6DF}"/>
              </a:ext>
            </a:extLst>
          </p:cNvPr>
          <p:cNvGrpSpPr/>
          <p:nvPr/>
        </p:nvGrpSpPr>
        <p:grpSpPr>
          <a:xfrm>
            <a:off x="2838827" y="7283645"/>
            <a:ext cx="8553420" cy="417183"/>
            <a:chOff x="571500" y="5165783"/>
            <a:chExt cx="5702280" cy="278122"/>
          </a:xfrm>
        </p:grpSpPr>
        <p:sp>
          <p:nvSpPr>
            <p:cNvPr id="12" name="Google Shape;60;p3">
              <a:extLst>
                <a:ext uri="{FF2B5EF4-FFF2-40B4-BE49-F238E27FC236}">
                  <a16:creationId xmlns:a16="http://schemas.microsoft.com/office/drawing/2014/main" id="{390E4563-AD78-1D5C-B2CC-237238D3500F}"/>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13" name="Google Shape;61;p3">
              <a:extLst>
                <a:ext uri="{FF2B5EF4-FFF2-40B4-BE49-F238E27FC236}">
                  <a16:creationId xmlns:a16="http://schemas.microsoft.com/office/drawing/2014/main" id="{FE5BAE82-B6C4-02D8-2D49-B5C93CB4B4F5}"/>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4" name="Google Shape;59;p3">
            <a:extLst>
              <a:ext uri="{FF2B5EF4-FFF2-40B4-BE49-F238E27FC236}">
                <a16:creationId xmlns:a16="http://schemas.microsoft.com/office/drawing/2014/main" id="{BF9786DF-9BD3-0008-25CC-33C62CFEDDA2}"/>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16EDB00D-C38C-71B3-F0F2-9FED3EADA7CD}"/>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latin typeface="Arial" panose="020B0604020202020204" pitchFamily="34" charset="0"/>
                <a:cs typeface="Arial" panose="020B0604020202020204" pitchFamily="34" charset="0"/>
              </a:endParaRPr>
            </a:p>
          </p:txBody>
        </p:sp>
        <p:sp>
          <p:nvSpPr>
            <p:cNvPr id="16" name="Google Shape;61;p3">
              <a:extLst>
                <a:ext uri="{FF2B5EF4-FFF2-40B4-BE49-F238E27FC236}">
                  <a16:creationId xmlns:a16="http://schemas.microsoft.com/office/drawing/2014/main" id="{87FB0BA3-8C77-3436-2C52-86468DE076A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7" name="Google Shape;53;p3">
            <a:extLst>
              <a:ext uri="{FF2B5EF4-FFF2-40B4-BE49-F238E27FC236}">
                <a16:creationId xmlns:a16="http://schemas.microsoft.com/office/drawing/2014/main" id="{FB2544E3-9B38-18FD-9369-4BB2446CF585}"/>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988C0BAC-0B00-60DD-6B35-4137CFB70E5C}"/>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E0188FE3-3240-7321-BBCF-27BA79B1D5EE}"/>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
        <p:nvSpPr>
          <p:cNvPr id="21" name="Google Shape;57;p3">
            <a:extLst>
              <a:ext uri="{FF2B5EF4-FFF2-40B4-BE49-F238E27FC236}">
                <a16:creationId xmlns:a16="http://schemas.microsoft.com/office/drawing/2014/main" id="{D92D4AD5-45B8-A02E-722A-AC2E6C2C14C1}"/>
              </a:ext>
            </a:extLst>
          </p:cNvPr>
          <p:cNvSpPr/>
          <p:nvPr/>
        </p:nvSpPr>
        <p:spPr>
          <a:xfrm>
            <a:off x="3093720" y="6059607"/>
            <a:ext cx="8279100" cy="4154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Key Tasks</a:t>
            </a:r>
          </a:p>
        </p:txBody>
      </p:sp>
      <p:grpSp>
        <p:nvGrpSpPr>
          <p:cNvPr id="26" name="Google Shape;53;p3">
            <a:extLst>
              <a:ext uri="{FF2B5EF4-FFF2-40B4-BE49-F238E27FC236}">
                <a16:creationId xmlns:a16="http://schemas.microsoft.com/office/drawing/2014/main" id="{5B95F21F-6712-2321-54E2-6943EEA46A91}"/>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90D7DA08-F333-86D9-61A2-F4A8E6AE8379}"/>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latin typeface="Arial" panose="020B0604020202020204" pitchFamily="34" charset="0"/>
                <a:cs typeface="Arial" panose="020B0604020202020204" pitchFamily="34" charset="0"/>
              </a:endParaRPr>
            </a:p>
          </p:txBody>
        </p:sp>
        <p:sp>
          <p:nvSpPr>
            <p:cNvPr id="28" name="Google Shape;55;p3">
              <a:extLst>
                <a:ext uri="{FF2B5EF4-FFF2-40B4-BE49-F238E27FC236}">
                  <a16:creationId xmlns:a16="http://schemas.microsoft.com/office/drawing/2014/main" id="{207EADA1-ED70-7505-19EE-98B5E5D98C3E}"/>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
        <p:nvSpPr>
          <p:cNvPr id="24" name="Google Shape;58;p3">
            <a:extLst>
              <a:ext uri="{FF2B5EF4-FFF2-40B4-BE49-F238E27FC236}">
                <a16:creationId xmlns:a16="http://schemas.microsoft.com/office/drawing/2014/main" id="{78831D23-2976-2259-5B10-957F42C4E44B}"/>
              </a:ext>
            </a:extLst>
          </p:cNvPr>
          <p:cNvSpPr/>
          <p:nvPr/>
        </p:nvSpPr>
        <p:spPr>
          <a:xfrm>
            <a:off x="2819400" y="6057910"/>
            <a:ext cx="54000" cy="378001"/>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sp>
        <p:nvSpPr>
          <p:cNvPr id="29" name="Google Shape;58;p3">
            <a:extLst>
              <a:ext uri="{FF2B5EF4-FFF2-40B4-BE49-F238E27FC236}">
                <a16:creationId xmlns:a16="http://schemas.microsoft.com/office/drawing/2014/main" id="{271B20A9-D9AB-EFA9-A0C7-87FCF9B7C7A9}"/>
              </a:ext>
            </a:extLst>
          </p:cNvPr>
          <p:cNvSpPr/>
          <p:nvPr/>
        </p:nvSpPr>
        <p:spPr>
          <a:xfrm>
            <a:off x="2792400" y="6667521"/>
            <a:ext cx="54000" cy="378001"/>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spTree>
    <p:extLst>
      <p:ext uri="{BB962C8B-B14F-4D97-AF65-F5344CB8AC3E}">
        <p14:creationId xmlns:p14="http://schemas.microsoft.com/office/powerpoint/2010/main" val="190220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par>
                                <p:cTn id="22" presetID="53" presetClass="entr" presetSubtype="16"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par>
                                <p:cTn id="27" presetID="53" presetClass="entr" presetSubtype="16"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500" fill="hold"/>
                                        <p:tgtEl>
                                          <p:spTgt spid="14"/>
                                        </p:tgtEl>
                                        <p:attrNameLst>
                                          <p:attrName>ppt_w</p:attrName>
                                        </p:attrNameLst>
                                      </p:cBhvr>
                                      <p:tavLst>
                                        <p:tav tm="0">
                                          <p:val>
                                            <p:fltVal val="0"/>
                                          </p:val>
                                        </p:tav>
                                        <p:tav tm="100000">
                                          <p:val>
                                            <p:strVal val="#ppt_w"/>
                                          </p:val>
                                        </p:tav>
                                      </p:tavLst>
                                    </p:anim>
                                    <p:anim calcmode="lin" valueType="num">
                                      <p:cBhvr>
                                        <p:cTn id="30" dur="500" fill="hold"/>
                                        <p:tgtEl>
                                          <p:spTgt spid="14"/>
                                        </p:tgtEl>
                                        <p:attrNameLst>
                                          <p:attrName>ppt_h</p:attrName>
                                        </p:attrNameLst>
                                      </p:cBhvr>
                                      <p:tavLst>
                                        <p:tav tm="0">
                                          <p:val>
                                            <p:fltVal val="0"/>
                                          </p:val>
                                        </p:tav>
                                        <p:tav tm="100000">
                                          <p:val>
                                            <p:strVal val="#ppt_h"/>
                                          </p:val>
                                        </p:tav>
                                      </p:tavLst>
                                    </p:anim>
                                    <p:animEffect transition="in" filter="fade">
                                      <p:cBhvr>
                                        <p:cTn id="31" dur="500"/>
                                        <p:tgtEl>
                                          <p:spTgt spid="14"/>
                                        </p:tgtEl>
                                      </p:cBhvr>
                                    </p:animEffect>
                                  </p:childTnLst>
                                </p:cTn>
                              </p:par>
                              <p:par>
                                <p:cTn id="32" presetID="53" presetClass="entr" presetSubtype="16"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 calcmode="lin" valueType="num">
                                      <p:cBhvr>
                                        <p:cTn id="34" dur="500" fill="hold"/>
                                        <p:tgtEl>
                                          <p:spTgt spid="26"/>
                                        </p:tgtEl>
                                        <p:attrNameLst>
                                          <p:attrName>ppt_w</p:attrName>
                                        </p:attrNameLst>
                                      </p:cBhvr>
                                      <p:tavLst>
                                        <p:tav tm="0">
                                          <p:val>
                                            <p:fltVal val="0"/>
                                          </p:val>
                                        </p:tav>
                                        <p:tav tm="100000">
                                          <p:val>
                                            <p:strVal val="#ppt_w"/>
                                          </p:val>
                                        </p:tav>
                                      </p:tavLst>
                                    </p:anim>
                                    <p:anim calcmode="lin" valueType="num">
                                      <p:cBhvr>
                                        <p:cTn id="35" dur="500" fill="hold"/>
                                        <p:tgtEl>
                                          <p:spTgt spid="26"/>
                                        </p:tgtEl>
                                        <p:attrNameLst>
                                          <p:attrName>ppt_h</p:attrName>
                                        </p:attrNameLst>
                                      </p:cBhvr>
                                      <p:tavLst>
                                        <p:tav tm="0">
                                          <p:val>
                                            <p:fltVal val="0"/>
                                          </p:val>
                                        </p:tav>
                                        <p:tav tm="100000">
                                          <p:val>
                                            <p:strVal val="#ppt_h"/>
                                          </p:val>
                                        </p:tav>
                                      </p:tavLst>
                                    </p:anim>
                                    <p:animEffect transition="in" filter="fade">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548640"/>
            <a:ext cx="17007840" cy="822960"/>
          </a:xfrm>
          <a:prstGeom prst="rect">
            <a:avLst/>
          </a:prstGeom>
          <a:noFill/>
        </p:spPr>
        <p:txBody>
          <a:bodyPr wrap="none" lIns="0">
            <a:spAutoFit/>
          </a:bodyPr>
          <a:lstStyle/>
          <a:p>
            <a:r>
              <a:rPr sz="3200" b="1">
                <a:solidFill>
                  <a:srgbClr val="FFFFFF"/>
                </a:solidFill>
                <a:latin typeface="Arial"/>
              </a:rPr>
              <a:t>Results and Insights</a:t>
            </a:r>
          </a:p>
        </p:txBody>
      </p:sp>
      <p:sp>
        <p:nvSpPr>
          <p:cNvPr id="4" name="TextBox 3"/>
          <p:cNvSpPr txBox="1"/>
          <p:nvPr/>
        </p:nvSpPr>
        <p:spPr>
          <a:xfrm>
            <a:off x="822960" y="1828800"/>
            <a:ext cx="16642080" cy="7543800"/>
          </a:xfrm>
          <a:prstGeom prst="rect">
            <a:avLst/>
          </a:prstGeom>
          <a:noFill/>
        </p:spPr>
        <p:txBody>
          <a:bodyPr wrap="square" lIns="0" tIns="0">
            <a:spAutoFit/>
          </a:bodyPr>
          <a:lstStyle/>
          <a:p>
            <a:pPr>
              <a:spcAft>
                <a:spcPts val="1600"/>
              </a:spcAft>
            </a:pPr>
            <a:r>
              <a:rPr sz="1850" b="1">
                <a:solidFill>
                  <a:srgbClr val="FFFFFF"/>
                </a:solidFill>
                <a:latin typeface="Arial"/>
              </a:rPr>
              <a:t>End-to-End Volume  </a:t>
            </a:r>
            <a:r>
              <a:rPr sz="1850" b="0">
                <a:solidFill>
                  <a:srgbClr val="FFFFFF"/>
                </a:solidFill>
                <a:latin typeface="Arial"/>
              </a:rPr>
              <a:t>Successfully processed ~172K valid trips end-to-end, from raw ingestion through the Gold layer.</a:t>
            </a:r>
          </a:p>
          <a:p>
            <a:pPr>
              <a:spcAft>
                <a:spcPts val="1600"/>
              </a:spcAft>
            </a:pPr>
            <a:r>
              <a:rPr sz="1850" b="1">
                <a:solidFill>
                  <a:srgbClr val="FFFFFF"/>
                </a:solidFill>
                <a:latin typeface="Arial"/>
              </a:rPr>
              <a:t>Overview  </a:t>
            </a:r>
            <a:r>
              <a:rPr sz="1850" b="0">
                <a:solidFill>
                  <a:srgbClr val="FFFFFF"/>
                </a:solidFill>
                <a:latin typeface="Arial"/>
              </a:rPr>
              <a:t>Average trip duration of 34.88 minutes; only 0.96% of trips start and end in the same region; demand shows clear morning and evening peaks by hour.</a:t>
            </a:r>
          </a:p>
          <a:p>
            <a:pPr>
              <a:spcAft>
                <a:spcPts val="1600"/>
              </a:spcAft>
            </a:pPr>
            <a:r>
              <a:rPr sz="1850" b="1">
                <a:solidFill>
                  <a:srgbClr val="FFFFFF"/>
                </a:solidFill>
                <a:latin typeface="Arial"/>
              </a:rPr>
              <a:t>Time &amp; Geography  </a:t>
            </a:r>
            <a:r>
              <a:rPr sz="1850" b="0">
                <a:solidFill>
                  <a:srgbClr val="FFFFFF"/>
                </a:solidFill>
                <a:latin typeface="Arial"/>
              </a:rPr>
              <a:t>Trip demand is nearly evenly split between rush-hour (49.81%) and off-peak (50.19%) periods, with identifiable top pickup/drop-off regions and common routes.</a:t>
            </a:r>
          </a:p>
          <a:p>
            <a:pPr>
              <a:spcAft>
                <a:spcPts val="1600"/>
              </a:spcAft>
            </a:pPr>
            <a:r>
              <a:rPr sz="1850" b="1">
                <a:solidFill>
                  <a:srgbClr val="FFFFFF"/>
                </a:solidFill>
                <a:latin typeface="Arial"/>
              </a:rPr>
              <a:t>Duration Analysis  </a:t>
            </a:r>
            <a:r>
              <a:rPr sz="1850" b="0">
                <a:solidFill>
                  <a:srgbClr val="FFFFFF"/>
                </a:solidFill>
                <a:latin typeface="Arial"/>
              </a:rPr>
              <a:t>The majority of trips (30.3%) fall in the 30-60 minute range, followed by 15-30 minutes (27.1%); average duration increases consistently across buckets, up to ~86 minutes for 60+ min trips.</a:t>
            </a:r>
          </a:p>
          <a:p>
            <a:pPr>
              <a:spcAft>
                <a:spcPts val="1600"/>
              </a:spcAft>
            </a:pPr>
            <a:r>
              <a:rPr sz="1850" b="1">
                <a:solidFill>
                  <a:srgbClr val="FFFFFF"/>
                </a:solidFill>
                <a:latin typeface="Arial"/>
              </a:rPr>
              <a:t>Reliability  </a:t>
            </a:r>
            <a:r>
              <a:rPr sz="1850" b="0">
                <a:solidFill>
                  <a:srgbClr val="FFFFFF"/>
                </a:solidFill>
                <a:latin typeface="Arial"/>
              </a:rPr>
              <a:t>The pipeline correctly detects and skips duplicate records across repeated runs, confirming the deduplication design works as intended.</a:t>
            </a:r>
          </a:p>
        </p:txBody>
      </p:sp>
      <p:sp>
        <p:nvSpPr>
          <p:cNvPr id="5" name="TextBox 4"/>
          <p:cNvSpPr txBox="1"/>
          <p:nvPr/>
        </p:nvSpPr>
        <p:spPr>
          <a:xfrm>
            <a:off x="365760" y="9784080"/>
            <a:ext cx="5486400" cy="365760"/>
          </a:xfrm>
          <a:prstGeom prst="rect">
            <a:avLst/>
          </a:prstGeom>
          <a:noFill/>
        </p:spPr>
        <p:txBody>
          <a:bodyPr wrap="none" lIns="0" tIns="0" bIns="0">
            <a:spAutoFit/>
          </a:bodyPr>
          <a:lstStyle/>
          <a:p>
            <a:r>
              <a:rPr sz="1000">
                <a:solidFill>
                  <a:srgbClr val="C7D2EE"/>
                </a:solidFill>
                <a:latin typeface="Arial"/>
              </a:rPr>
              <a:t>Samsung Innovation Campus</a:t>
            </a:r>
          </a:p>
        </p:txBody>
      </p:sp>
      <p:pic>
        <p:nvPicPr>
          <p:cNvPr id="7" name="Picture 6" descr="image.png">
            <a:extLst>
              <a:ext uri="{FF2B5EF4-FFF2-40B4-BE49-F238E27FC236}">
                <a16:creationId xmlns:a16="http://schemas.microsoft.com/office/drawing/2014/main" id="{2FE660D4-FC10-104D-746C-97DF07268B2E}"/>
              </a:ext>
            </a:extLst>
          </p:cNvPr>
          <p:cNvPicPr>
            <a:picLocks noChangeAspect="1"/>
          </p:cNvPicPr>
          <p:nvPr/>
        </p:nvPicPr>
        <p:blipFill>
          <a:blip r:embed="rId2"/>
          <a:stretch>
            <a:fillRect/>
          </a:stretch>
        </p:blipFill>
        <p:spPr>
          <a:xfrm>
            <a:off x="3143251" y="6086475"/>
            <a:ext cx="3517850" cy="1571625"/>
          </a:xfrm>
          <a:prstGeom prst="rect">
            <a:avLst/>
          </a:prstGeom>
        </p:spPr>
      </p:pic>
      <p:pic>
        <p:nvPicPr>
          <p:cNvPr id="9" name="Picture 8" descr="image.png">
            <a:extLst>
              <a:ext uri="{FF2B5EF4-FFF2-40B4-BE49-F238E27FC236}">
                <a16:creationId xmlns:a16="http://schemas.microsoft.com/office/drawing/2014/main" id="{6F9FFF6B-79A4-956F-7EE4-1B5A14030E04}"/>
              </a:ext>
            </a:extLst>
          </p:cNvPr>
          <p:cNvPicPr>
            <a:picLocks noChangeAspect="1"/>
          </p:cNvPicPr>
          <p:nvPr/>
        </p:nvPicPr>
        <p:blipFill>
          <a:blip r:embed="rId2"/>
          <a:stretch>
            <a:fillRect/>
          </a:stretch>
        </p:blipFill>
        <p:spPr>
          <a:xfrm>
            <a:off x="6899226" y="6086475"/>
            <a:ext cx="3517850" cy="1571625"/>
          </a:xfrm>
          <a:prstGeom prst="rect">
            <a:avLst/>
          </a:prstGeom>
        </p:spPr>
      </p:pic>
      <p:pic>
        <p:nvPicPr>
          <p:cNvPr id="11" name="Picture 10" descr="image.png">
            <a:extLst>
              <a:ext uri="{FF2B5EF4-FFF2-40B4-BE49-F238E27FC236}">
                <a16:creationId xmlns:a16="http://schemas.microsoft.com/office/drawing/2014/main" id="{0F356398-5979-6598-C628-193B10B5ED78}"/>
              </a:ext>
            </a:extLst>
          </p:cNvPr>
          <p:cNvPicPr>
            <a:picLocks noChangeAspect="1"/>
          </p:cNvPicPr>
          <p:nvPr/>
        </p:nvPicPr>
        <p:blipFill>
          <a:blip r:embed="rId2"/>
          <a:stretch>
            <a:fillRect/>
          </a:stretch>
        </p:blipFill>
        <p:spPr>
          <a:xfrm>
            <a:off x="10655201" y="6086475"/>
            <a:ext cx="3517999" cy="1571625"/>
          </a:xfrm>
          <a:prstGeom prst="rect">
            <a:avLst/>
          </a:prstGeom>
        </p:spPr>
      </p:pic>
      <p:sp>
        <p:nvSpPr>
          <p:cNvPr id="13" name="TextBox 12">
            <a:extLst>
              <a:ext uri="{FF2B5EF4-FFF2-40B4-BE49-F238E27FC236}">
                <a16:creationId xmlns:a16="http://schemas.microsoft.com/office/drawing/2014/main" id="{30589032-0D62-B033-2AC1-04089F7E8390}"/>
              </a:ext>
            </a:extLst>
          </p:cNvPr>
          <p:cNvSpPr txBox="1"/>
          <p:nvPr/>
        </p:nvSpPr>
        <p:spPr>
          <a:xfrm>
            <a:off x="3390901" y="6334125"/>
            <a:ext cx="3173677" cy="247650"/>
          </a:xfrm>
          <a:prstGeom prst="rect">
            <a:avLst/>
          </a:prstGeom>
          <a:noFill/>
        </p:spPr>
        <p:txBody>
          <a:bodyPr wrap="square" lIns="0" tIns="0" rIns="0" bIns="0" anchor="t">
            <a:spAutoFit/>
          </a:bodyPr>
          <a:lstStyle/>
          <a:p>
            <a:pPr algn="l"/>
            <a:r>
              <a:rPr sz="1650" b="1" i="0" u="none">
                <a:solidFill>
                  <a:srgbClr val="38BDF8"/>
                </a:solidFill>
                <a:latin typeface="Inter"/>
              </a:rPr>
              <a:t>1. Overview</a:t>
            </a:r>
          </a:p>
        </p:txBody>
      </p:sp>
      <p:sp>
        <p:nvSpPr>
          <p:cNvPr id="15" name="TextBox 14">
            <a:extLst>
              <a:ext uri="{FF2B5EF4-FFF2-40B4-BE49-F238E27FC236}">
                <a16:creationId xmlns:a16="http://schemas.microsoft.com/office/drawing/2014/main" id="{90457DC1-E904-6ED8-432A-D67590795E53}"/>
              </a:ext>
            </a:extLst>
          </p:cNvPr>
          <p:cNvSpPr txBox="1"/>
          <p:nvPr/>
        </p:nvSpPr>
        <p:spPr>
          <a:xfrm>
            <a:off x="3390901" y="6724650"/>
            <a:ext cx="3022550" cy="685800"/>
          </a:xfrm>
          <a:prstGeom prst="rect">
            <a:avLst/>
          </a:prstGeom>
          <a:noFill/>
        </p:spPr>
        <p:txBody>
          <a:bodyPr wrap="square" lIns="0" tIns="0" rIns="0" bIns="0" anchor="t">
            <a:spAutoFit/>
          </a:bodyPr>
          <a:lstStyle/>
          <a:p>
            <a:pPr algn="l">
              <a:lnSpc>
                <a:spcPts val="1800"/>
              </a:lnSpc>
            </a:pPr>
            <a:r>
              <a:rPr sz="1200" b="0" i="0" u="none">
                <a:solidFill>
                  <a:srgbClr val="94A3B8"/>
                </a:solidFill>
                <a:latin typeface="Inter"/>
              </a:rPr>
              <a:t>Total Trips (172K), Avg Duration (34.8 mins), Weekday vs Weekend splits, and hourly demand peaks.</a:t>
            </a:r>
          </a:p>
        </p:txBody>
      </p:sp>
      <p:sp>
        <p:nvSpPr>
          <p:cNvPr id="17" name="TextBox 16">
            <a:extLst>
              <a:ext uri="{FF2B5EF4-FFF2-40B4-BE49-F238E27FC236}">
                <a16:creationId xmlns:a16="http://schemas.microsoft.com/office/drawing/2014/main" id="{F9F5F4F2-836D-D761-591A-6CD7DFC73330}"/>
              </a:ext>
            </a:extLst>
          </p:cNvPr>
          <p:cNvSpPr txBox="1"/>
          <p:nvPr/>
        </p:nvSpPr>
        <p:spPr>
          <a:xfrm>
            <a:off x="7146876" y="6334125"/>
            <a:ext cx="3173677" cy="247650"/>
          </a:xfrm>
          <a:prstGeom prst="rect">
            <a:avLst/>
          </a:prstGeom>
          <a:noFill/>
        </p:spPr>
        <p:txBody>
          <a:bodyPr wrap="square" lIns="0" tIns="0" rIns="0" bIns="0" anchor="t">
            <a:spAutoFit/>
          </a:bodyPr>
          <a:lstStyle/>
          <a:p>
            <a:pPr algn="l"/>
            <a:r>
              <a:rPr sz="1650" b="1" i="0" u="none">
                <a:solidFill>
                  <a:srgbClr val="10B981"/>
                </a:solidFill>
                <a:latin typeface="Inter"/>
              </a:rPr>
              <a:t>2. Time &amp; Geography</a:t>
            </a:r>
          </a:p>
        </p:txBody>
      </p:sp>
      <p:sp>
        <p:nvSpPr>
          <p:cNvPr id="19" name="TextBox 18">
            <a:extLst>
              <a:ext uri="{FF2B5EF4-FFF2-40B4-BE49-F238E27FC236}">
                <a16:creationId xmlns:a16="http://schemas.microsoft.com/office/drawing/2014/main" id="{52E2430B-5CDB-7A5C-2B4D-59461C4C9F68}"/>
              </a:ext>
            </a:extLst>
          </p:cNvPr>
          <p:cNvSpPr txBox="1"/>
          <p:nvPr/>
        </p:nvSpPr>
        <p:spPr>
          <a:xfrm>
            <a:off x="7146876" y="6724650"/>
            <a:ext cx="3022550" cy="685800"/>
          </a:xfrm>
          <a:prstGeom prst="rect">
            <a:avLst/>
          </a:prstGeom>
          <a:noFill/>
        </p:spPr>
        <p:txBody>
          <a:bodyPr wrap="square" lIns="0" tIns="0" rIns="0" bIns="0" anchor="t">
            <a:spAutoFit/>
          </a:bodyPr>
          <a:lstStyle/>
          <a:p>
            <a:pPr algn="l">
              <a:lnSpc>
                <a:spcPts val="1800"/>
              </a:lnSpc>
            </a:pPr>
            <a:r>
              <a:rPr sz="1200" b="0" i="0" u="none">
                <a:solidFill>
                  <a:srgbClr val="94A3B8"/>
                </a:solidFill>
                <a:latin typeface="Inter"/>
              </a:rPr>
              <a:t>Spatial trip distribution, top start/end regions, route breakdowns, and rush-hour vs off-peak analysis (~50/50 split).</a:t>
            </a:r>
          </a:p>
        </p:txBody>
      </p:sp>
      <p:sp>
        <p:nvSpPr>
          <p:cNvPr id="21" name="TextBox 20">
            <a:extLst>
              <a:ext uri="{FF2B5EF4-FFF2-40B4-BE49-F238E27FC236}">
                <a16:creationId xmlns:a16="http://schemas.microsoft.com/office/drawing/2014/main" id="{CB2ECC2F-7466-42F7-113B-76AB9D029B60}"/>
              </a:ext>
            </a:extLst>
          </p:cNvPr>
          <p:cNvSpPr txBox="1"/>
          <p:nvPr/>
        </p:nvSpPr>
        <p:spPr>
          <a:xfrm>
            <a:off x="10902851" y="6334125"/>
            <a:ext cx="3173834" cy="247650"/>
          </a:xfrm>
          <a:prstGeom prst="rect">
            <a:avLst/>
          </a:prstGeom>
          <a:noFill/>
        </p:spPr>
        <p:txBody>
          <a:bodyPr wrap="square" lIns="0" tIns="0" rIns="0" bIns="0" anchor="t">
            <a:spAutoFit/>
          </a:bodyPr>
          <a:lstStyle/>
          <a:p>
            <a:pPr algn="l"/>
            <a:r>
              <a:rPr sz="1650" b="1" i="0" u="none">
                <a:solidFill>
                  <a:srgbClr val="F59E0B"/>
                </a:solidFill>
                <a:latin typeface="Inter"/>
              </a:rPr>
              <a:t>3. Duration Analysis</a:t>
            </a:r>
          </a:p>
        </p:txBody>
      </p:sp>
      <p:sp>
        <p:nvSpPr>
          <p:cNvPr id="23" name="TextBox 22">
            <a:extLst>
              <a:ext uri="{FF2B5EF4-FFF2-40B4-BE49-F238E27FC236}">
                <a16:creationId xmlns:a16="http://schemas.microsoft.com/office/drawing/2014/main" id="{97837FAF-A4EA-B32E-2646-E86B94E5E0E7}"/>
              </a:ext>
            </a:extLst>
          </p:cNvPr>
          <p:cNvSpPr txBox="1"/>
          <p:nvPr/>
        </p:nvSpPr>
        <p:spPr>
          <a:xfrm>
            <a:off x="10902851" y="6724650"/>
            <a:ext cx="3022699" cy="685800"/>
          </a:xfrm>
          <a:prstGeom prst="rect">
            <a:avLst/>
          </a:prstGeom>
          <a:noFill/>
        </p:spPr>
        <p:txBody>
          <a:bodyPr wrap="square" lIns="0" tIns="0" rIns="0" bIns="0" anchor="t">
            <a:spAutoFit/>
          </a:bodyPr>
          <a:lstStyle/>
          <a:p>
            <a:pPr algn="l">
              <a:lnSpc>
                <a:spcPts val="1800"/>
              </a:lnSpc>
            </a:pPr>
            <a:r>
              <a:rPr sz="1200" b="0" i="0" u="none">
                <a:solidFill>
                  <a:srgbClr val="94A3B8"/>
                </a:solidFill>
                <a:latin typeface="Inter"/>
              </a:rPr>
              <a:t>Trip distribution across duration buckets (e.g., 30-60 min peak at 30.3%) and average duration validation.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Overview — Key Metrics</a:t>
            </a:r>
          </a:p>
          <a:p>
            <a:r>
              <a:rPr sz="1400">
                <a:solidFill>
                  <a:srgbClr val="5B6B8C"/>
                </a:solidFill>
                <a:latin typeface="Arial"/>
              </a:rPr>
              <a:t>The three headline numbers on the dashboard's first page</a:t>
            </a:r>
          </a:p>
        </p:txBody>
      </p:sp>
      <p:sp>
        <p:nvSpPr>
          <p:cNvPr id="5" name="TextBox 4"/>
          <p:cNvSpPr txBox="1"/>
          <p:nvPr/>
        </p:nvSpPr>
        <p:spPr>
          <a:xfrm>
            <a:off x="822960" y="5952012"/>
            <a:ext cx="16642080" cy="3512028"/>
          </a:xfrm>
          <a:prstGeom prst="rect">
            <a:avLst/>
          </a:prstGeom>
          <a:noFill/>
        </p:spPr>
        <p:txBody>
          <a:bodyPr wrap="square" lIns="0" tIns="0">
            <a:spAutoFit/>
          </a:bodyPr>
          <a:lstStyle/>
          <a:p>
            <a:pPr>
              <a:spcAft>
                <a:spcPts val="1200"/>
              </a:spcAft>
            </a:pPr>
            <a:r>
              <a:rPr sz="1800">
                <a:solidFill>
                  <a:srgbClr val="222833"/>
                </a:solidFill>
                <a:latin typeface="Arial"/>
              </a:rPr>
              <a:t>•  Total Trips: 171,707 rides processed end-to-end (batch Jan-Nov + stream Dec)</a:t>
            </a:r>
          </a:p>
          <a:p>
            <a:pPr>
              <a:spcAft>
                <a:spcPts val="1200"/>
              </a:spcAft>
            </a:pPr>
            <a:r>
              <a:rPr sz="1800">
                <a:solidFill>
                  <a:srgbClr val="222833"/>
                </a:solidFill>
                <a:latin typeface="Arial"/>
              </a:rPr>
              <a:t>•  Avg Duration: 34.88 minutes across all trips</a:t>
            </a:r>
          </a:p>
          <a:p>
            <a:pPr>
              <a:spcAft>
                <a:spcPts val="1200"/>
              </a:spcAft>
            </a:pPr>
            <a:r>
              <a:rPr sz="1800">
                <a:solidFill>
                  <a:srgbClr val="222833"/>
                </a:solidFill>
                <a:latin typeface="Arial"/>
              </a:rPr>
              <a:t>•  % Same Region Trips: 0.96% — almost every ride covers real distance</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822960" y="1371600"/>
            <a:ext cx="16642080" cy="426037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Overview — Weekday vs. Weekend</a:t>
            </a:r>
          </a:p>
          <a:p>
            <a:r>
              <a:rPr sz="1400">
                <a:solidFill>
                  <a:srgbClr val="5B6B8C"/>
                </a:solidFill>
                <a:latin typeface="Arial"/>
              </a:rPr>
              <a:t>Total Trips by Day Type</a:t>
            </a:r>
          </a:p>
        </p:txBody>
      </p:sp>
      <p:sp>
        <p:nvSpPr>
          <p:cNvPr id="4" name="TextBox 3"/>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71.13% of trips happen on weekdays vs. 28.87% on weekends</a:t>
            </a:r>
          </a:p>
          <a:p>
            <a:pPr>
              <a:spcAft>
                <a:spcPts val="1200"/>
              </a:spcAft>
            </a:pPr>
            <a:r>
              <a:rPr sz="1800">
                <a:solidFill>
                  <a:srgbClr val="222833"/>
                </a:solidFill>
                <a:latin typeface="Arial"/>
              </a:rPr>
              <a:t>•  Consistent with commute-driven demand rather than leisure travel</a:t>
            </a:r>
          </a:p>
          <a:p>
            <a:pPr>
              <a:spcAft>
                <a:spcPts val="1200"/>
              </a:spcAft>
            </a:pPr>
            <a:r>
              <a:rPr sz="1800">
                <a:solidFill>
                  <a:srgbClr val="222833"/>
                </a:solidFill>
                <a:latin typeface="Arial"/>
              </a:rPr>
              <a:t>•  Measure: Legend = Day Type, derived from Dim_Date.is_weekend</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3279952" y="1371600"/>
            <a:ext cx="11728094" cy="48463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Overview — Trips by Day of Week</a:t>
            </a:r>
          </a:p>
          <a:p>
            <a:r>
              <a:rPr sz="1400">
                <a:solidFill>
                  <a:srgbClr val="5B6B8C"/>
                </a:solidFill>
                <a:latin typeface="Arial"/>
              </a:rPr>
              <a:t>Total Trips by day_name</a:t>
            </a:r>
          </a:p>
        </p:txBody>
      </p:sp>
      <p:sp>
        <p:nvSpPr>
          <p:cNvPr id="5" name="TextBox 4"/>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Volume is nearly flat across the week, ~24-25K trips per day</a:t>
            </a:r>
          </a:p>
          <a:p>
            <a:pPr>
              <a:spcAft>
                <a:spcPts val="1200"/>
              </a:spcAft>
            </a:pPr>
            <a:r>
              <a:rPr sz="1800">
                <a:solidFill>
                  <a:srgbClr val="222833"/>
                </a:solidFill>
                <a:latin typeface="Arial"/>
              </a:rPr>
              <a:t>•  Unlike the hourly pattern, demand doesn't swing much by day</a:t>
            </a:r>
          </a:p>
          <a:p>
            <a:pPr>
              <a:spcAft>
                <a:spcPts val="1200"/>
              </a:spcAft>
            </a:pPr>
            <a:r>
              <a:rPr sz="1800">
                <a:solidFill>
                  <a:srgbClr val="222833"/>
                </a:solidFill>
                <a:latin typeface="Arial"/>
              </a:rPr>
              <a:t>•  Axis sorted by day_of_week (Sun -&gt; Sat), not alphabetically</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2934652" y="1371600"/>
            <a:ext cx="12418695" cy="48463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Overview — Trips by Month</a:t>
            </a:r>
          </a:p>
          <a:p>
            <a:r>
              <a:rPr sz="1400">
                <a:solidFill>
                  <a:srgbClr val="5B6B8C"/>
                </a:solidFill>
                <a:latin typeface="Arial"/>
              </a:rPr>
              <a:t>Total Trips by month_name</a:t>
            </a:r>
          </a:p>
        </p:txBody>
      </p:sp>
      <p:sp>
        <p:nvSpPr>
          <p:cNvPr id="4" name="TextBox 3"/>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Volume climbs through summer, peaking in July (~18K trips)</a:t>
            </a:r>
          </a:p>
          <a:p>
            <a:pPr>
              <a:spcAft>
                <a:spcPts val="1200"/>
              </a:spcAft>
            </a:pPr>
            <a:r>
              <a:rPr sz="1800">
                <a:solidFill>
                  <a:srgbClr val="222833"/>
                </a:solidFill>
                <a:latin typeface="Arial"/>
              </a:rPr>
              <a:t>•  December drops sharply (~1K) because it is the stream-only slice, not a full batch month</a:t>
            </a:r>
          </a:p>
          <a:p>
            <a:pPr>
              <a:spcAft>
                <a:spcPts val="1200"/>
              </a:spcAft>
            </a:pPr>
            <a:r>
              <a:rPr sz="1800">
                <a:solidFill>
                  <a:srgbClr val="222833"/>
                </a:solidFill>
                <a:latin typeface="Arial"/>
              </a:rPr>
              <a:t>•  Axis sorted by calendar month via a Sort-by-Column relationship</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3183026" y="1371600"/>
            <a:ext cx="11921947" cy="48463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Overview — Trips by Hour</a:t>
            </a:r>
          </a:p>
          <a:p>
            <a:r>
              <a:rPr sz="1400">
                <a:solidFill>
                  <a:srgbClr val="5B6B8C"/>
                </a:solidFill>
                <a:latin typeface="Arial"/>
              </a:rPr>
              <a:t>Total Trips by hour</a:t>
            </a:r>
          </a:p>
        </p:txBody>
      </p:sp>
      <p:sp>
        <p:nvSpPr>
          <p:cNvPr id="5" name="TextBox 4"/>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Two clear peaks: ~7-8 AM and ~5-6 PM (morning and evening commute)</a:t>
            </a:r>
          </a:p>
          <a:p>
            <a:pPr>
              <a:spcAft>
                <a:spcPts val="1200"/>
              </a:spcAft>
            </a:pPr>
            <a:r>
              <a:rPr sz="1800">
                <a:solidFill>
                  <a:srgbClr val="222833"/>
                </a:solidFill>
                <a:latin typeface="Arial"/>
              </a:rPr>
              <a:t>•  Mid-day lull, very low volume overnight (12-4 AM)</a:t>
            </a:r>
          </a:p>
          <a:p>
            <a:pPr>
              <a:spcAft>
                <a:spcPts val="1200"/>
              </a:spcAft>
            </a:pPr>
            <a:r>
              <a:rPr sz="1800">
                <a:solidFill>
                  <a:srgbClr val="222833"/>
                </a:solidFill>
                <a:latin typeface="Arial"/>
              </a:rPr>
              <a:t>•  Confirms demand is commute-driven, not evenly spread</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3751615" y="1371600"/>
            <a:ext cx="10784768" cy="48463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Geography — Pickup Density</a:t>
            </a:r>
          </a:p>
          <a:p>
            <a:r>
              <a:rPr sz="1400">
                <a:solidFill>
                  <a:srgbClr val="5B6B8C"/>
                </a:solidFill>
                <a:latin typeface="Arial"/>
              </a:rPr>
              <a:t>Total Trips by lon and lat</a:t>
            </a:r>
          </a:p>
        </p:txBody>
      </p:sp>
      <p:sp>
        <p:nvSpPr>
          <p:cNvPr id="4" name="TextBox 3"/>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Raw coordinate scatter plot standing in for a live basemap</a:t>
            </a:r>
          </a:p>
          <a:p>
            <a:pPr>
              <a:spcAft>
                <a:spcPts val="1200"/>
              </a:spcAft>
            </a:pPr>
            <a:r>
              <a:rPr sz="1800">
                <a:solidFill>
                  <a:srgbClr val="222833"/>
                </a:solidFill>
                <a:latin typeface="Arial"/>
              </a:rPr>
              <a:t>•  Power BI's Azure Maps visual was blocked by the org's tenant policy</a:t>
            </a:r>
          </a:p>
          <a:p>
            <a:pPr>
              <a:spcAft>
                <a:spcPts val="1200"/>
              </a:spcAft>
            </a:pPr>
            <a:r>
              <a:rPr sz="1800">
                <a:solidFill>
                  <a:srgbClr val="222833"/>
                </a:solidFill>
                <a:latin typeface="Arial"/>
              </a:rPr>
              <a:t>•  The point cloud still traces the shape of the serviced NYC area</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5324442" y="1371600"/>
            <a:ext cx="7639114" cy="48463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Geography — Top Start Regions</a:t>
            </a:r>
          </a:p>
          <a:p>
            <a:r>
              <a:rPr sz="1400">
                <a:solidFill>
                  <a:srgbClr val="5B6B8C"/>
                </a:solidFill>
                <a:latin typeface="Arial"/>
              </a:rPr>
              <a:t>Total Trips by parent_geo_res6</a:t>
            </a:r>
          </a:p>
        </p:txBody>
      </p:sp>
      <p:sp>
        <p:nvSpPr>
          <p:cNvPr id="5" name="TextBox 4"/>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The single busiest region alone accounts for ~12.5% of all pickups</a:t>
            </a:r>
          </a:p>
          <a:p>
            <a:pPr>
              <a:spcAft>
                <a:spcPts val="1200"/>
              </a:spcAft>
            </a:pPr>
            <a:r>
              <a:rPr sz="1800">
                <a:solidFill>
                  <a:srgbClr val="222833"/>
                </a:solidFill>
                <a:latin typeface="Arial"/>
              </a:rPr>
              <a:t>•  The top 5 regions together cover more than half of all rides</a:t>
            </a:r>
          </a:p>
          <a:p>
            <a:pPr>
              <a:spcAft>
                <a:spcPts val="1200"/>
              </a:spcAft>
            </a:pPr>
            <a:r>
              <a:rPr sz="1800">
                <a:solidFill>
                  <a:srgbClr val="222833"/>
                </a:solidFill>
                <a:latin typeface="Arial"/>
              </a:rPr>
              <a:t>•  Grouped to a coarser H3 region (~36 km2/cell) so the chart stays readable</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5283372" y="1371600"/>
            <a:ext cx="7721255" cy="48463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Geography — Top End Regions</a:t>
            </a:r>
          </a:p>
          <a:p>
            <a:r>
              <a:rPr sz="1400">
                <a:solidFill>
                  <a:srgbClr val="5B6B8C"/>
                </a:solidFill>
                <a:latin typeface="Arial"/>
              </a:rPr>
              <a:t>Total Trips by parent_geo_res6 (drop-off)</a:t>
            </a:r>
          </a:p>
        </p:txBody>
      </p:sp>
      <p:sp>
        <p:nvSpPr>
          <p:cNvPr id="4" name="TextBox 3"/>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Ranking closely mirrors the start regions</a:t>
            </a:r>
          </a:p>
          <a:p>
            <a:pPr>
              <a:spcAft>
                <a:spcPts val="1200"/>
              </a:spcAft>
            </a:pPr>
            <a:r>
              <a:rPr sz="1800">
                <a:solidFill>
                  <a:srgbClr val="222833"/>
                </a:solidFill>
                <a:latin typeface="Arial"/>
              </a:rPr>
              <a:t>•  Trips are largely local rather than one-way flows into a few hub districts</a:t>
            </a:r>
          </a:p>
          <a:p>
            <a:pPr>
              <a:spcAft>
                <a:spcPts val="1200"/>
              </a:spcAft>
            </a:pPr>
            <a:r>
              <a:rPr sz="1800">
                <a:solidFill>
                  <a:srgbClr val="222833"/>
                </a:solidFill>
                <a:latin typeface="Arial"/>
              </a:rPr>
              <a:t>•  Same coarser H3 grouping, keyed on end_geo_key</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5160160" y="1371600"/>
            <a:ext cx="7967678" cy="48463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Geography — Most Common Routes</a:t>
            </a:r>
          </a:p>
          <a:p>
            <a:r>
              <a:rPr sz="1400">
                <a:solidFill>
                  <a:srgbClr val="5B6B8C"/>
                </a:solidFill>
                <a:latin typeface="Arial"/>
              </a:rPr>
              <a:t>Route Region: start region -&gt; end region</a:t>
            </a:r>
          </a:p>
        </p:txBody>
      </p:sp>
      <p:sp>
        <p:nvSpPr>
          <p:cNvPr id="5" name="TextBox 4"/>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Busiest "routes" actually start and end within the same broad region</a:t>
            </a:r>
          </a:p>
          <a:p>
            <a:pPr>
              <a:spcAft>
                <a:spcPts val="1200"/>
              </a:spcAft>
            </a:pPr>
            <a:r>
              <a:rPr sz="1800">
                <a:solidFill>
                  <a:srgbClr val="222833"/>
                </a:solidFill>
                <a:latin typeface="Arial"/>
              </a:rPr>
              <a:t>•  Short, local trips dominate even though exact same-cell trips are rare</a:t>
            </a:r>
          </a:p>
          <a:p>
            <a:pPr>
              <a:spcAft>
                <a:spcPts val="1200"/>
              </a:spcAft>
            </a:pPr>
            <a:r>
              <a:rPr sz="1800">
                <a:solidFill>
                  <a:srgbClr val="222833"/>
                </a:solidFill>
                <a:latin typeface="Arial"/>
              </a:rPr>
              <a:t>•  Built via a RELATED() calculated column joining both geography dimensions</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6323600" y="1371600"/>
            <a:ext cx="5640798" cy="484632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Geography — Day x Hour Heatmap</a:t>
            </a:r>
          </a:p>
          <a:p>
            <a:r>
              <a:rPr sz="1400">
                <a:solidFill>
                  <a:srgbClr val="5B6B8C"/>
                </a:solidFill>
                <a:latin typeface="Arial"/>
              </a:rPr>
              <a:t>Trip volume by day_name and hour</a:t>
            </a:r>
          </a:p>
        </p:txBody>
      </p:sp>
      <p:sp>
        <p:nvSpPr>
          <p:cNvPr id="4" name="TextBox 3"/>
          <p:cNvSpPr txBox="1"/>
          <p:nvPr/>
        </p:nvSpPr>
        <p:spPr>
          <a:xfrm>
            <a:off x="822960" y="4869815"/>
            <a:ext cx="16642080" cy="4594225"/>
          </a:xfrm>
          <a:prstGeom prst="rect">
            <a:avLst/>
          </a:prstGeom>
          <a:noFill/>
        </p:spPr>
        <p:txBody>
          <a:bodyPr wrap="square" lIns="0" tIns="0">
            <a:spAutoFit/>
          </a:bodyPr>
          <a:lstStyle/>
          <a:p>
            <a:pPr>
              <a:spcAft>
                <a:spcPts val="1200"/>
              </a:spcAft>
            </a:pPr>
            <a:r>
              <a:rPr sz="1800">
                <a:solidFill>
                  <a:srgbClr val="222833"/>
                </a:solidFill>
                <a:latin typeface="Arial"/>
              </a:rPr>
              <a:t>•  Confirms the commute pattern seen in the hourly chart</a:t>
            </a:r>
          </a:p>
          <a:p>
            <a:pPr>
              <a:spcAft>
                <a:spcPts val="1200"/>
              </a:spcAft>
            </a:pPr>
            <a:r>
              <a:rPr sz="1800">
                <a:solidFill>
                  <a:srgbClr val="222833"/>
                </a:solidFill>
                <a:latin typeface="Arial"/>
              </a:rPr>
              <a:t>•  Darker cells around 7-9 AM and 5-7 PM on weekdays</a:t>
            </a:r>
          </a:p>
          <a:p>
            <a:pPr>
              <a:spcAft>
                <a:spcPts val="1200"/>
              </a:spcAft>
            </a:pPr>
            <a:r>
              <a:rPr sz="1800">
                <a:solidFill>
                  <a:srgbClr val="222833"/>
                </a:solidFill>
                <a:latin typeface="Arial"/>
              </a:rPr>
              <a:t>•  Background color scale applied via Cell elements formatting</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822960" y="1371600"/>
            <a:ext cx="16642080" cy="317817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Geography — Rush Hour Split</a:t>
            </a:r>
          </a:p>
          <a:p>
            <a:r>
              <a:rPr sz="1400">
                <a:solidFill>
                  <a:srgbClr val="5B6B8C"/>
                </a:solidFill>
                <a:latin typeface="Arial"/>
              </a:rPr>
              <a:t>Total Trips by Rush Label</a:t>
            </a:r>
          </a:p>
        </p:txBody>
      </p:sp>
      <p:sp>
        <p:nvSpPr>
          <p:cNvPr id="5" name="TextBox 4"/>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Almost exactly even: 49.81% rush hour vs. 50.19% off-peak</a:t>
            </a:r>
          </a:p>
          <a:p>
            <a:pPr>
              <a:spcAft>
                <a:spcPts val="1200"/>
              </a:spcAft>
            </a:pPr>
            <a:r>
              <a:rPr sz="1800">
                <a:solidFill>
                  <a:srgbClr val="222833"/>
                </a:solidFill>
                <a:latin typeface="Arial"/>
              </a:rPr>
              <a:t>•  Demand is spread fairly evenly, not narrowly concentrated in commute windows</a:t>
            </a:r>
          </a:p>
          <a:p>
            <a:pPr>
              <a:spcAft>
                <a:spcPts val="1200"/>
              </a:spcAft>
            </a:pPr>
            <a:r>
              <a:rPr sz="1800">
                <a:solidFill>
                  <a:srgbClr val="222833"/>
                </a:solidFill>
                <a:latin typeface="Arial"/>
              </a:rPr>
              <a:t>•  Derived from Dim_Time.is_rush_hour</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5602458" y="1371600"/>
            <a:ext cx="7083083" cy="484632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Duration — Trip Length Distribution</a:t>
            </a:r>
          </a:p>
          <a:p>
            <a:r>
              <a:rPr sz="1400">
                <a:solidFill>
                  <a:srgbClr val="5B6B8C"/>
                </a:solidFill>
                <a:latin typeface="Arial"/>
              </a:rPr>
              <a:t>Total Trips by bucket_label</a:t>
            </a:r>
          </a:p>
        </p:txBody>
      </p:sp>
      <p:sp>
        <p:nvSpPr>
          <p:cNvPr id="4" name="TextBox 3"/>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Most trips (30.3%) fall in the 30-60 minute range</a:t>
            </a:r>
          </a:p>
          <a:p>
            <a:pPr>
              <a:spcAft>
                <a:spcPts val="1200"/>
              </a:spcAft>
            </a:pPr>
            <a:r>
              <a:rPr sz="1800">
                <a:solidFill>
                  <a:srgbClr val="222833"/>
                </a:solidFill>
                <a:latin typeface="Arial"/>
              </a:rPr>
              <a:t>•  Followed by 15-30 minutes (27.1%); only 4.3% are under 5 minutes</a:t>
            </a:r>
          </a:p>
          <a:p>
            <a:pPr>
              <a:spcAft>
                <a:spcPts val="1200"/>
              </a:spcAft>
            </a:pPr>
            <a:r>
              <a:rPr sz="1800">
                <a:solidFill>
                  <a:srgbClr val="222833"/>
                </a:solidFill>
                <a:latin typeface="Arial"/>
              </a:rPr>
              <a:t>•  Buckets sorted by min_seconds so they read in logical order</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5361506" y="1371600"/>
            <a:ext cx="7564987" cy="48463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7190720" cy="822960"/>
          </a:xfrm>
          <a:prstGeom prst="rect">
            <a:avLst/>
          </a:prstGeom>
          <a:noFill/>
        </p:spPr>
        <p:txBody>
          <a:bodyPr wrap="none" lIns="0" tIns="0">
            <a:spAutoFit/>
          </a:bodyPr>
          <a:lstStyle/>
          <a:p>
            <a:r>
              <a:rPr sz="3000" b="1">
                <a:solidFill>
                  <a:srgbClr val="193EB0"/>
                </a:solidFill>
                <a:latin typeface="Arial"/>
              </a:rPr>
              <a:t>Duration — Avg Duration by Bucket</a:t>
            </a:r>
          </a:p>
          <a:p>
            <a:r>
              <a:rPr sz="1400">
                <a:solidFill>
                  <a:srgbClr val="5B6B8C"/>
                </a:solidFill>
                <a:latin typeface="Arial"/>
              </a:rPr>
              <a:t>Avg Duration by Bucket (min)</a:t>
            </a:r>
          </a:p>
        </p:txBody>
      </p:sp>
      <p:sp>
        <p:nvSpPr>
          <p:cNvPr id="5" name="TextBox 4"/>
          <p:cNvSpPr txBox="1"/>
          <p:nvPr/>
        </p:nvSpPr>
        <p:spPr>
          <a:xfrm>
            <a:off x="822960" y="6537960"/>
            <a:ext cx="16642080" cy="2926080"/>
          </a:xfrm>
          <a:prstGeom prst="rect">
            <a:avLst/>
          </a:prstGeom>
          <a:noFill/>
        </p:spPr>
        <p:txBody>
          <a:bodyPr wrap="square" lIns="0" tIns="0">
            <a:spAutoFit/>
          </a:bodyPr>
          <a:lstStyle/>
          <a:p>
            <a:pPr>
              <a:spcAft>
                <a:spcPts val="1200"/>
              </a:spcAft>
            </a:pPr>
            <a:r>
              <a:rPr sz="1800">
                <a:solidFill>
                  <a:srgbClr val="222833"/>
                </a:solidFill>
                <a:latin typeface="Arial"/>
              </a:rPr>
              <a:t>•  Sanity-check: average duration rises consistently across buckets</a:t>
            </a:r>
          </a:p>
          <a:p>
            <a:pPr>
              <a:spcAft>
                <a:spcPts val="1200"/>
              </a:spcAft>
            </a:pPr>
            <a:r>
              <a:rPr sz="1800">
                <a:solidFill>
                  <a:srgbClr val="222833"/>
                </a:solidFill>
                <a:latin typeface="Arial"/>
              </a:rPr>
              <a:t>•  The 60+ min bucket averages ~86 minutes, confirming the boundaries are meaningful</a:t>
            </a:r>
          </a:p>
          <a:p>
            <a:pPr>
              <a:spcAft>
                <a:spcPts val="1200"/>
              </a:spcAft>
            </a:pPr>
            <a:r>
              <a:rPr sz="1800">
                <a:solidFill>
                  <a:srgbClr val="222833"/>
                </a:solidFill>
                <a:latin typeface="Arial"/>
              </a:rPr>
              <a:t>•  Validates the bucketing logic isn't just an arbitrary label</a:t>
            </a:r>
          </a:p>
        </p:txBody>
      </p:sp>
      <p:sp>
        <p:nvSpPr>
          <p:cNvPr id="6" name="TextBox 5"/>
          <p:cNvSpPr txBox="1"/>
          <p:nvPr/>
        </p:nvSpPr>
        <p:spPr>
          <a:xfrm>
            <a:off x="365760" y="9784080"/>
            <a:ext cx="5486400" cy="365760"/>
          </a:xfrm>
          <a:prstGeom prst="rect">
            <a:avLst/>
          </a:prstGeom>
          <a:noFill/>
        </p:spPr>
        <p:txBody>
          <a:bodyPr wrap="none" lIns="0" tIns="0" bIns="0">
            <a:spAutoFit/>
          </a:bodyPr>
          <a:lstStyle/>
          <a:p>
            <a:r>
              <a:rPr sz="1000">
                <a:solidFill>
                  <a:srgbClr val="5B6B8C"/>
                </a:solidFill>
                <a:latin typeface="Arial"/>
              </a:rPr>
              <a:t>Samsung Innovation Campus</a:t>
            </a:r>
          </a:p>
        </p:txBody>
      </p:sp>
      <p:pic>
        <p:nvPicPr>
          <p:cNvPr id="7" name="Picture 6" descr="image.png"/>
          <p:cNvPicPr>
            <a:picLocks noChangeAspect="1"/>
          </p:cNvPicPr>
          <p:nvPr/>
        </p:nvPicPr>
        <p:blipFill>
          <a:blip r:embed="rId2"/>
          <a:stretch>
            <a:fillRect/>
          </a:stretch>
        </p:blipFill>
        <p:spPr>
          <a:xfrm>
            <a:off x="6188926" y="1371600"/>
            <a:ext cx="5910146" cy="484632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7">
          <a:extLst>
            <a:ext uri="{FF2B5EF4-FFF2-40B4-BE49-F238E27FC236}">
              <a16:creationId xmlns:a16="http://schemas.microsoft.com/office/drawing/2014/main" id="{84EC6AAC-DB0F-5F1F-D545-5C18539004CF}"/>
            </a:ext>
          </a:extLst>
        </p:cNvPr>
        <p:cNvGrpSpPr/>
        <p:nvPr/>
      </p:nvGrpSpPr>
      <p:grpSpPr>
        <a:xfrm>
          <a:off x="0" y="0"/>
          <a:ext cx="0" cy="0"/>
          <a:chOff x="0" y="0"/>
          <a:chExt cx="0" cy="0"/>
        </a:xfrm>
      </p:grpSpPr>
      <p:sp>
        <p:nvSpPr>
          <p:cNvPr id="48" name="Google Shape;48;p3">
            <a:extLst>
              <a:ext uri="{FF2B5EF4-FFF2-40B4-BE49-F238E27FC236}">
                <a16:creationId xmlns:a16="http://schemas.microsoft.com/office/drawing/2014/main" id="{8D23033A-1BDD-A42C-AF21-618F56ECC43F}"/>
              </a:ext>
            </a:extLst>
          </p:cNvPr>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latin typeface="Arial" panose="020B0604020202020204" pitchFamily="34" charset="0"/>
                <a:cs typeface="Arial" panose="020B0604020202020204" pitchFamily="34" charset="0"/>
              </a:rPr>
              <a:t>Agenda</a:t>
            </a:r>
            <a:endParaRPr sz="5000" b="1" dirty="0">
              <a:solidFill>
                <a:schemeClr val="lt1"/>
              </a:solidFill>
              <a:latin typeface="Arial" panose="020B0604020202020204" pitchFamily="34" charset="0"/>
              <a:cs typeface="Arial" panose="020B0604020202020204" pitchFamily="34" charset="0"/>
            </a:endParaRPr>
          </a:p>
        </p:txBody>
      </p:sp>
      <p:grpSp>
        <p:nvGrpSpPr>
          <p:cNvPr id="2" name="Google Shape;50;p3">
            <a:extLst>
              <a:ext uri="{FF2B5EF4-FFF2-40B4-BE49-F238E27FC236}">
                <a16:creationId xmlns:a16="http://schemas.microsoft.com/office/drawing/2014/main" id="{92C313D0-8308-CB9D-B7C2-1C67968CCD2F}"/>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97764742-3573-110A-C577-F39A65F18AB4}"/>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6AB4FCB-3415-EA1B-741B-800913C003F4}"/>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5" name="Google Shape;59;p3">
            <a:extLst>
              <a:ext uri="{FF2B5EF4-FFF2-40B4-BE49-F238E27FC236}">
                <a16:creationId xmlns:a16="http://schemas.microsoft.com/office/drawing/2014/main" id="{3CBADF19-4FC6-AE7A-85F0-21D4AD7C427F}"/>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B3EED470-57AB-951E-A5B9-B7BE9203AEFB}"/>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7" name="Google Shape;61;p3">
              <a:extLst>
                <a:ext uri="{FF2B5EF4-FFF2-40B4-BE49-F238E27FC236}">
                  <a16:creationId xmlns:a16="http://schemas.microsoft.com/office/drawing/2014/main" id="{22A1B274-7F13-7B0B-7088-10DFEBCD1BFE}"/>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
        <p:nvSpPr>
          <p:cNvPr id="9" name="Google Shape;60;p3">
            <a:extLst>
              <a:ext uri="{FF2B5EF4-FFF2-40B4-BE49-F238E27FC236}">
                <a16:creationId xmlns:a16="http://schemas.microsoft.com/office/drawing/2014/main" id="{66BBC997-BF95-D265-7390-EC1012CC1A96}"/>
              </a:ext>
            </a:extLst>
          </p:cNvPr>
          <p:cNvSpPr/>
          <p:nvPr/>
        </p:nvSpPr>
        <p:spPr>
          <a:xfrm>
            <a:off x="3113147" y="6693206"/>
            <a:ext cx="8279100" cy="415497"/>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Results and Insights</a:t>
            </a:r>
          </a:p>
        </p:txBody>
      </p:sp>
      <p:grpSp>
        <p:nvGrpSpPr>
          <p:cNvPr id="11" name="Google Shape;59;p3">
            <a:extLst>
              <a:ext uri="{FF2B5EF4-FFF2-40B4-BE49-F238E27FC236}">
                <a16:creationId xmlns:a16="http://schemas.microsoft.com/office/drawing/2014/main" id="{C5217E04-E6CE-FD07-5B09-BC15603BBB4F}"/>
              </a:ext>
            </a:extLst>
          </p:cNvPr>
          <p:cNvGrpSpPr/>
          <p:nvPr/>
        </p:nvGrpSpPr>
        <p:grpSpPr>
          <a:xfrm>
            <a:off x="2765401" y="7285339"/>
            <a:ext cx="8626847" cy="415499"/>
            <a:chOff x="522549" y="5166906"/>
            <a:chExt cx="5751231" cy="276999"/>
          </a:xfrm>
        </p:grpSpPr>
        <p:sp>
          <p:nvSpPr>
            <p:cNvPr id="12" name="Google Shape;60;p3">
              <a:extLst>
                <a:ext uri="{FF2B5EF4-FFF2-40B4-BE49-F238E27FC236}">
                  <a16:creationId xmlns:a16="http://schemas.microsoft.com/office/drawing/2014/main" id="{F2F29C03-F6B0-400C-3418-1130E773F098}"/>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b="1" dirty="0">
                  <a:solidFill>
                    <a:schemeClr val="tx1">
                      <a:lumMod val="95000"/>
                      <a:lumOff val="5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13" name="Google Shape;61;p3">
              <a:extLst>
                <a:ext uri="{FF2B5EF4-FFF2-40B4-BE49-F238E27FC236}">
                  <a16:creationId xmlns:a16="http://schemas.microsoft.com/office/drawing/2014/main" id="{2B1C119E-CBE9-1480-DD05-12E689C55AA4}"/>
                </a:ext>
              </a:extLst>
            </p:cNvPr>
            <p:cNvSpPr/>
            <p:nvPr/>
          </p:nvSpPr>
          <p:spPr>
            <a:xfrm>
              <a:off x="522549" y="5177442"/>
              <a:ext cx="36000" cy="252000"/>
            </a:xfrm>
            <a:prstGeom prst="rect">
              <a:avLst/>
            </a:prstGeom>
            <a:solidFill>
              <a:schemeClr val="tx2"/>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4" name="Google Shape;59;p3">
            <a:extLst>
              <a:ext uri="{FF2B5EF4-FFF2-40B4-BE49-F238E27FC236}">
                <a16:creationId xmlns:a16="http://schemas.microsoft.com/office/drawing/2014/main" id="{6B860499-947C-E382-F8E2-D2E1748E424E}"/>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5DC73E8A-AFA2-3538-5C98-05E6F53B705E}"/>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latin typeface="Arial" panose="020B0604020202020204" pitchFamily="34" charset="0"/>
                <a:cs typeface="Arial" panose="020B0604020202020204" pitchFamily="34" charset="0"/>
              </a:endParaRPr>
            </a:p>
          </p:txBody>
        </p:sp>
        <p:sp>
          <p:nvSpPr>
            <p:cNvPr id="16" name="Google Shape;61;p3">
              <a:extLst>
                <a:ext uri="{FF2B5EF4-FFF2-40B4-BE49-F238E27FC236}">
                  <a16:creationId xmlns:a16="http://schemas.microsoft.com/office/drawing/2014/main" id="{F5294256-3DC3-7A08-9A27-87E16D263F98}"/>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grpSp>
        <p:nvGrpSpPr>
          <p:cNvPr id="17" name="Google Shape;53;p3">
            <a:extLst>
              <a:ext uri="{FF2B5EF4-FFF2-40B4-BE49-F238E27FC236}">
                <a16:creationId xmlns:a16="http://schemas.microsoft.com/office/drawing/2014/main" id="{A8B0FB39-BA66-2423-2933-A0552A2CEEA9}"/>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1BF40ADE-3ED6-620A-11AD-763C801149B2}"/>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1B99AAD8-D0DD-EA0E-C696-3ED37C575F6C}"/>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
        <p:nvSpPr>
          <p:cNvPr id="21" name="Google Shape;57;p3">
            <a:extLst>
              <a:ext uri="{FF2B5EF4-FFF2-40B4-BE49-F238E27FC236}">
                <a16:creationId xmlns:a16="http://schemas.microsoft.com/office/drawing/2014/main" id="{580335EE-7153-D282-E573-3AF0A55BAD4E}"/>
              </a:ext>
            </a:extLst>
          </p:cNvPr>
          <p:cNvSpPr/>
          <p:nvPr/>
        </p:nvSpPr>
        <p:spPr>
          <a:xfrm>
            <a:off x="3093720" y="6059607"/>
            <a:ext cx="8279100" cy="4154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Key Tasks</a:t>
            </a:r>
          </a:p>
        </p:txBody>
      </p:sp>
      <p:grpSp>
        <p:nvGrpSpPr>
          <p:cNvPr id="26" name="Google Shape;53;p3">
            <a:extLst>
              <a:ext uri="{FF2B5EF4-FFF2-40B4-BE49-F238E27FC236}">
                <a16:creationId xmlns:a16="http://schemas.microsoft.com/office/drawing/2014/main" id="{037F53A3-40F5-163F-D13E-243A805AB0D8}"/>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219FCC38-4CA9-D8AB-47E5-1C0218D91E03}"/>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latin typeface="Arial" panose="020B0604020202020204" pitchFamily="34" charset="0"/>
                <a:cs typeface="Arial" panose="020B0604020202020204" pitchFamily="34" charset="0"/>
              </a:endParaRPr>
            </a:p>
          </p:txBody>
        </p:sp>
        <p:sp>
          <p:nvSpPr>
            <p:cNvPr id="28" name="Google Shape;55;p3">
              <a:extLst>
                <a:ext uri="{FF2B5EF4-FFF2-40B4-BE49-F238E27FC236}">
                  <a16:creationId xmlns:a16="http://schemas.microsoft.com/office/drawing/2014/main" id="{DB279240-875D-E5FB-2F60-08CA59062038}"/>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grpSp>
      <p:sp>
        <p:nvSpPr>
          <p:cNvPr id="24" name="Google Shape;58;p3">
            <a:extLst>
              <a:ext uri="{FF2B5EF4-FFF2-40B4-BE49-F238E27FC236}">
                <a16:creationId xmlns:a16="http://schemas.microsoft.com/office/drawing/2014/main" id="{26A18C96-139A-C90F-0CC7-3174D53DE18B}"/>
              </a:ext>
            </a:extLst>
          </p:cNvPr>
          <p:cNvSpPr/>
          <p:nvPr/>
        </p:nvSpPr>
        <p:spPr>
          <a:xfrm>
            <a:off x="2819400" y="6057910"/>
            <a:ext cx="54000" cy="378001"/>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sp>
        <p:nvSpPr>
          <p:cNvPr id="29" name="Google Shape;58;p3">
            <a:extLst>
              <a:ext uri="{FF2B5EF4-FFF2-40B4-BE49-F238E27FC236}">
                <a16:creationId xmlns:a16="http://schemas.microsoft.com/office/drawing/2014/main" id="{6E467098-8693-A053-6BA7-A1CDA627639C}"/>
              </a:ext>
            </a:extLst>
          </p:cNvPr>
          <p:cNvSpPr/>
          <p:nvPr/>
        </p:nvSpPr>
        <p:spPr>
          <a:xfrm>
            <a:off x="2811827" y="6667521"/>
            <a:ext cx="54000" cy="378001"/>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Arial" panose="020B0604020202020204" pitchFamily="34" charset="0"/>
              <a:ea typeface="Calibri"/>
              <a:cs typeface="Arial" panose="020B0604020202020204" pitchFamily="34" charset="0"/>
              <a:sym typeface="Calibri"/>
            </a:endParaRPr>
          </a:p>
        </p:txBody>
      </p:sp>
    </p:spTree>
    <p:extLst>
      <p:ext uri="{BB962C8B-B14F-4D97-AF65-F5344CB8AC3E}">
        <p14:creationId xmlns:p14="http://schemas.microsoft.com/office/powerpoint/2010/main" val="47650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par>
                                <p:cTn id="22" presetID="53" presetClass="entr" presetSubtype="16"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par>
                                <p:cTn id="27" presetID="53" presetClass="entr" presetSubtype="16"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p:cTn id="29" dur="500" fill="hold"/>
                                        <p:tgtEl>
                                          <p:spTgt spid="14"/>
                                        </p:tgtEl>
                                        <p:attrNameLst>
                                          <p:attrName>ppt_w</p:attrName>
                                        </p:attrNameLst>
                                      </p:cBhvr>
                                      <p:tavLst>
                                        <p:tav tm="0">
                                          <p:val>
                                            <p:fltVal val="0"/>
                                          </p:val>
                                        </p:tav>
                                        <p:tav tm="100000">
                                          <p:val>
                                            <p:strVal val="#ppt_w"/>
                                          </p:val>
                                        </p:tav>
                                      </p:tavLst>
                                    </p:anim>
                                    <p:anim calcmode="lin" valueType="num">
                                      <p:cBhvr>
                                        <p:cTn id="30" dur="500" fill="hold"/>
                                        <p:tgtEl>
                                          <p:spTgt spid="14"/>
                                        </p:tgtEl>
                                        <p:attrNameLst>
                                          <p:attrName>ppt_h</p:attrName>
                                        </p:attrNameLst>
                                      </p:cBhvr>
                                      <p:tavLst>
                                        <p:tav tm="0">
                                          <p:val>
                                            <p:fltVal val="0"/>
                                          </p:val>
                                        </p:tav>
                                        <p:tav tm="100000">
                                          <p:val>
                                            <p:strVal val="#ppt_h"/>
                                          </p:val>
                                        </p:tav>
                                      </p:tavLst>
                                    </p:anim>
                                    <p:animEffect transition="in" filter="fade">
                                      <p:cBhvr>
                                        <p:cTn id="31" dur="500"/>
                                        <p:tgtEl>
                                          <p:spTgt spid="14"/>
                                        </p:tgtEl>
                                      </p:cBhvr>
                                    </p:animEffect>
                                  </p:childTnLst>
                                </p:cTn>
                              </p:par>
                              <p:par>
                                <p:cTn id="32" presetID="53" presetClass="entr" presetSubtype="16"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 calcmode="lin" valueType="num">
                                      <p:cBhvr>
                                        <p:cTn id="34" dur="500" fill="hold"/>
                                        <p:tgtEl>
                                          <p:spTgt spid="26"/>
                                        </p:tgtEl>
                                        <p:attrNameLst>
                                          <p:attrName>ppt_w</p:attrName>
                                        </p:attrNameLst>
                                      </p:cBhvr>
                                      <p:tavLst>
                                        <p:tav tm="0">
                                          <p:val>
                                            <p:fltVal val="0"/>
                                          </p:val>
                                        </p:tav>
                                        <p:tav tm="100000">
                                          <p:val>
                                            <p:strVal val="#ppt_w"/>
                                          </p:val>
                                        </p:tav>
                                      </p:tavLst>
                                    </p:anim>
                                    <p:anim calcmode="lin" valueType="num">
                                      <p:cBhvr>
                                        <p:cTn id="35" dur="500" fill="hold"/>
                                        <p:tgtEl>
                                          <p:spTgt spid="26"/>
                                        </p:tgtEl>
                                        <p:attrNameLst>
                                          <p:attrName>ppt_h</p:attrName>
                                        </p:attrNameLst>
                                      </p:cBhvr>
                                      <p:tavLst>
                                        <p:tav tm="0">
                                          <p:val>
                                            <p:fltVal val="0"/>
                                          </p:val>
                                        </p:tav>
                                        <p:tav tm="100000">
                                          <p:val>
                                            <p:strVal val="#ppt_h"/>
                                          </p:val>
                                        </p:tav>
                                      </p:tavLst>
                                    </p:anim>
                                    <p:animEffect transition="in" filter="fade">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4837B6DF-7BEF-CBA0-148C-44165AF4F163}"/>
            </a:ext>
          </a:extLst>
        </p:cNvPr>
        <p:cNvGrpSpPr/>
        <p:nvPr/>
      </p:nvGrpSpPr>
      <p:grpSpPr>
        <a:xfrm>
          <a:off x="0" y="0"/>
          <a:ext cx="0" cy="0"/>
          <a:chOff x="0" y="0"/>
          <a:chExt cx="0" cy="0"/>
        </a:xfrm>
      </p:grpSpPr>
      <p:sp>
        <p:nvSpPr>
          <p:cNvPr id="39" name="Google Shape;39;p2">
            <a:extLst>
              <a:ext uri="{FF2B5EF4-FFF2-40B4-BE49-F238E27FC236}">
                <a16:creationId xmlns:a16="http://schemas.microsoft.com/office/drawing/2014/main" id="{7E5C9206-1C4C-DBF5-DAC9-54B05F42EAD4}"/>
              </a:ext>
            </a:extLst>
          </p:cNvPr>
          <p:cNvSpPr/>
          <p:nvPr/>
        </p:nvSpPr>
        <p:spPr>
          <a:xfrm>
            <a:off x="3057398" y="2051114"/>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latin typeface="Arial" panose="020B0604020202020204" pitchFamily="34" charset="0"/>
                <a:cs typeface="Arial" panose="020B0604020202020204" pitchFamily="34" charset="0"/>
              </a:rPr>
              <a:t>Conclusion</a:t>
            </a:r>
          </a:p>
        </p:txBody>
      </p:sp>
      <p:cxnSp>
        <p:nvCxnSpPr>
          <p:cNvPr id="41" name="Google Shape;41;p2">
            <a:extLst>
              <a:ext uri="{FF2B5EF4-FFF2-40B4-BE49-F238E27FC236}">
                <a16:creationId xmlns:a16="http://schemas.microsoft.com/office/drawing/2014/main" id="{3E5E13F6-E6C4-97BF-8631-4ECCD3442C32}"/>
              </a:ext>
            </a:extLst>
          </p:cNvPr>
          <p:cNvCxnSpPr/>
          <p:nvPr/>
        </p:nvCxnSpPr>
        <p:spPr>
          <a:xfrm flipH="1">
            <a:off x="2685719" y="2806617"/>
            <a:ext cx="15750" cy="4316850"/>
          </a:xfrm>
          <a:prstGeom prst="straightConnector1">
            <a:avLst/>
          </a:prstGeom>
          <a:noFill/>
          <a:ln w="38100" cap="flat" cmpd="sng">
            <a:solidFill>
              <a:schemeClr val="lt1"/>
            </a:solidFill>
            <a:prstDash val="solid"/>
            <a:miter lim="800000"/>
            <a:headEnd type="none" w="sm" len="sm"/>
            <a:tailEnd type="none" w="sm" len="sm"/>
          </a:ln>
        </p:spPr>
      </p:cxnSp>
      <p:sp>
        <p:nvSpPr>
          <p:cNvPr id="2" name="TextBox 1">
            <a:extLst>
              <a:ext uri="{FF2B5EF4-FFF2-40B4-BE49-F238E27FC236}">
                <a16:creationId xmlns:a16="http://schemas.microsoft.com/office/drawing/2014/main" id="{8E9EE414-EC02-CF13-82D0-41E09F9A8BDC}"/>
              </a:ext>
            </a:extLst>
          </p:cNvPr>
          <p:cNvSpPr txBox="1"/>
          <p:nvPr/>
        </p:nvSpPr>
        <p:spPr>
          <a:xfrm>
            <a:off x="3429000" y="3390900"/>
            <a:ext cx="13258800" cy="6360716"/>
          </a:xfrm>
          <a:prstGeom prst="rect">
            <a:avLst/>
          </a:prstGeom>
          <a:noFill/>
        </p:spPr>
        <p:txBody>
          <a:bodyPr wrap="square" rtlCol="0">
            <a:spAutoFit/>
          </a:bodyPr>
          <a:lstStyle/>
          <a:p>
            <a:pPr marL="285750" indent="-285750">
              <a:buFont typeface="Arial" panose="020B0604020202020204" pitchFamily="34" charset="0"/>
              <a:buChar char="•"/>
            </a:pPr>
            <a:r>
              <a:rPr lang="en-US" sz="3200" b="1" dirty="0">
                <a:solidFill>
                  <a:schemeClr val="bg1"/>
                </a:solidFill>
                <a:latin typeface="Arial" panose="020B0604020202020204" pitchFamily="34" charset="0"/>
                <a:cs typeface="Arial" panose="020B0604020202020204" pitchFamily="34" charset="0"/>
              </a:rPr>
              <a:t>Successful Integration :</a:t>
            </a:r>
            <a:r>
              <a:rPr lang="en-US" sz="3200" dirty="0">
                <a:solidFill>
                  <a:schemeClr val="bg1"/>
                </a:solidFill>
                <a:latin typeface="Arial" panose="020B0604020202020204" pitchFamily="34" charset="0"/>
                <a:cs typeface="Arial" panose="020B0604020202020204" pitchFamily="34" charset="0"/>
              </a:rPr>
              <a:t> The project successfully bridged disparate batch and streaming data into a single, unified Silver layer.</a:t>
            </a:r>
          </a:p>
          <a:p>
            <a:endParaRPr lang="en-US" sz="32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200" b="1" dirty="0">
                <a:solidFill>
                  <a:schemeClr val="bg1"/>
                </a:solidFill>
                <a:latin typeface="Arial" panose="020B0604020202020204" pitchFamily="34" charset="0"/>
                <a:cs typeface="Arial" panose="020B0604020202020204" pitchFamily="34" charset="0"/>
              </a:rPr>
              <a:t>Robust Deduplication :</a:t>
            </a:r>
            <a:r>
              <a:rPr lang="en-US" sz="3200" dirty="0">
                <a:solidFill>
                  <a:schemeClr val="bg1"/>
                </a:solidFill>
                <a:latin typeface="Arial" panose="020B0604020202020204" pitchFamily="34" charset="0"/>
                <a:cs typeface="Arial" panose="020B0604020202020204" pitchFamily="34" charset="0"/>
              </a:rPr>
              <a:t> By implementing persistent HDFS ID-checking, we bypassed standard limitations, guaranteeing zero duplicates from an indefinite stream.</a:t>
            </a:r>
          </a:p>
          <a:p>
            <a:endParaRPr lang="en-US" sz="3200" dirty="0">
              <a:solidFill>
                <a:schemeClr val="bg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3200" b="1" dirty="0">
                <a:solidFill>
                  <a:schemeClr val="bg1"/>
                </a:solidFill>
                <a:latin typeface="Arial" panose="020B0604020202020204" pitchFamily="34" charset="0"/>
                <a:cs typeface="Arial" panose="020B0604020202020204" pitchFamily="34" charset="0"/>
              </a:rPr>
              <a:t>Actionable Analytics :</a:t>
            </a:r>
            <a:r>
              <a:rPr lang="en-US" sz="3200" dirty="0">
                <a:solidFill>
                  <a:schemeClr val="bg1"/>
                </a:solidFill>
                <a:latin typeface="Arial" panose="020B0604020202020204" pitchFamily="34" charset="0"/>
                <a:cs typeface="Arial" panose="020B0604020202020204" pitchFamily="34" charset="0"/>
              </a:rPr>
              <a:t> The resulting dimensional Gold layer easily supports advanced Hive/Presto querying and feeds comprehensive, visual dashboards.</a:t>
            </a:r>
          </a:p>
          <a:p>
            <a:pPr marL="285750" indent="-285750">
              <a:buFont typeface="Arial" panose="020B0604020202020204" pitchFamily="34" charset="0"/>
              <a:buChar char="•"/>
            </a:pPr>
            <a:endParaRPr lang="en-US" sz="3200" dirty="0">
              <a:solidFill>
                <a:schemeClr val="bg1"/>
              </a:solidFill>
              <a:latin typeface="Arial" panose="020B0604020202020204" pitchFamily="34" charset="0"/>
              <a:cs typeface="Arial" panose="020B0604020202020204" pitchFamily="34" charset="0"/>
            </a:endParaRPr>
          </a:p>
          <a:p>
            <a:endParaRPr lang="en-US" sz="3200" dirty="0">
              <a:solidFill>
                <a:schemeClr val="bg1"/>
              </a:solidFill>
              <a:latin typeface="Arial" panose="020B0604020202020204" pitchFamily="34" charset="0"/>
              <a:cs typeface="Arial" panose="020B0604020202020204" pitchFamily="34" charset="0"/>
            </a:endParaRPr>
          </a:p>
          <a:p>
            <a:pPr algn="ctr">
              <a:spcBef>
                <a:spcPts val="1000"/>
              </a:spcBef>
            </a:pPr>
            <a:r>
              <a:rPr lang="en-US" sz="1500" b="1" dirty="0">
                <a:solidFill>
                  <a:srgbClr val="FFFFFF"/>
                </a:solidFill>
                <a:latin typeface="Arial"/>
              </a:rPr>
              <a:t>Future Improvements: </a:t>
            </a:r>
            <a:r>
              <a:rPr lang="en-US" sz="1500" dirty="0">
                <a:solidFill>
                  <a:srgbClr val="DCE4F7"/>
                </a:solidFill>
                <a:latin typeface="Arial"/>
              </a:rPr>
              <a:t>real-time dashboard refresh, additional dimensions (weather, traffic), and automated orchestration scheduling.</a:t>
            </a:r>
            <a:endParaRPr sz="1500" dirty="0">
              <a:solidFill>
                <a:srgbClr val="DCE4F7"/>
              </a:solidFill>
              <a:latin typeface="Arial"/>
            </a:endParaRPr>
          </a:p>
        </p:txBody>
      </p:sp>
    </p:spTree>
    <p:extLst>
      <p:ext uri="{BB962C8B-B14F-4D97-AF65-F5344CB8AC3E}">
        <p14:creationId xmlns:p14="http://schemas.microsoft.com/office/powerpoint/2010/main" val="26024786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ngwing.com.png"/>
          <p:cNvPicPr>
            <a:picLocks noChangeAspect="1"/>
          </p:cNvPicPr>
          <p:nvPr/>
        </p:nvPicPr>
        <p:blipFill>
          <a:blip r:embed="rId2"/>
          <a:stretch>
            <a:fillRect/>
          </a:stretch>
        </p:blipFill>
        <p:spPr>
          <a:xfrm>
            <a:off x="5577840" y="6591300"/>
            <a:ext cx="7132320" cy="3565763"/>
          </a:xfrm>
          <a:prstGeom prst="rect">
            <a:avLst/>
          </a:prstGeom>
        </p:spPr>
      </p:pic>
      <p:pic>
        <p:nvPicPr>
          <p:cNvPr id="13" name="Picture 12" descr="image.png">
            <a:extLst>
              <a:ext uri="{FF2B5EF4-FFF2-40B4-BE49-F238E27FC236}">
                <a16:creationId xmlns:a16="http://schemas.microsoft.com/office/drawing/2014/main" id="{E1D13B9E-3405-2AB1-DA11-609EF1866F86}"/>
              </a:ext>
            </a:extLst>
          </p:cNvPr>
          <p:cNvPicPr>
            <a:picLocks noChangeAspect="1"/>
          </p:cNvPicPr>
          <p:nvPr/>
        </p:nvPicPr>
        <p:blipFill>
          <a:blip r:embed="rId3"/>
          <a:stretch>
            <a:fillRect/>
          </a:stretch>
        </p:blipFill>
        <p:spPr>
          <a:xfrm>
            <a:off x="7763352" y="2324100"/>
            <a:ext cx="933450" cy="238125"/>
          </a:xfrm>
          <a:prstGeom prst="rect">
            <a:avLst/>
          </a:prstGeom>
        </p:spPr>
      </p:pic>
      <p:sp>
        <p:nvSpPr>
          <p:cNvPr id="15" name="TextBox 14">
            <a:extLst>
              <a:ext uri="{FF2B5EF4-FFF2-40B4-BE49-F238E27FC236}">
                <a16:creationId xmlns:a16="http://schemas.microsoft.com/office/drawing/2014/main" id="{140233F5-02E2-92F1-EBF8-66150245D009}"/>
              </a:ext>
            </a:extLst>
          </p:cNvPr>
          <p:cNvSpPr txBox="1"/>
          <p:nvPr/>
        </p:nvSpPr>
        <p:spPr>
          <a:xfrm>
            <a:off x="2439353" y="2752725"/>
            <a:ext cx="11581447" cy="733425"/>
          </a:xfrm>
          <a:prstGeom prst="rect">
            <a:avLst/>
          </a:prstGeom>
          <a:noFill/>
        </p:spPr>
        <p:txBody>
          <a:bodyPr wrap="square" lIns="0" tIns="0" rIns="0" bIns="0" anchor="t">
            <a:spAutoFit/>
          </a:bodyPr>
          <a:lstStyle/>
          <a:p>
            <a:pPr algn="ctr"/>
            <a:r>
              <a:rPr sz="4800" b="1" i="0" u="none" dirty="0">
                <a:solidFill>
                  <a:srgbClr val="FFFFFF"/>
                </a:solidFill>
                <a:latin typeface="Inter"/>
              </a:rPr>
              <a:t>Questions &amp; Discussion</a:t>
            </a:r>
          </a:p>
        </p:txBody>
      </p:sp>
      <p:sp>
        <p:nvSpPr>
          <p:cNvPr id="17" name="TextBox 16">
            <a:extLst>
              <a:ext uri="{FF2B5EF4-FFF2-40B4-BE49-F238E27FC236}">
                <a16:creationId xmlns:a16="http://schemas.microsoft.com/office/drawing/2014/main" id="{C7727121-B32F-19AF-A041-7E6646497674}"/>
              </a:ext>
            </a:extLst>
          </p:cNvPr>
          <p:cNvSpPr txBox="1"/>
          <p:nvPr/>
        </p:nvSpPr>
        <p:spPr>
          <a:xfrm>
            <a:off x="2715102" y="3771900"/>
            <a:ext cx="11029950" cy="314325"/>
          </a:xfrm>
          <a:prstGeom prst="rect">
            <a:avLst/>
          </a:prstGeom>
          <a:noFill/>
        </p:spPr>
        <p:txBody>
          <a:bodyPr wrap="square" lIns="0" tIns="0" rIns="0" bIns="0" anchor="t">
            <a:spAutoFit/>
          </a:bodyPr>
          <a:lstStyle/>
          <a:p>
            <a:pPr algn="ctr">
              <a:lnSpc>
                <a:spcPts val="2475"/>
              </a:lnSpc>
            </a:pPr>
            <a:r>
              <a:rPr sz="1650" b="0" i="0" u="none" dirty="0">
                <a:solidFill>
                  <a:srgbClr val="38BDF8"/>
                </a:solidFill>
                <a:latin typeface="Inter"/>
              </a:rPr>
              <a:t>Uber NYC End-to-End Data Pipeline Presentation</a:t>
            </a:r>
          </a:p>
        </p:txBody>
      </p:sp>
      <p:sp>
        <p:nvSpPr>
          <p:cNvPr id="19" name="TextBox 18">
            <a:extLst>
              <a:ext uri="{FF2B5EF4-FFF2-40B4-BE49-F238E27FC236}">
                <a16:creationId xmlns:a16="http://schemas.microsoft.com/office/drawing/2014/main" id="{D382617A-0240-2725-631D-9E600FCFB58F}"/>
              </a:ext>
            </a:extLst>
          </p:cNvPr>
          <p:cNvSpPr txBox="1"/>
          <p:nvPr/>
        </p:nvSpPr>
        <p:spPr>
          <a:xfrm>
            <a:off x="2715102" y="4630578"/>
            <a:ext cx="13286898" cy="492443"/>
          </a:xfrm>
          <a:prstGeom prst="rect">
            <a:avLst/>
          </a:prstGeom>
          <a:noFill/>
        </p:spPr>
        <p:txBody>
          <a:bodyPr wrap="square" lIns="0" tIns="0" rIns="0" bIns="0" anchor="t">
            <a:spAutoFit/>
          </a:bodyPr>
          <a:lstStyle/>
          <a:p>
            <a:pPr algn="ctr"/>
            <a:r>
              <a:rPr sz="3200" b="0" i="0" u="none" dirty="0">
                <a:solidFill>
                  <a:schemeClr val="bg1"/>
                </a:solidFill>
                <a:latin typeface="JetBrains Mono"/>
              </a:rPr>
              <a:t>Repository: </a:t>
            </a:r>
            <a:r>
              <a:rPr sz="3200" b="0" i="0" u="none" dirty="0">
                <a:solidFill>
                  <a:schemeClr val="bg1"/>
                </a:solidFill>
                <a:latin typeface="JetBrains Mono"/>
                <a:hlinkClick r:id="rId4">
                  <a:extLst>
                    <a:ext uri="{A12FA001-AC4F-418D-AE19-62706E023703}">
                      <ahyp:hlinkClr xmlns:ahyp="http://schemas.microsoft.com/office/drawing/2018/hyperlinkcolor" val="tx"/>
                    </a:ext>
                  </a:extLst>
                </a:hlinkClick>
              </a:rPr>
              <a:t>https://github.com/shoman042/Uber_End_to_End_Data_Pipeline</a:t>
            </a:r>
            <a:endParaRPr sz="3200" b="0" i="0" u="none" dirty="0">
              <a:solidFill>
                <a:schemeClr val="bg1"/>
              </a:solidFill>
              <a:latin typeface="JetBrains Mono"/>
            </a:endParaRPr>
          </a:p>
        </p:txBody>
      </p:sp>
    </p:spTree>
    <p:extLst>
      <p:ext uri="{BB962C8B-B14F-4D97-AF65-F5344CB8AC3E}">
        <p14:creationId xmlns:p14="http://schemas.microsoft.com/office/powerpoint/2010/main" val="22459864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1172</TotalTime>
  <Words>2614</Words>
  <Application>Microsoft Office PowerPoint</Application>
  <PresentationFormat>Custom</PresentationFormat>
  <Paragraphs>371</Paragraphs>
  <Slides>48</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Calibri</vt:lpstr>
      <vt:lpstr>Aptos</vt:lpstr>
      <vt:lpstr>Malgun Gothic</vt:lpstr>
      <vt:lpstr>Inter</vt:lpstr>
      <vt:lpstr>JetBrains Mono</vt:lpstr>
      <vt:lpstr>Inter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 Our Team</dc:title>
  <dc:creator>farah walid</dc:creator>
  <cp:lastModifiedBy>yusuf ahmed</cp:lastModifiedBy>
  <cp:revision>13</cp:revision>
  <dcterms:created xsi:type="dcterms:W3CDTF">2006-08-16T00:00:00Z</dcterms:created>
  <dcterms:modified xsi:type="dcterms:W3CDTF">2026-09-04T23:26:21Z</dcterms:modified>
  <dc:identifier>DAGQ85K8Zw8</dc:identifier>
</cp:coreProperties>
</file>